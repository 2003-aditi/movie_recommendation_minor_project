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1430000" cy="8991600"/>
  <p:notesSz cx="11430000" cy="8991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F7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0" d="100"/>
          <a:sy n="60" d="100"/>
        </p:scale>
        <p:origin x="1666" y="8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F7F7F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43750" y="253"/>
            <a:ext cx="4286250" cy="6438645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37393" y="2159000"/>
            <a:ext cx="4838065" cy="1073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0" i="0">
                <a:solidFill>
                  <a:srgbClr val="373737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737393" y="3506787"/>
            <a:ext cx="4857115" cy="711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rgbClr val="373737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rgbClr val="373737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37393" y="1687512"/>
            <a:ext cx="4248785" cy="39973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50" b="0" i="0">
                <a:solidFill>
                  <a:srgbClr val="373737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88645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rgbClr val="373737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F7F7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02813" y="464078"/>
            <a:ext cx="10224372" cy="9583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0" i="0">
                <a:solidFill>
                  <a:srgbClr val="373737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71500" y="1482407"/>
            <a:ext cx="1028700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886200" y="5994082"/>
            <a:ext cx="36576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715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2296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381000" y="2682234"/>
            <a:ext cx="4838065" cy="1101327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0"/>
              </a:spcBef>
            </a:pPr>
            <a:r>
              <a:rPr sz="4500" spc="-365" dirty="0">
                <a:latin typeface="+mn-lt"/>
              </a:rPr>
              <a:t>Movie</a:t>
            </a:r>
            <a:r>
              <a:rPr sz="4500" spc="-220" dirty="0">
                <a:latin typeface="+mn-lt"/>
              </a:rPr>
              <a:t> </a:t>
            </a:r>
            <a:r>
              <a:rPr sz="4500" spc="-409" dirty="0">
                <a:latin typeface="+mn-lt"/>
              </a:rPr>
              <a:t>Recommendation</a:t>
            </a:r>
            <a:r>
              <a:rPr sz="4500" spc="-210" dirty="0">
                <a:latin typeface="+mn-lt"/>
              </a:rPr>
              <a:t> </a:t>
            </a:r>
            <a:r>
              <a:rPr sz="4500" spc="-220" dirty="0">
                <a:latin typeface="+mn-lt"/>
              </a:rPr>
              <a:t>System </a:t>
            </a:r>
            <a:r>
              <a:rPr sz="4500" spc="-100" dirty="0">
                <a:latin typeface="+mn-lt"/>
              </a:rPr>
              <a:t>Analysis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subTitle" idx="4"/>
          </p:nvPr>
        </p:nvSpPr>
        <p:spPr>
          <a:xfrm>
            <a:off x="361950" y="5105400"/>
            <a:ext cx="4857115" cy="81176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36400"/>
              </a:lnSpc>
              <a:spcBef>
                <a:spcPts val="90"/>
              </a:spcBef>
            </a:pPr>
            <a:r>
              <a:rPr sz="2000" spc="-165" dirty="0">
                <a:solidFill>
                  <a:srgbClr val="373737"/>
                </a:solidFill>
                <a:cs typeface="Trebuchet MS"/>
              </a:rPr>
              <a:t>A</a:t>
            </a:r>
            <a:r>
              <a:rPr sz="2000" spc="-80" dirty="0">
                <a:solidFill>
                  <a:srgbClr val="373737"/>
                </a:solidFill>
                <a:cs typeface="Trebuchet MS"/>
              </a:rPr>
              <a:t> </a:t>
            </a:r>
            <a:r>
              <a:rPr sz="2000" spc="-150" dirty="0">
                <a:solidFill>
                  <a:srgbClr val="373737"/>
                </a:solidFill>
                <a:cs typeface="Trebuchet MS"/>
              </a:rPr>
              <a:t>technical</a:t>
            </a:r>
            <a:r>
              <a:rPr sz="2000" spc="-75" dirty="0">
                <a:solidFill>
                  <a:srgbClr val="373737"/>
                </a:solidFill>
                <a:cs typeface="Trebuchet MS"/>
              </a:rPr>
              <a:t> </a:t>
            </a:r>
            <a:r>
              <a:rPr sz="2000" spc="-240" dirty="0">
                <a:solidFill>
                  <a:srgbClr val="373737"/>
                </a:solidFill>
                <a:cs typeface="Trebuchet MS"/>
              </a:rPr>
              <a:t>deep</a:t>
            </a:r>
            <a:r>
              <a:rPr sz="2000" spc="-75" dirty="0">
                <a:solidFill>
                  <a:srgbClr val="373737"/>
                </a:solidFill>
                <a:cs typeface="Trebuchet MS"/>
              </a:rPr>
              <a:t> </a:t>
            </a:r>
            <a:r>
              <a:rPr sz="2000" spc="-190" dirty="0">
                <a:solidFill>
                  <a:srgbClr val="373737"/>
                </a:solidFill>
                <a:cs typeface="Trebuchet MS"/>
              </a:rPr>
              <a:t>dive</a:t>
            </a:r>
            <a:r>
              <a:rPr sz="2000" spc="-75" dirty="0">
                <a:solidFill>
                  <a:srgbClr val="373737"/>
                </a:solidFill>
                <a:cs typeface="Trebuchet MS"/>
              </a:rPr>
              <a:t> </a:t>
            </a:r>
            <a:r>
              <a:rPr sz="2000" spc="-135" dirty="0">
                <a:solidFill>
                  <a:srgbClr val="373737"/>
                </a:solidFill>
                <a:cs typeface="Trebuchet MS"/>
              </a:rPr>
              <a:t>into</a:t>
            </a:r>
            <a:r>
              <a:rPr sz="2000" spc="-75" dirty="0">
                <a:solidFill>
                  <a:srgbClr val="373737"/>
                </a:solidFill>
                <a:cs typeface="Trebuchet MS"/>
              </a:rPr>
              <a:t> </a:t>
            </a:r>
            <a:r>
              <a:rPr sz="2000" spc="-150" dirty="0">
                <a:solidFill>
                  <a:srgbClr val="373737"/>
                </a:solidFill>
                <a:cs typeface="Trebuchet MS"/>
              </a:rPr>
              <a:t>content-</a:t>
            </a:r>
            <a:r>
              <a:rPr sz="2000" spc="-160" dirty="0">
                <a:solidFill>
                  <a:srgbClr val="373737"/>
                </a:solidFill>
                <a:cs typeface="Trebuchet MS"/>
              </a:rPr>
              <a:t>based</a:t>
            </a:r>
            <a:r>
              <a:rPr sz="2000" spc="-80" dirty="0">
                <a:solidFill>
                  <a:srgbClr val="373737"/>
                </a:solidFill>
                <a:cs typeface="Trebuchet MS"/>
              </a:rPr>
              <a:t> </a:t>
            </a:r>
            <a:r>
              <a:rPr sz="2000" spc="-90" dirty="0">
                <a:solidFill>
                  <a:srgbClr val="373737"/>
                </a:solidFill>
                <a:cs typeface="Trebuchet MS"/>
              </a:rPr>
              <a:t>filtering</a:t>
            </a:r>
            <a:r>
              <a:rPr sz="2000" spc="-75" dirty="0">
                <a:solidFill>
                  <a:srgbClr val="373737"/>
                </a:solidFill>
                <a:cs typeface="Trebuchet MS"/>
              </a:rPr>
              <a:t> </a:t>
            </a:r>
            <a:r>
              <a:rPr sz="2000" spc="-114" dirty="0">
                <a:solidFill>
                  <a:srgbClr val="373737"/>
                </a:solidFill>
                <a:cs typeface="Trebuchet MS"/>
              </a:rPr>
              <a:t>using</a:t>
            </a:r>
            <a:r>
              <a:rPr sz="2000" spc="-75" dirty="0">
                <a:solidFill>
                  <a:srgbClr val="373737"/>
                </a:solidFill>
                <a:cs typeface="Trebuchet MS"/>
              </a:rPr>
              <a:t> </a:t>
            </a:r>
            <a:r>
              <a:rPr sz="2000" spc="-165" dirty="0">
                <a:solidFill>
                  <a:srgbClr val="373737"/>
                </a:solidFill>
                <a:cs typeface="Trebuchet MS"/>
              </a:rPr>
              <a:t>TF-</a:t>
            </a:r>
            <a:r>
              <a:rPr sz="2000" spc="-90" dirty="0">
                <a:solidFill>
                  <a:srgbClr val="373737"/>
                </a:solidFill>
                <a:cs typeface="Trebuchet MS"/>
              </a:rPr>
              <a:t>IDF </a:t>
            </a:r>
            <a:r>
              <a:rPr sz="2000" spc="-140" dirty="0">
                <a:solidFill>
                  <a:srgbClr val="373737"/>
                </a:solidFill>
                <a:cs typeface="Trebuchet MS"/>
              </a:rPr>
              <a:t>vectorization</a:t>
            </a:r>
            <a:r>
              <a:rPr sz="2000" spc="-80" dirty="0">
                <a:solidFill>
                  <a:srgbClr val="373737"/>
                </a:solidFill>
                <a:cs typeface="Trebuchet MS"/>
              </a:rPr>
              <a:t> </a:t>
            </a:r>
            <a:r>
              <a:rPr sz="2000" spc="-210" dirty="0">
                <a:solidFill>
                  <a:srgbClr val="373737"/>
                </a:solidFill>
                <a:cs typeface="Trebuchet MS"/>
              </a:rPr>
              <a:t>and</a:t>
            </a:r>
            <a:r>
              <a:rPr sz="2000" spc="-75" dirty="0">
                <a:solidFill>
                  <a:srgbClr val="373737"/>
                </a:solidFill>
                <a:cs typeface="Trebuchet MS"/>
              </a:rPr>
              <a:t> </a:t>
            </a:r>
            <a:r>
              <a:rPr sz="2000" spc="-150" dirty="0">
                <a:solidFill>
                  <a:srgbClr val="373737"/>
                </a:solidFill>
                <a:cs typeface="Trebuchet MS"/>
              </a:rPr>
              <a:t>cosine</a:t>
            </a:r>
            <a:r>
              <a:rPr sz="2000" spc="-80" dirty="0">
                <a:solidFill>
                  <a:srgbClr val="373737"/>
                </a:solidFill>
                <a:cs typeface="Trebuchet MS"/>
              </a:rPr>
              <a:t> </a:t>
            </a:r>
            <a:r>
              <a:rPr sz="2000" spc="-10" dirty="0">
                <a:solidFill>
                  <a:srgbClr val="373737"/>
                </a:solidFill>
                <a:cs typeface="Trebuchet MS"/>
              </a:rPr>
              <a:t>similarity</a:t>
            </a:r>
            <a:endParaRPr sz="2000" dirty="0">
              <a:cs typeface="Trebuchet M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C5AB105-39B7-3739-A56E-411AD82C2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-278012"/>
            <a:ext cx="5943600" cy="926961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3CB215B-0F3A-5ACB-8002-8ADDAA4F9790}"/>
              </a:ext>
            </a:extLst>
          </p:cNvPr>
          <p:cNvSpPr txBox="1"/>
          <p:nvPr/>
        </p:nvSpPr>
        <p:spPr>
          <a:xfrm>
            <a:off x="2438400" y="7443808"/>
            <a:ext cx="259080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>
                <a:latin typeface="+mn-lt"/>
              </a:rPr>
              <a:t>Made By -  ADITI</a:t>
            </a:r>
            <a:endParaRPr lang="en-IN" sz="2500" dirty="0">
              <a:latin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8991600"/>
          </a:xfrm>
          <a:custGeom>
            <a:avLst/>
            <a:gdLst/>
            <a:ahLst/>
            <a:cxnLst/>
            <a:rect l="l" t="t" r="r" b="b"/>
            <a:pathLst>
              <a:path w="9379585" h="6440805">
                <a:moveTo>
                  <a:pt x="9379258" y="0"/>
                </a:moveTo>
                <a:lnTo>
                  <a:pt x="0" y="0"/>
                </a:lnTo>
                <a:lnTo>
                  <a:pt x="0" y="6440423"/>
                </a:lnTo>
                <a:lnTo>
                  <a:pt x="9379258" y="6440423"/>
                </a:lnTo>
                <a:lnTo>
                  <a:pt x="9379258" y="0"/>
                </a:lnTo>
                <a:close/>
              </a:path>
            </a:pathLst>
          </a:custGeom>
          <a:solidFill>
            <a:srgbClr val="F7F7F7"/>
          </a:solidFill>
        </p:spPr>
        <p:txBody>
          <a:bodyPr wrap="square" lIns="0" tIns="0" rIns="0" bIns="0" rtlCol="0"/>
          <a:lstStyle/>
          <a:p>
            <a:endParaRPr>
              <a:latin typeface="+mn-l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51438" y="970002"/>
            <a:ext cx="3253962" cy="553998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500" b="1" spc="-280" dirty="0">
                <a:latin typeface="+mj-lt"/>
              </a:rPr>
              <a:t>Executive</a:t>
            </a:r>
            <a:r>
              <a:rPr sz="3500" b="1" spc="-190" dirty="0">
                <a:latin typeface="+mj-lt"/>
              </a:rPr>
              <a:t> </a:t>
            </a:r>
            <a:r>
              <a:rPr sz="3500" b="1" spc="-285" dirty="0">
                <a:latin typeface="+mj-lt"/>
              </a:rPr>
              <a:t>Summary</a:t>
            </a:r>
            <a:endParaRPr sz="3500" b="1" dirty="0">
              <a:latin typeface="+mj-l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7467" y="2133781"/>
            <a:ext cx="5142959" cy="571481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6790654" y="1160990"/>
            <a:ext cx="3609117" cy="649626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000" spc="-100" dirty="0">
                <a:solidFill>
                  <a:srgbClr val="373737"/>
                </a:solidFill>
                <a:latin typeface="+mn-lt"/>
                <a:cs typeface="Trebuchet MS"/>
              </a:rPr>
              <a:t>System</a:t>
            </a:r>
            <a:r>
              <a:rPr sz="2000" spc="-45" dirty="0">
                <a:solidFill>
                  <a:srgbClr val="373737"/>
                </a:solidFill>
                <a:latin typeface="+mn-lt"/>
                <a:cs typeface="Trebuchet MS"/>
              </a:rPr>
              <a:t> </a:t>
            </a:r>
            <a:r>
              <a:rPr sz="2000" spc="-30" dirty="0">
                <a:solidFill>
                  <a:srgbClr val="373737"/>
                </a:solidFill>
                <a:latin typeface="+mn-lt"/>
                <a:cs typeface="Trebuchet MS"/>
              </a:rPr>
              <a:t>Overview</a:t>
            </a:r>
            <a:endParaRPr sz="2000" dirty="0">
              <a:latin typeface="+mn-lt"/>
              <a:cs typeface="Trebuchet MS"/>
            </a:endParaRPr>
          </a:p>
          <a:p>
            <a:pPr marL="12700" marR="66040">
              <a:lnSpc>
                <a:spcPct val="136800"/>
              </a:lnSpc>
              <a:spcBef>
                <a:spcPts val="1105"/>
              </a:spcBef>
            </a:pPr>
            <a:r>
              <a:rPr sz="2000" spc="-105" dirty="0">
                <a:solidFill>
                  <a:srgbClr val="373737"/>
                </a:solidFill>
                <a:latin typeface="+mn-lt"/>
                <a:cs typeface="Trebuchet MS"/>
              </a:rPr>
              <a:t>This</a:t>
            </a:r>
            <a:r>
              <a:rPr sz="2000" spc="-35" dirty="0">
                <a:solidFill>
                  <a:srgbClr val="373737"/>
                </a:solidFill>
                <a:latin typeface="+mn-lt"/>
                <a:cs typeface="Trebuchet MS"/>
              </a:rPr>
              <a:t> </a:t>
            </a:r>
            <a:r>
              <a:rPr sz="2000" spc="-125" dirty="0">
                <a:solidFill>
                  <a:srgbClr val="373737"/>
                </a:solidFill>
                <a:latin typeface="+mn-lt"/>
                <a:cs typeface="Trebuchet MS"/>
              </a:rPr>
              <a:t>content-</a:t>
            </a:r>
            <a:r>
              <a:rPr sz="2000" spc="-130" dirty="0">
                <a:solidFill>
                  <a:srgbClr val="373737"/>
                </a:solidFill>
                <a:latin typeface="+mn-lt"/>
                <a:cs typeface="Trebuchet MS"/>
              </a:rPr>
              <a:t>based</a:t>
            </a:r>
            <a:r>
              <a:rPr sz="2000" spc="-35" dirty="0">
                <a:solidFill>
                  <a:srgbClr val="373737"/>
                </a:solidFill>
                <a:latin typeface="+mn-lt"/>
                <a:cs typeface="Trebuchet MS"/>
              </a:rPr>
              <a:t> </a:t>
            </a:r>
            <a:r>
              <a:rPr sz="2000" spc="-80" dirty="0">
                <a:solidFill>
                  <a:srgbClr val="373737"/>
                </a:solidFill>
                <a:latin typeface="+mn-lt"/>
                <a:cs typeface="Trebuchet MS"/>
              </a:rPr>
              <a:t>recommendation </a:t>
            </a:r>
            <a:r>
              <a:rPr sz="2000" spc="-130" dirty="0">
                <a:solidFill>
                  <a:srgbClr val="373737"/>
                </a:solidFill>
                <a:latin typeface="+mn-lt"/>
                <a:cs typeface="Trebuchet MS"/>
              </a:rPr>
              <a:t>engine</a:t>
            </a:r>
            <a:r>
              <a:rPr sz="2000" spc="-65" dirty="0">
                <a:solidFill>
                  <a:srgbClr val="373737"/>
                </a:solidFill>
                <a:latin typeface="+mn-lt"/>
                <a:cs typeface="Trebuchet MS"/>
              </a:rPr>
              <a:t> </a:t>
            </a:r>
            <a:r>
              <a:rPr sz="2000" spc="-105" dirty="0">
                <a:solidFill>
                  <a:srgbClr val="373737"/>
                </a:solidFill>
                <a:latin typeface="+mn-lt"/>
                <a:cs typeface="Trebuchet MS"/>
              </a:rPr>
              <a:t>processes</a:t>
            </a:r>
            <a:r>
              <a:rPr sz="2000" spc="-60" dirty="0">
                <a:solidFill>
                  <a:srgbClr val="373737"/>
                </a:solidFill>
                <a:latin typeface="+mn-lt"/>
                <a:cs typeface="Trebuchet MS"/>
              </a:rPr>
              <a:t> </a:t>
            </a:r>
            <a:r>
              <a:rPr sz="2000" spc="-150" dirty="0">
                <a:solidFill>
                  <a:srgbClr val="373737"/>
                </a:solidFill>
                <a:latin typeface="+mn-lt"/>
                <a:cs typeface="Trebuchet MS"/>
              </a:rPr>
              <a:t>4,803</a:t>
            </a:r>
            <a:r>
              <a:rPr sz="2000" spc="-60" dirty="0">
                <a:solidFill>
                  <a:srgbClr val="373737"/>
                </a:solidFill>
                <a:latin typeface="+mn-lt"/>
                <a:cs typeface="Trebuchet MS"/>
              </a:rPr>
              <a:t> </a:t>
            </a:r>
            <a:r>
              <a:rPr sz="2000" spc="-130" dirty="0">
                <a:solidFill>
                  <a:srgbClr val="373737"/>
                </a:solidFill>
                <a:latin typeface="+mn-lt"/>
                <a:cs typeface="Trebuchet MS"/>
              </a:rPr>
              <a:t>movies</a:t>
            </a:r>
            <a:r>
              <a:rPr sz="2000" spc="-60" dirty="0">
                <a:solidFill>
                  <a:srgbClr val="373737"/>
                </a:solidFill>
                <a:latin typeface="+mn-lt"/>
                <a:cs typeface="Trebuchet MS"/>
              </a:rPr>
              <a:t> </a:t>
            </a:r>
            <a:r>
              <a:rPr sz="2000" spc="-170" dirty="0">
                <a:solidFill>
                  <a:srgbClr val="373737"/>
                </a:solidFill>
                <a:latin typeface="+mn-lt"/>
                <a:cs typeface="Trebuchet MS"/>
              </a:rPr>
              <a:t>with</a:t>
            </a:r>
            <a:r>
              <a:rPr sz="2000" spc="-60" dirty="0">
                <a:solidFill>
                  <a:srgbClr val="373737"/>
                </a:solidFill>
                <a:latin typeface="+mn-lt"/>
                <a:cs typeface="Trebuchet MS"/>
              </a:rPr>
              <a:t> </a:t>
            </a:r>
            <a:r>
              <a:rPr sz="2000" spc="-120" dirty="0">
                <a:solidFill>
                  <a:srgbClr val="373737"/>
                </a:solidFill>
                <a:latin typeface="+mn-lt"/>
                <a:cs typeface="Trebuchet MS"/>
              </a:rPr>
              <a:t>24 attributes,</a:t>
            </a:r>
            <a:r>
              <a:rPr sz="2000" dirty="0">
                <a:solidFill>
                  <a:srgbClr val="373737"/>
                </a:solidFill>
                <a:latin typeface="+mn-lt"/>
                <a:cs typeface="Trebuchet MS"/>
              </a:rPr>
              <a:t> </a:t>
            </a:r>
            <a:r>
              <a:rPr sz="2000" spc="-90" dirty="0">
                <a:solidFill>
                  <a:srgbClr val="373737"/>
                </a:solidFill>
                <a:latin typeface="+mn-lt"/>
                <a:cs typeface="Trebuchet MS"/>
              </a:rPr>
              <a:t>utilizing</a:t>
            </a:r>
            <a:r>
              <a:rPr sz="2000" dirty="0">
                <a:solidFill>
                  <a:srgbClr val="373737"/>
                </a:solidFill>
                <a:latin typeface="+mn-lt"/>
                <a:cs typeface="Trebuchet MS"/>
              </a:rPr>
              <a:t> </a:t>
            </a:r>
            <a:r>
              <a:rPr sz="2000" spc="-140" dirty="0">
                <a:solidFill>
                  <a:srgbClr val="373737"/>
                </a:solidFill>
                <a:latin typeface="+mn-lt"/>
                <a:cs typeface="Trebuchet MS"/>
              </a:rPr>
              <a:t>TF-</a:t>
            </a:r>
            <a:r>
              <a:rPr sz="2000" spc="-25" dirty="0">
                <a:solidFill>
                  <a:srgbClr val="373737"/>
                </a:solidFill>
                <a:latin typeface="+mn-lt"/>
                <a:cs typeface="Trebuchet MS"/>
              </a:rPr>
              <a:t>IDF </a:t>
            </a:r>
            <a:r>
              <a:rPr sz="2000" spc="-110" dirty="0">
                <a:solidFill>
                  <a:srgbClr val="373737"/>
                </a:solidFill>
                <a:latin typeface="+mn-lt"/>
                <a:cs typeface="Trebuchet MS"/>
              </a:rPr>
              <a:t>vectorization</a:t>
            </a:r>
            <a:r>
              <a:rPr sz="2000" spc="-50" dirty="0">
                <a:solidFill>
                  <a:srgbClr val="373737"/>
                </a:solidFill>
                <a:latin typeface="+mn-lt"/>
                <a:cs typeface="Trebuchet MS"/>
              </a:rPr>
              <a:t> </a:t>
            </a:r>
            <a:r>
              <a:rPr sz="2000" spc="-170" dirty="0">
                <a:solidFill>
                  <a:srgbClr val="373737"/>
                </a:solidFill>
                <a:latin typeface="+mn-lt"/>
                <a:cs typeface="Trebuchet MS"/>
              </a:rPr>
              <a:t>and</a:t>
            </a:r>
            <a:r>
              <a:rPr sz="2000" spc="-50" dirty="0">
                <a:solidFill>
                  <a:srgbClr val="373737"/>
                </a:solidFill>
                <a:latin typeface="+mn-lt"/>
                <a:cs typeface="Trebuchet MS"/>
              </a:rPr>
              <a:t> </a:t>
            </a:r>
            <a:r>
              <a:rPr sz="2000" spc="-125" dirty="0">
                <a:solidFill>
                  <a:srgbClr val="373737"/>
                </a:solidFill>
                <a:latin typeface="+mn-lt"/>
                <a:cs typeface="Trebuchet MS"/>
              </a:rPr>
              <a:t>cosine</a:t>
            </a:r>
            <a:r>
              <a:rPr sz="2000" spc="-50" dirty="0">
                <a:solidFill>
                  <a:srgbClr val="373737"/>
                </a:solidFill>
                <a:latin typeface="+mn-lt"/>
                <a:cs typeface="Trebuchet MS"/>
              </a:rPr>
              <a:t> </a:t>
            </a:r>
            <a:r>
              <a:rPr sz="2000" spc="-85" dirty="0">
                <a:solidFill>
                  <a:srgbClr val="373737"/>
                </a:solidFill>
                <a:latin typeface="+mn-lt"/>
                <a:cs typeface="Trebuchet MS"/>
              </a:rPr>
              <a:t>similarity</a:t>
            </a:r>
            <a:r>
              <a:rPr sz="2000" spc="-50" dirty="0">
                <a:solidFill>
                  <a:srgbClr val="373737"/>
                </a:solidFill>
                <a:latin typeface="+mn-lt"/>
                <a:cs typeface="Trebuchet MS"/>
              </a:rPr>
              <a:t> </a:t>
            </a:r>
            <a:r>
              <a:rPr sz="2000" spc="-25" dirty="0">
                <a:solidFill>
                  <a:srgbClr val="373737"/>
                </a:solidFill>
                <a:latin typeface="+mn-lt"/>
                <a:cs typeface="Trebuchet MS"/>
              </a:rPr>
              <a:t>to </a:t>
            </a:r>
            <a:r>
              <a:rPr sz="2000" spc="-125" dirty="0">
                <a:solidFill>
                  <a:srgbClr val="373737"/>
                </a:solidFill>
                <a:latin typeface="+mn-lt"/>
                <a:cs typeface="Trebuchet MS"/>
              </a:rPr>
              <a:t>generate</a:t>
            </a:r>
            <a:r>
              <a:rPr sz="2000" spc="-45" dirty="0">
                <a:solidFill>
                  <a:srgbClr val="373737"/>
                </a:solidFill>
                <a:latin typeface="+mn-lt"/>
                <a:cs typeface="Trebuchet MS"/>
              </a:rPr>
              <a:t> </a:t>
            </a:r>
            <a:r>
              <a:rPr sz="2000" spc="-120" dirty="0">
                <a:solidFill>
                  <a:srgbClr val="373737"/>
                </a:solidFill>
                <a:latin typeface="+mn-lt"/>
                <a:cs typeface="Trebuchet MS"/>
              </a:rPr>
              <a:t>personalized</a:t>
            </a:r>
            <a:r>
              <a:rPr sz="2000" spc="-45" dirty="0">
                <a:solidFill>
                  <a:srgbClr val="373737"/>
                </a:solidFill>
                <a:latin typeface="+mn-lt"/>
                <a:cs typeface="Trebuchet MS"/>
              </a:rPr>
              <a:t> </a:t>
            </a:r>
            <a:r>
              <a:rPr sz="2000" spc="-10" dirty="0">
                <a:solidFill>
                  <a:srgbClr val="373737"/>
                </a:solidFill>
                <a:latin typeface="+mn-lt"/>
                <a:cs typeface="Trebuchet MS"/>
              </a:rPr>
              <a:t>suggestions </a:t>
            </a:r>
            <a:r>
              <a:rPr sz="2000" spc="-160" dirty="0">
                <a:solidFill>
                  <a:srgbClr val="373737"/>
                </a:solidFill>
                <a:latin typeface="+mn-lt"/>
                <a:cs typeface="Trebuchet MS"/>
              </a:rPr>
              <a:t>without</a:t>
            </a:r>
            <a:r>
              <a:rPr sz="2000" spc="-60" dirty="0">
                <a:solidFill>
                  <a:srgbClr val="373737"/>
                </a:solidFill>
                <a:latin typeface="+mn-lt"/>
                <a:cs typeface="Trebuchet MS"/>
              </a:rPr>
              <a:t> </a:t>
            </a:r>
            <a:r>
              <a:rPr sz="2000" spc="-95" dirty="0">
                <a:solidFill>
                  <a:srgbClr val="373737"/>
                </a:solidFill>
                <a:latin typeface="+mn-lt"/>
                <a:cs typeface="Trebuchet MS"/>
              </a:rPr>
              <a:t>requiring</a:t>
            </a:r>
            <a:r>
              <a:rPr sz="2000" spc="-55" dirty="0">
                <a:solidFill>
                  <a:srgbClr val="373737"/>
                </a:solidFill>
                <a:latin typeface="+mn-lt"/>
                <a:cs typeface="Trebuchet MS"/>
              </a:rPr>
              <a:t> </a:t>
            </a:r>
            <a:r>
              <a:rPr sz="2000" spc="-100" dirty="0">
                <a:solidFill>
                  <a:srgbClr val="373737"/>
                </a:solidFill>
                <a:latin typeface="+mn-lt"/>
                <a:cs typeface="Trebuchet MS"/>
              </a:rPr>
              <a:t>user</a:t>
            </a:r>
            <a:r>
              <a:rPr sz="2000" spc="-55" dirty="0">
                <a:solidFill>
                  <a:srgbClr val="373737"/>
                </a:solidFill>
                <a:latin typeface="+mn-lt"/>
                <a:cs typeface="Trebuchet MS"/>
              </a:rPr>
              <a:t> </a:t>
            </a:r>
            <a:r>
              <a:rPr sz="2000" spc="-10" dirty="0">
                <a:solidFill>
                  <a:srgbClr val="373737"/>
                </a:solidFill>
                <a:latin typeface="+mn-lt"/>
                <a:cs typeface="Trebuchet MS"/>
              </a:rPr>
              <a:t>ratings.</a:t>
            </a:r>
            <a:endParaRPr sz="2000" dirty="0">
              <a:latin typeface="+mn-lt"/>
              <a:cs typeface="Trebuchet MS"/>
            </a:endParaRPr>
          </a:p>
          <a:p>
            <a:pPr>
              <a:lnSpc>
                <a:spcPct val="100000"/>
              </a:lnSpc>
              <a:spcBef>
                <a:spcPts val="195"/>
              </a:spcBef>
            </a:pPr>
            <a:endParaRPr sz="2000" dirty="0">
              <a:latin typeface="+mn-lt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spc="-110" dirty="0">
                <a:solidFill>
                  <a:srgbClr val="373737"/>
                </a:solidFill>
                <a:latin typeface="+mn-lt"/>
                <a:cs typeface="Trebuchet MS"/>
              </a:rPr>
              <a:t>Key</a:t>
            </a:r>
            <a:r>
              <a:rPr sz="2000" spc="-90" dirty="0">
                <a:solidFill>
                  <a:srgbClr val="373737"/>
                </a:solidFill>
                <a:latin typeface="+mn-lt"/>
                <a:cs typeface="Trebuchet MS"/>
              </a:rPr>
              <a:t> </a:t>
            </a:r>
            <a:r>
              <a:rPr sz="2000" spc="-45" dirty="0">
                <a:solidFill>
                  <a:srgbClr val="373737"/>
                </a:solidFill>
                <a:latin typeface="+mn-lt"/>
                <a:cs typeface="Trebuchet MS"/>
              </a:rPr>
              <a:t>Technologies</a:t>
            </a:r>
            <a:endParaRPr sz="2000" dirty="0">
              <a:latin typeface="+mn-lt"/>
              <a:cs typeface="Trebuchet MS"/>
            </a:endParaRPr>
          </a:p>
          <a:p>
            <a:pPr marL="579755" marR="5080" indent="-285750">
              <a:lnSpc>
                <a:spcPct val="136800"/>
              </a:lnSpc>
              <a:spcBef>
                <a:spcPts val="1105"/>
              </a:spcBef>
              <a:buFont typeface="Arial" panose="020B0604020202020204" pitchFamily="34" charset="0"/>
              <a:buChar char="•"/>
            </a:pPr>
            <a:r>
              <a:rPr sz="2000" spc="-114" dirty="0">
                <a:solidFill>
                  <a:srgbClr val="373737"/>
                </a:solidFill>
                <a:latin typeface="+mn-lt"/>
                <a:cs typeface="Trebuchet MS"/>
              </a:rPr>
              <a:t>Python</a:t>
            </a:r>
            <a:r>
              <a:rPr sz="2000" spc="-75" dirty="0">
                <a:solidFill>
                  <a:srgbClr val="373737"/>
                </a:solidFill>
                <a:latin typeface="+mn-lt"/>
                <a:cs typeface="Trebuchet MS"/>
              </a:rPr>
              <a:t> </a:t>
            </a:r>
            <a:r>
              <a:rPr sz="2000" spc="-170" dirty="0">
                <a:solidFill>
                  <a:srgbClr val="373737"/>
                </a:solidFill>
                <a:latin typeface="+mn-lt"/>
                <a:cs typeface="Trebuchet MS"/>
              </a:rPr>
              <a:t>with</a:t>
            </a:r>
            <a:r>
              <a:rPr sz="2000" spc="-70" dirty="0">
                <a:solidFill>
                  <a:srgbClr val="373737"/>
                </a:solidFill>
                <a:latin typeface="+mn-lt"/>
                <a:cs typeface="Trebuchet MS"/>
              </a:rPr>
              <a:t> </a:t>
            </a:r>
            <a:r>
              <a:rPr sz="2000" spc="-140" dirty="0">
                <a:solidFill>
                  <a:srgbClr val="373737"/>
                </a:solidFill>
                <a:latin typeface="+mn-lt"/>
                <a:cs typeface="Trebuchet MS"/>
              </a:rPr>
              <a:t>Pandas</a:t>
            </a:r>
            <a:r>
              <a:rPr sz="2000" spc="-70" dirty="0">
                <a:solidFill>
                  <a:srgbClr val="373737"/>
                </a:solidFill>
                <a:latin typeface="+mn-lt"/>
                <a:cs typeface="Trebuchet MS"/>
              </a:rPr>
              <a:t> </a:t>
            </a:r>
            <a:r>
              <a:rPr sz="2000" spc="-170" dirty="0">
                <a:solidFill>
                  <a:srgbClr val="373737"/>
                </a:solidFill>
                <a:latin typeface="+mn-lt"/>
                <a:cs typeface="Trebuchet MS"/>
              </a:rPr>
              <a:t>and</a:t>
            </a:r>
            <a:r>
              <a:rPr sz="2000" spc="-70" dirty="0">
                <a:solidFill>
                  <a:srgbClr val="373737"/>
                </a:solidFill>
                <a:latin typeface="+mn-lt"/>
                <a:cs typeface="Trebuchet MS"/>
              </a:rPr>
              <a:t> </a:t>
            </a:r>
            <a:r>
              <a:rPr sz="2000" spc="-135" dirty="0">
                <a:solidFill>
                  <a:srgbClr val="373737"/>
                </a:solidFill>
                <a:latin typeface="+mn-lt"/>
                <a:cs typeface="Trebuchet MS"/>
              </a:rPr>
              <a:t>NumPy</a:t>
            </a:r>
            <a:r>
              <a:rPr sz="2000" spc="-70" dirty="0">
                <a:solidFill>
                  <a:srgbClr val="373737"/>
                </a:solidFill>
                <a:latin typeface="+mn-lt"/>
                <a:cs typeface="Trebuchet MS"/>
              </a:rPr>
              <a:t> </a:t>
            </a:r>
            <a:r>
              <a:rPr sz="2000" spc="-55" dirty="0">
                <a:solidFill>
                  <a:srgbClr val="373737"/>
                </a:solidFill>
                <a:latin typeface="+mn-lt"/>
                <a:cs typeface="Trebuchet MS"/>
              </a:rPr>
              <a:t>for </a:t>
            </a:r>
            <a:r>
              <a:rPr sz="2000" spc="-160" dirty="0">
                <a:solidFill>
                  <a:srgbClr val="373737"/>
                </a:solidFill>
                <a:latin typeface="+mn-lt"/>
                <a:cs typeface="Trebuchet MS"/>
              </a:rPr>
              <a:t>data</a:t>
            </a:r>
            <a:r>
              <a:rPr sz="2000" spc="-75" dirty="0">
                <a:solidFill>
                  <a:srgbClr val="373737"/>
                </a:solidFill>
                <a:latin typeface="+mn-lt"/>
                <a:cs typeface="Trebuchet MS"/>
              </a:rPr>
              <a:t> </a:t>
            </a:r>
            <a:r>
              <a:rPr sz="2000" spc="-50" dirty="0">
                <a:solidFill>
                  <a:srgbClr val="373737"/>
                </a:solidFill>
                <a:latin typeface="+mn-lt"/>
                <a:cs typeface="Trebuchet MS"/>
              </a:rPr>
              <a:t>manipulation</a:t>
            </a:r>
            <a:endParaRPr sz="2000" dirty="0">
              <a:latin typeface="+mn-lt"/>
              <a:cs typeface="Trebuchet MS"/>
            </a:endParaRPr>
          </a:p>
          <a:p>
            <a:pPr marL="579755" marR="747395" indent="-285750">
              <a:lnSpc>
                <a:spcPct val="136800"/>
              </a:lnSpc>
              <a:spcBef>
                <a:spcPts val="490"/>
              </a:spcBef>
              <a:buFont typeface="Arial" panose="020B0604020202020204" pitchFamily="34" charset="0"/>
              <a:buChar char="•"/>
            </a:pPr>
            <a:r>
              <a:rPr sz="2000" spc="-80" dirty="0">
                <a:solidFill>
                  <a:srgbClr val="373737"/>
                </a:solidFill>
                <a:latin typeface="+mn-lt"/>
                <a:cs typeface="Trebuchet MS"/>
              </a:rPr>
              <a:t>Scikit-</a:t>
            </a:r>
            <a:r>
              <a:rPr sz="2000" spc="-85" dirty="0">
                <a:solidFill>
                  <a:srgbClr val="373737"/>
                </a:solidFill>
                <a:latin typeface="+mn-lt"/>
                <a:cs typeface="Trebuchet MS"/>
              </a:rPr>
              <a:t>learn</a:t>
            </a:r>
            <a:r>
              <a:rPr sz="2000" spc="-35" dirty="0">
                <a:solidFill>
                  <a:srgbClr val="373737"/>
                </a:solidFill>
                <a:latin typeface="+mn-lt"/>
                <a:cs typeface="Trebuchet MS"/>
              </a:rPr>
              <a:t> </a:t>
            </a:r>
            <a:r>
              <a:rPr sz="2000" spc="-60" dirty="0">
                <a:solidFill>
                  <a:srgbClr val="373737"/>
                </a:solidFill>
                <a:latin typeface="+mn-lt"/>
                <a:cs typeface="Trebuchet MS"/>
              </a:rPr>
              <a:t>for</a:t>
            </a:r>
            <a:r>
              <a:rPr sz="2000" spc="-30" dirty="0">
                <a:solidFill>
                  <a:srgbClr val="373737"/>
                </a:solidFill>
                <a:latin typeface="+mn-lt"/>
                <a:cs typeface="Trebuchet MS"/>
              </a:rPr>
              <a:t> </a:t>
            </a:r>
            <a:r>
              <a:rPr sz="2000" spc="-140" dirty="0">
                <a:solidFill>
                  <a:srgbClr val="373737"/>
                </a:solidFill>
                <a:latin typeface="+mn-lt"/>
                <a:cs typeface="Trebuchet MS"/>
              </a:rPr>
              <a:t>TF-</a:t>
            </a:r>
            <a:r>
              <a:rPr sz="2000" spc="-110" dirty="0">
                <a:solidFill>
                  <a:srgbClr val="373737"/>
                </a:solidFill>
                <a:latin typeface="+mn-lt"/>
                <a:cs typeface="Trebuchet MS"/>
              </a:rPr>
              <a:t>IDF </a:t>
            </a:r>
            <a:r>
              <a:rPr sz="2000" spc="-40" dirty="0">
                <a:solidFill>
                  <a:srgbClr val="373737"/>
                </a:solidFill>
                <a:latin typeface="+mn-lt"/>
                <a:cs typeface="Trebuchet MS"/>
              </a:rPr>
              <a:t>vectorization</a:t>
            </a:r>
            <a:endParaRPr sz="2000" dirty="0">
              <a:latin typeface="+mn-lt"/>
              <a:cs typeface="Trebuchet MS"/>
            </a:endParaRPr>
          </a:p>
          <a:p>
            <a:pPr marL="579755" marR="210185" indent="-285750">
              <a:lnSpc>
                <a:spcPct val="167200"/>
              </a:lnSpc>
              <a:buFont typeface="Arial" panose="020B0604020202020204" pitchFamily="34" charset="0"/>
              <a:buChar char="•"/>
            </a:pPr>
            <a:r>
              <a:rPr sz="2000" spc="-110" dirty="0">
                <a:solidFill>
                  <a:srgbClr val="373737"/>
                </a:solidFill>
                <a:latin typeface="+mn-lt"/>
                <a:cs typeface="Trebuchet MS"/>
              </a:rPr>
              <a:t>Cosine</a:t>
            </a:r>
            <a:r>
              <a:rPr sz="2000" spc="-65" dirty="0">
                <a:solidFill>
                  <a:srgbClr val="373737"/>
                </a:solidFill>
                <a:latin typeface="+mn-lt"/>
                <a:cs typeface="Trebuchet MS"/>
              </a:rPr>
              <a:t> </a:t>
            </a:r>
            <a:r>
              <a:rPr sz="2000" spc="-85" dirty="0">
                <a:solidFill>
                  <a:srgbClr val="373737"/>
                </a:solidFill>
                <a:latin typeface="+mn-lt"/>
                <a:cs typeface="Trebuchet MS"/>
              </a:rPr>
              <a:t>similarity</a:t>
            </a:r>
            <a:r>
              <a:rPr sz="2000" spc="-60" dirty="0">
                <a:solidFill>
                  <a:srgbClr val="373737"/>
                </a:solidFill>
                <a:latin typeface="+mn-lt"/>
                <a:cs typeface="Trebuchet MS"/>
              </a:rPr>
              <a:t> for </a:t>
            </a:r>
            <a:r>
              <a:rPr sz="2000" spc="-90" dirty="0">
                <a:solidFill>
                  <a:srgbClr val="373737"/>
                </a:solidFill>
                <a:latin typeface="+mn-lt"/>
                <a:cs typeface="Trebuchet MS"/>
              </a:rPr>
              <a:t>matching </a:t>
            </a:r>
            <a:endParaRPr lang="en-US" sz="2000" spc="-90" dirty="0">
              <a:solidFill>
                <a:srgbClr val="373737"/>
              </a:solidFill>
              <a:latin typeface="+mn-lt"/>
              <a:cs typeface="Trebuchet MS"/>
            </a:endParaRPr>
          </a:p>
          <a:p>
            <a:pPr marL="579755" marR="210185" indent="-285750">
              <a:lnSpc>
                <a:spcPct val="167200"/>
              </a:lnSpc>
              <a:buFont typeface="Arial" panose="020B0604020202020204" pitchFamily="34" charset="0"/>
              <a:buChar char="•"/>
            </a:pPr>
            <a:r>
              <a:rPr sz="2000" spc="-85" dirty="0" err="1">
                <a:solidFill>
                  <a:srgbClr val="373737"/>
                </a:solidFill>
                <a:latin typeface="+mn-lt"/>
                <a:cs typeface="Trebuchet MS"/>
              </a:rPr>
              <a:t>Difflib</a:t>
            </a:r>
            <a:r>
              <a:rPr sz="2000" spc="-70" dirty="0">
                <a:solidFill>
                  <a:srgbClr val="373737"/>
                </a:solidFill>
                <a:latin typeface="+mn-lt"/>
                <a:cs typeface="Trebuchet MS"/>
              </a:rPr>
              <a:t> </a:t>
            </a:r>
            <a:r>
              <a:rPr sz="2000" spc="-60" dirty="0">
                <a:solidFill>
                  <a:srgbClr val="373737"/>
                </a:solidFill>
                <a:latin typeface="+mn-lt"/>
                <a:cs typeface="Trebuchet MS"/>
              </a:rPr>
              <a:t>for</a:t>
            </a:r>
            <a:r>
              <a:rPr sz="2000" spc="-70" dirty="0">
                <a:solidFill>
                  <a:srgbClr val="373737"/>
                </a:solidFill>
                <a:latin typeface="+mn-lt"/>
                <a:cs typeface="Trebuchet MS"/>
              </a:rPr>
              <a:t> </a:t>
            </a:r>
            <a:r>
              <a:rPr sz="2000" spc="-80" dirty="0">
                <a:solidFill>
                  <a:srgbClr val="373737"/>
                </a:solidFill>
                <a:latin typeface="+mn-lt"/>
                <a:cs typeface="Trebuchet MS"/>
              </a:rPr>
              <a:t>fuzzy</a:t>
            </a:r>
            <a:r>
              <a:rPr sz="2000" spc="-65" dirty="0">
                <a:solidFill>
                  <a:srgbClr val="373737"/>
                </a:solidFill>
                <a:latin typeface="+mn-lt"/>
                <a:cs typeface="Trebuchet MS"/>
              </a:rPr>
              <a:t> </a:t>
            </a:r>
            <a:r>
              <a:rPr sz="2000" spc="-95" dirty="0">
                <a:solidFill>
                  <a:srgbClr val="373737"/>
                </a:solidFill>
                <a:latin typeface="+mn-lt"/>
                <a:cs typeface="Trebuchet MS"/>
              </a:rPr>
              <a:t>title</a:t>
            </a:r>
            <a:r>
              <a:rPr sz="2000" spc="-70" dirty="0">
                <a:solidFill>
                  <a:srgbClr val="373737"/>
                </a:solidFill>
                <a:latin typeface="+mn-lt"/>
                <a:cs typeface="Trebuchet MS"/>
              </a:rPr>
              <a:t> </a:t>
            </a:r>
            <a:r>
              <a:rPr sz="2000" spc="-120" dirty="0">
                <a:solidFill>
                  <a:srgbClr val="373737"/>
                </a:solidFill>
                <a:latin typeface="+mn-lt"/>
                <a:cs typeface="Trebuchet MS"/>
              </a:rPr>
              <a:t>matching</a:t>
            </a:r>
            <a:endParaRPr sz="2000" dirty="0">
              <a:latin typeface="+mn-lt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16162" y="1376936"/>
            <a:ext cx="4987925" cy="631583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380" dirty="0">
                <a:latin typeface="+mn-lt"/>
              </a:rPr>
              <a:t>Data</a:t>
            </a:r>
            <a:r>
              <a:rPr spc="-235" dirty="0">
                <a:latin typeface="+mn-lt"/>
              </a:rPr>
              <a:t> </a:t>
            </a:r>
            <a:r>
              <a:rPr spc="-365" dirty="0">
                <a:latin typeface="+mn-lt"/>
              </a:rPr>
              <a:t>Loading</a:t>
            </a:r>
            <a:r>
              <a:rPr spc="-220" dirty="0">
                <a:latin typeface="+mn-lt"/>
              </a:rPr>
              <a:t> </a:t>
            </a:r>
            <a:r>
              <a:rPr spc="-595" dirty="0">
                <a:latin typeface="+mn-lt"/>
              </a:rPr>
              <a:t>&amp;</a:t>
            </a:r>
            <a:r>
              <a:rPr spc="-225" dirty="0">
                <a:latin typeface="+mn-lt"/>
              </a:rPr>
              <a:t> </a:t>
            </a:r>
            <a:r>
              <a:rPr spc="-229" dirty="0">
                <a:latin typeface="+mn-lt"/>
              </a:rPr>
              <a:t>Initial</a:t>
            </a:r>
            <a:r>
              <a:rPr spc="-220" dirty="0">
                <a:latin typeface="+mn-lt"/>
              </a:rPr>
              <a:t> </a:t>
            </a:r>
            <a:r>
              <a:rPr sz="4000" spc="-305" dirty="0">
                <a:latin typeface="+mn-lt"/>
              </a:rPr>
              <a:t>Inspection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916812B-6AD5-96B8-953A-6F66632A859F}"/>
              </a:ext>
            </a:extLst>
          </p:cNvPr>
          <p:cNvGrpSpPr/>
          <p:nvPr/>
        </p:nvGrpSpPr>
        <p:grpSpPr>
          <a:xfrm>
            <a:off x="757237" y="3048000"/>
            <a:ext cx="9915525" cy="3519488"/>
            <a:chOff x="757237" y="2424112"/>
            <a:chExt cx="9915525" cy="3519488"/>
          </a:xfrm>
        </p:grpSpPr>
        <p:grpSp>
          <p:nvGrpSpPr>
            <p:cNvPr id="3" name="object 3"/>
            <p:cNvGrpSpPr/>
            <p:nvPr/>
          </p:nvGrpSpPr>
          <p:grpSpPr>
            <a:xfrm>
              <a:off x="757237" y="2424112"/>
              <a:ext cx="3152775" cy="3519488"/>
              <a:chOff x="757237" y="2424112"/>
              <a:chExt cx="3152775" cy="3519488"/>
            </a:xfrm>
          </p:grpSpPr>
          <p:sp>
            <p:nvSpPr>
              <p:cNvPr id="4" name="object 4"/>
              <p:cNvSpPr/>
              <p:nvPr/>
            </p:nvSpPr>
            <p:spPr>
              <a:xfrm>
                <a:off x="757237" y="2424112"/>
                <a:ext cx="3152775" cy="3519488"/>
              </a:xfrm>
              <a:custGeom>
                <a:avLst/>
                <a:gdLst/>
                <a:ahLst/>
                <a:cxnLst/>
                <a:rect l="l" t="t" r="r" b="b"/>
                <a:pathLst>
                  <a:path w="3152775" h="2552700">
                    <a:moveTo>
                      <a:pt x="3087141" y="0"/>
                    </a:moveTo>
                    <a:lnTo>
                      <a:pt x="65633" y="0"/>
                    </a:lnTo>
                    <a:lnTo>
                      <a:pt x="61064" y="444"/>
                    </a:lnTo>
                    <a:lnTo>
                      <a:pt x="23837" y="17310"/>
                    </a:lnTo>
                    <a:lnTo>
                      <a:pt x="2247" y="52019"/>
                    </a:lnTo>
                    <a:lnTo>
                      <a:pt x="0" y="65633"/>
                    </a:lnTo>
                    <a:lnTo>
                      <a:pt x="0" y="2482456"/>
                    </a:lnTo>
                    <a:lnTo>
                      <a:pt x="0" y="2487066"/>
                    </a:lnTo>
                    <a:lnTo>
                      <a:pt x="14401" y="2525306"/>
                    </a:lnTo>
                    <a:lnTo>
                      <a:pt x="47625" y="2549118"/>
                    </a:lnTo>
                    <a:lnTo>
                      <a:pt x="65633" y="2552700"/>
                    </a:lnTo>
                    <a:lnTo>
                      <a:pt x="3087141" y="2552700"/>
                    </a:lnTo>
                    <a:lnTo>
                      <a:pt x="3125393" y="2538298"/>
                    </a:lnTo>
                    <a:lnTo>
                      <a:pt x="3149193" y="2505075"/>
                    </a:lnTo>
                    <a:lnTo>
                      <a:pt x="3152775" y="2487066"/>
                    </a:lnTo>
                    <a:lnTo>
                      <a:pt x="3152775" y="65633"/>
                    </a:lnTo>
                    <a:lnTo>
                      <a:pt x="3138373" y="27381"/>
                    </a:lnTo>
                    <a:lnTo>
                      <a:pt x="3105150" y="3581"/>
                    </a:lnTo>
                    <a:lnTo>
                      <a:pt x="3091713" y="444"/>
                    </a:lnTo>
                    <a:lnTo>
                      <a:pt x="3087141" y="0"/>
                    </a:lnTo>
                    <a:close/>
                  </a:path>
                </a:pathLst>
              </a:custGeom>
              <a:solidFill>
                <a:srgbClr val="E6E6E6"/>
              </a:solidFill>
            </p:spPr>
            <p:txBody>
              <a:bodyPr wrap="square" lIns="0" tIns="0" rIns="0" bIns="0" rtlCol="0"/>
              <a:lstStyle/>
              <a:p>
                <a:endParaRPr sz="2000" dirty="0">
                  <a:latin typeface="+mn-lt"/>
                </a:endParaRPr>
              </a:p>
            </p:txBody>
          </p:sp>
          <p:sp>
            <p:nvSpPr>
              <p:cNvPr id="5" name="object 5"/>
              <p:cNvSpPr/>
              <p:nvPr/>
            </p:nvSpPr>
            <p:spPr>
              <a:xfrm>
                <a:off x="757237" y="2424112"/>
                <a:ext cx="3152775" cy="2552700"/>
              </a:xfrm>
              <a:custGeom>
                <a:avLst/>
                <a:gdLst/>
                <a:ahLst/>
                <a:cxnLst/>
                <a:rect l="l" t="t" r="r" b="b"/>
                <a:pathLst>
                  <a:path w="3152775" h="2552700">
                    <a:moveTo>
                      <a:pt x="0" y="2482456"/>
                    </a:moveTo>
                    <a:lnTo>
                      <a:pt x="0" y="70243"/>
                    </a:lnTo>
                    <a:lnTo>
                      <a:pt x="0" y="65633"/>
                    </a:lnTo>
                    <a:lnTo>
                      <a:pt x="450" y="61061"/>
                    </a:lnTo>
                    <a:lnTo>
                      <a:pt x="1350" y="56540"/>
                    </a:lnTo>
                    <a:lnTo>
                      <a:pt x="2247" y="52019"/>
                    </a:lnTo>
                    <a:lnTo>
                      <a:pt x="3581" y="47625"/>
                    </a:lnTo>
                    <a:lnTo>
                      <a:pt x="5347" y="43370"/>
                    </a:lnTo>
                    <a:lnTo>
                      <a:pt x="7114" y="39103"/>
                    </a:lnTo>
                    <a:lnTo>
                      <a:pt x="9277" y="35052"/>
                    </a:lnTo>
                    <a:lnTo>
                      <a:pt x="39102" y="7112"/>
                    </a:lnTo>
                    <a:lnTo>
                      <a:pt x="43364" y="5346"/>
                    </a:lnTo>
                    <a:lnTo>
                      <a:pt x="47625" y="3581"/>
                    </a:lnTo>
                    <a:lnTo>
                      <a:pt x="52020" y="2247"/>
                    </a:lnTo>
                    <a:lnTo>
                      <a:pt x="56544" y="1346"/>
                    </a:lnTo>
                    <a:lnTo>
                      <a:pt x="61064" y="444"/>
                    </a:lnTo>
                    <a:lnTo>
                      <a:pt x="65633" y="0"/>
                    </a:lnTo>
                    <a:lnTo>
                      <a:pt x="70247" y="0"/>
                    </a:lnTo>
                    <a:lnTo>
                      <a:pt x="3082531" y="0"/>
                    </a:lnTo>
                    <a:lnTo>
                      <a:pt x="3087141" y="0"/>
                    </a:lnTo>
                    <a:lnTo>
                      <a:pt x="3091713" y="444"/>
                    </a:lnTo>
                    <a:lnTo>
                      <a:pt x="3121558" y="11836"/>
                    </a:lnTo>
                    <a:lnTo>
                      <a:pt x="3125393" y="14401"/>
                    </a:lnTo>
                    <a:lnTo>
                      <a:pt x="3128937" y="17310"/>
                    </a:lnTo>
                    <a:lnTo>
                      <a:pt x="3132201" y="20574"/>
                    </a:lnTo>
                    <a:lnTo>
                      <a:pt x="3135464" y="23837"/>
                    </a:lnTo>
                    <a:lnTo>
                      <a:pt x="3147428" y="43370"/>
                    </a:lnTo>
                    <a:lnTo>
                      <a:pt x="3149193" y="47625"/>
                    </a:lnTo>
                    <a:lnTo>
                      <a:pt x="3150527" y="52019"/>
                    </a:lnTo>
                    <a:lnTo>
                      <a:pt x="3151428" y="56540"/>
                    </a:lnTo>
                    <a:lnTo>
                      <a:pt x="3152317" y="61061"/>
                    </a:lnTo>
                    <a:lnTo>
                      <a:pt x="3152775" y="65633"/>
                    </a:lnTo>
                    <a:lnTo>
                      <a:pt x="3152775" y="70243"/>
                    </a:lnTo>
                    <a:lnTo>
                      <a:pt x="3152775" y="2482456"/>
                    </a:lnTo>
                    <a:lnTo>
                      <a:pt x="3152775" y="2487066"/>
                    </a:lnTo>
                    <a:lnTo>
                      <a:pt x="3152317" y="2491625"/>
                    </a:lnTo>
                    <a:lnTo>
                      <a:pt x="3151428" y="2496159"/>
                    </a:lnTo>
                    <a:lnTo>
                      <a:pt x="3150527" y="2500680"/>
                    </a:lnTo>
                    <a:lnTo>
                      <a:pt x="3149193" y="2505075"/>
                    </a:lnTo>
                    <a:lnTo>
                      <a:pt x="3147428" y="2509329"/>
                    </a:lnTo>
                    <a:lnTo>
                      <a:pt x="3145663" y="2513596"/>
                    </a:lnTo>
                    <a:lnTo>
                      <a:pt x="3143504" y="2517648"/>
                    </a:lnTo>
                    <a:lnTo>
                      <a:pt x="3140938" y="2521470"/>
                    </a:lnTo>
                    <a:lnTo>
                      <a:pt x="3138373" y="2525306"/>
                    </a:lnTo>
                    <a:lnTo>
                      <a:pt x="3135464" y="2528862"/>
                    </a:lnTo>
                    <a:lnTo>
                      <a:pt x="3132201" y="2532126"/>
                    </a:lnTo>
                    <a:lnTo>
                      <a:pt x="3128937" y="2535389"/>
                    </a:lnTo>
                    <a:lnTo>
                      <a:pt x="3125393" y="2538298"/>
                    </a:lnTo>
                    <a:lnTo>
                      <a:pt x="3121558" y="2540863"/>
                    </a:lnTo>
                    <a:lnTo>
                      <a:pt x="3117723" y="2543429"/>
                    </a:lnTo>
                    <a:lnTo>
                      <a:pt x="3096234" y="2551353"/>
                    </a:lnTo>
                    <a:lnTo>
                      <a:pt x="3091713" y="2552255"/>
                    </a:lnTo>
                    <a:lnTo>
                      <a:pt x="3087141" y="2552700"/>
                    </a:lnTo>
                    <a:lnTo>
                      <a:pt x="3082531" y="2552700"/>
                    </a:lnTo>
                    <a:lnTo>
                      <a:pt x="70247" y="2552700"/>
                    </a:lnTo>
                    <a:lnTo>
                      <a:pt x="65633" y="2552700"/>
                    </a:lnTo>
                    <a:lnTo>
                      <a:pt x="61064" y="2552255"/>
                    </a:lnTo>
                    <a:lnTo>
                      <a:pt x="56544" y="2551353"/>
                    </a:lnTo>
                    <a:lnTo>
                      <a:pt x="52020" y="2550452"/>
                    </a:lnTo>
                    <a:lnTo>
                      <a:pt x="47625" y="2549118"/>
                    </a:lnTo>
                    <a:lnTo>
                      <a:pt x="43364" y="2547353"/>
                    </a:lnTo>
                    <a:lnTo>
                      <a:pt x="39102" y="2545588"/>
                    </a:lnTo>
                    <a:lnTo>
                      <a:pt x="11836" y="2521470"/>
                    </a:lnTo>
                    <a:lnTo>
                      <a:pt x="9277" y="2517648"/>
                    </a:lnTo>
                    <a:lnTo>
                      <a:pt x="7114" y="2513596"/>
                    </a:lnTo>
                    <a:lnTo>
                      <a:pt x="5347" y="2509329"/>
                    </a:lnTo>
                    <a:lnTo>
                      <a:pt x="3581" y="2505075"/>
                    </a:lnTo>
                    <a:lnTo>
                      <a:pt x="2247" y="2500680"/>
                    </a:lnTo>
                    <a:lnTo>
                      <a:pt x="1350" y="2496159"/>
                    </a:lnTo>
                    <a:lnTo>
                      <a:pt x="450" y="2491625"/>
                    </a:lnTo>
                    <a:lnTo>
                      <a:pt x="0" y="2487066"/>
                    </a:lnTo>
                    <a:lnTo>
                      <a:pt x="0" y="2482456"/>
                    </a:lnTo>
                    <a:close/>
                  </a:path>
                </a:pathLst>
              </a:custGeom>
              <a:ln w="9525">
                <a:solidFill>
                  <a:srgbClr val="CCCCCC"/>
                </a:solidFill>
              </a:ln>
            </p:spPr>
            <p:txBody>
              <a:bodyPr wrap="square" lIns="0" tIns="0" rIns="0" bIns="0" rtlCol="0"/>
              <a:lstStyle/>
              <a:p>
                <a:endParaRPr sz="2000">
                  <a:latin typeface="+mn-lt"/>
                </a:endParaRPr>
              </a:p>
            </p:txBody>
          </p:sp>
        </p:grpSp>
        <p:sp>
          <p:nvSpPr>
            <p:cNvPr id="6" name="object 6"/>
            <p:cNvSpPr txBox="1"/>
            <p:nvPr/>
          </p:nvSpPr>
          <p:spPr>
            <a:xfrm>
              <a:off x="961231" y="2630487"/>
              <a:ext cx="2696210" cy="2052228"/>
            </a:xfrm>
            <a:prstGeom prst="rect">
              <a:avLst/>
            </a:prstGeom>
          </p:spPr>
          <p:txBody>
            <a:bodyPr vert="horz" wrap="square" lIns="0" tIns="1714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sz="2000" spc="-150" dirty="0">
                  <a:solidFill>
                    <a:srgbClr val="373737"/>
                  </a:solidFill>
                  <a:latin typeface="+mn-lt"/>
                  <a:cs typeface="Trebuchet MS"/>
                </a:rPr>
                <a:t>Dataset</a:t>
              </a:r>
              <a:r>
                <a:rPr sz="2000" spc="-70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10" dirty="0">
                  <a:solidFill>
                    <a:srgbClr val="373737"/>
                  </a:solidFill>
                  <a:latin typeface="+mn-lt"/>
                  <a:cs typeface="Trebuchet MS"/>
                </a:rPr>
                <a:t>Structure</a:t>
              </a:r>
              <a:endParaRPr sz="2000" dirty="0">
                <a:latin typeface="+mn-lt"/>
                <a:cs typeface="Trebuchet MS"/>
              </a:endParaRPr>
            </a:p>
            <a:p>
              <a:pPr marL="12700" marR="5080">
                <a:lnSpc>
                  <a:spcPct val="136400"/>
                </a:lnSpc>
                <a:spcBef>
                  <a:spcPts val="675"/>
                </a:spcBef>
              </a:pPr>
              <a:r>
                <a:rPr sz="2000" spc="-175" dirty="0">
                  <a:solidFill>
                    <a:srgbClr val="373737"/>
                  </a:solidFill>
                  <a:latin typeface="+mn-lt"/>
                  <a:cs typeface="Trebuchet MS"/>
                </a:rPr>
                <a:t>4,803</a:t>
              </a:r>
              <a:r>
                <a:rPr sz="2000" spc="-90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160" dirty="0">
                  <a:solidFill>
                    <a:srgbClr val="373737"/>
                  </a:solidFill>
                  <a:latin typeface="+mn-lt"/>
                  <a:cs typeface="Trebuchet MS"/>
                </a:rPr>
                <a:t>movies</a:t>
              </a:r>
              <a:r>
                <a:rPr sz="2000" spc="-85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50" dirty="0">
                  <a:solidFill>
                    <a:srgbClr val="373737"/>
                  </a:solidFill>
                  <a:latin typeface="+mn-lt"/>
                  <a:cs typeface="Trebuchet MS"/>
                </a:rPr>
                <a:t>×</a:t>
              </a:r>
              <a:r>
                <a:rPr sz="2000" spc="-90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165" dirty="0">
                  <a:solidFill>
                    <a:srgbClr val="373737"/>
                  </a:solidFill>
                  <a:latin typeface="+mn-lt"/>
                  <a:cs typeface="Trebuchet MS"/>
                </a:rPr>
                <a:t>24</a:t>
              </a:r>
              <a:r>
                <a:rPr sz="2000" spc="-85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10" dirty="0">
                  <a:solidFill>
                    <a:srgbClr val="373737"/>
                  </a:solidFill>
                  <a:latin typeface="+mn-lt"/>
                  <a:cs typeface="Trebuchet MS"/>
                </a:rPr>
                <a:t>columns </a:t>
              </a:r>
              <a:r>
                <a:rPr sz="2000" spc="-145" dirty="0">
                  <a:solidFill>
                    <a:srgbClr val="373737"/>
                  </a:solidFill>
                  <a:latin typeface="+mn-lt"/>
                  <a:cs typeface="Trebuchet MS"/>
                </a:rPr>
                <a:t>including</a:t>
              </a:r>
              <a:r>
                <a:rPr sz="2000" spc="-80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200" dirty="0">
                  <a:solidFill>
                    <a:srgbClr val="373737"/>
                  </a:solidFill>
                  <a:latin typeface="+mn-lt"/>
                  <a:cs typeface="Trebuchet MS"/>
                </a:rPr>
                <a:t>budget,</a:t>
              </a:r>
              <a:r>
                <a:rPr sz="2000" spc="-80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145" dirty="0">
                  <a:solidFill>
                    <a:srgbClr val="373737"/>
                  </a:solidFill>
                  <a:latin typeface="+mn-lt"/>
                  <a:cs typeface="Trebuchet MS"/>
                </a:rPr>
                <a:t>genres,</a:t>
              </a:r>
              <a:r>
                <a:rPr sz="2000" spc="-75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190" dirty="0">
                  <a:solidFill>
                    <a:srgbClr val="373737"/>
                  </a:solidFill>
                  <a:latin typeface="+mn-lt"/>
                  <a:cs typeface="Trebuchet MS"/>
                </a:rPr>
                <a:t>overview, </a:t>
              </a:r>
              <a:r>
                <a:rPr sz="2000" spc="-165" dirty="0">
                  <a:solidFill>
                    <a:srgbClr val="373737"/>
                  </a:solidFill>
                  <a:latin typeface="+mn-lt"/>
                  <a:cs typeface="Trebuchet MS"/>
                </a:rPr>
                <a:t>vote</a:t>
              </a:r>
              <a:r>
                <a:rPr sz="2000" spc="-85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175" dirty="0">
                  <a:solidFill>
                    <a:srgbClr val="373737"/>
                  </a:solidFill>
                  <a:latin typeface="+mn-lt"/>
                  <a:cs typeface="Trebuchet MS"/>
                </a:rPr>
                <a:t>average,</a:t>
              </a:r>
              <a:r>
                <a:rPr sz="2000" spc="-80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150" dirty="0">
                  <a:solidFill>
                    <a:srgbClr val="373737"/>
                  </a:solidFill>
                  <a:latin typeface="+mn-lt"/>
                  <a:cs typeface="Trebuchet MS"/>
                </a:rPr>
                <a:t>cast,</a:t>
              </a:r>
              <a:r>
                <a:rPr sz="2000" spc="-85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220" dirty="0">
                  <a:solidFill>
                    <a:srgbClr val="373737"/>
                  </a:solidFill>
                  <a:latin typeface="+mn-lt"/>
                  <a:cs typeface="Trebuchet MS"/>
                </a:rPr>
                <a:t>crew,</a:t>
              </a:r>
              <a:r>
                <a:rPr sz="2000" spc="-80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25" dirty="0">
                  <a:solidFill>
                    <a:srgbClr val="373737"/>
                  </a:solidFill>
                  <a:latin typeface="+mn-lt"/>
                  <a:cs typeface="Trebuchet MS"/>
                </a:rPr>
                <a:t>and </a:t>
              </a:r>
              <a:r>
                <a:rPr sz="2000" spc="-130" dirty="0">
                  <a:solidFill>
                    <a:srgbClr val="373737"/>
                  </a:solidFill>
                  <a:latin typeface="+mn-lt"/>
                  <a:cs typeface="Trebuchet MS"/>
                </a:rPr>
                <a:t>director</a:t>
              </a:r>
              <a:r>
                <a:rPr sz="2000" spc="-80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10" dirty="0">
                  <a:solidFill>
                    <a:srgbClr val="373737"/>
                  </a:solidFill>
                  <a:latin typeface="+mn-lt"/>
                  <a:cs typeface="Trebuchet MS"/>
                </a:rPr>
                <a:t>fields</a:t>
              </a:r>
              <a:endParaRPr sz="2000" dirty="0">
                <a:latin typeface="+mn-lt"/>
                <a:cs typeface="Trebuchet MS"/>
              </a:endParaRPr>
            </a:p>
          </p:txBody>
        </p:sp>
        <p:grpSp>
          <p:nvGrpSpPr>
            <p:cNvPr id="7" name="object 7"/>
            <p:cNvGrpSpPr/>
            <p:nvPr/>
          </p:nvGrpSpPr>
          <p:grpSpPr>
            <a:xfrm>
              <a:off x="4138612" y="2424112"/>
              <a:ext cx="3152775" cy="3519488"/>
              <a:chOff x="4138612" y="2424112"/>
              <a:chExt cx="3152775" cy="3519488"/>
            </a:xfrm>
          </p:grpSpPr>
          <p:sp>
            <p:nvSpPr>
              <p:cNvPr id="8" name="object 8"/>
              <p:cNvSpPr/>
              <p:nvPr/>
            </p:nvSpPr>
            <p:spPr>
              <a:xfrm>
                <a:off x="4138612" y="2424112"/>
                <a:ext cx="3152775" cy="3519488"/>
              </a:xfrm>
              <a:custGeom>
                <a:avLst/>
                <a:gdLst/>
                <a:ahLst/>
                <a:cxnLst/>
                <a:rect l="l" t="t" r="r" b="b"/>
                <a:pathLst>
                  <a:path w="3152775" h="2552700">
                    <a:moveTo>
                      <a:pt x="3087141" y="0"/>
                    </a:moveTo>
                    <a:lnTo>
                      <a:pt x="65633" y="0"/>
                    </a:lnTo>
                    <a:lnTo>
                      <a:pt x="61061" y="444"/>
                    </a:lnTo>
                    <a:lnTo>
                      <a:pt x="23837" y="17310"/>
                    </a:lnTo>
                    <a:lnTo>
                      <a:pt x="2247" y="52019"/>
                    </a:lnTo>
                    <a:lnTo>
                      <a:pt x="0" y="65633"/>
                    </a:lnTo>
                    <a:lnTo>
                      <a:pt x="0" y="2482456"/>
                    </a:lnTo>
                    <a:lnTo>
                      <a:pt x="0" y="2487066"/>
                    </a:lnTo>
                    <a:lnTo>
                      <a:pt x="14401" y="2525306"/>
                    </a:lnTo>
                    <a:lnTo>
                      <a:pt x="47625" y="2549118"/>
                    </a:lnTo>
                    <a:lnTo>
                      <a:pt x="65633" y="2552700"/>
                    </a:lnTo>
                    <a:lnTo>
                      <a:pt x="3087141" y="2552700"/>
                    </a:lnTo>
                    <a:lnTo>
                      <a:pt x="3125393" y="2538298"/>
                    </a:lnTo>
                    <a:lnTo>
                      <a:pt x="3149193" y="2505075"/>
                    </a:lnTo>
                    <a:lnTo>
                      <a:pt x="3152775" y="2487066"/>
                    </a:lnTo>
                    <a:lnTo>
                      <a:pt x="3152775" y="65633"/>
                    </a:lnTo>
                    <a:lnTo>
                      <a:pt x="3138373" y="27381"/>
                    </a:lnTo>
                    <a:lnTo>
                      <a:pt x="3105150" y="3581"/>
                    </a:lnTo>
                    <a:lnTo>
                      <a:pt x="3091700" y="444"/>
                    </a:lnTo>
                    <a:lnTo>
                      <a:pt x="3087141" y="0"/>
                    </a:lnTo>
                    <a:close/>
                  </a:path>
                </a:pathLst>
              </a:custGeom>
              <a:solidFill>
                <a:srgbClr val="E6E6E6"/>
              </a:solidFill>
            </p:spPr>
            <p:txBody>
              <a:bodyPr wrap="square" lIns="0" tIns="0" rIns="0" bIns="0" rtlCol="0"/>
              <a:lstStyle/>
              <a:p>
                <a:endParaRPr sz="2000">
                  <a:latin typeface="+mn-lt"/>
                </a:endParaRPr>
              </a:p>
            </p:txBody>
          </p:sp>
          <p:sp>
            <p:nvSpPr>
              <p:cNvPr id="9" name="object 9"/>
              <p:cNvSpPr/>
              <p:nvPr/>
            </p:nvSpPr>
            <p:spPr>
              <a:xfrm>
                <a:off x="4138612" y="2424112"/>
                <a:ext cx="3152775" cy="2552700"/>
              </a:xfrm>
              <a:custGeom>
                <a:avLst/>
                <a:gdLst/>
                <a:ahLst/>
                <a:cxnLst/>
                <a:rect l="l" t="t" r="r" b="b"/>
                <a:pathLst>
                  <a:path w="3152775" h="2552700">
                    <a:moveTo>
                      <a:pt x="0" y="2482456"/>
                    </a:moveTo>
                    <a:lnTo>
                      <a:pt x="0" y="70243"/>
                    </a:lnTo>
                    <a:lnTo>
                      <a:pt x="0" y="65633"/>
                    </a:lnTo>
                    <a:lnTo>
                      <a:pt x="457" y="61061"/>
                    </a:lnTo>
                    <a:lnTo>
                      <a:pt x="1346" y="56540"/>
                    </a:lnTo>
                    <a:lnTo>
                      <a:pt x="2247" y="52019"/>
                    </a:lnTo>
                    <a:lnTo>
                      <a:pt x="3581" y="47625"/>
                    </a:lnTo>
                    <a:lnTo>
                      <a:pt x="5346" y="43370"/>
                    </a:lnTo>
                    <a:lnTo>
                      <a:pt x="7112" y="39103"/>
                    </a:lnTo>
                    <a:lnTo>
                      <a:pt x="20574" y="20574"/>
                    </a:lnTo>
                    <a:lnTo>
                      <a:pt x="23837" y="17310"/>
                    </a:lnTo>
                    <a:lnTo>
                      <a:pt x="27381" y="14401"/>
                    </a:lnTo>
                    <a:lnTo>
                      <a:pt x="31216" y="11836"/>
                    </a:lnTo>
                    <a:lnTo>
                      <a:pt x="35052" y="9271"/>
                    </a:lnTo>
                    <a:lnTo>
                      <a:pt x="65633" y="0"/>
                    </a:lnTo>
                    <a:lnTo>
                      <a:pt x="70243" y="0"/>
                    </a:lnTo>
                    <a:lnTo>
                      <a:pt x="3082531" y="0"/>
                    </a:lnTo>
                    <a:lnTo>
                      <a:pt x="3087141" y="0"/>
                    </a:lnTo>
                    <a:lnTo>
                      <a:pt x="3091700" y="444"/>
                    </a:lnTo>
                    <a:lnTo>
                      <a:pt x="3128937" y="17310"/>
                    </a:lnTo>
                    <a:lnTo>
                      <a:pt x="3147428" y="43370"/>
                    </a:lnTo>
                    <a:lnTo>
                      <a:pt x="3149193" y="47625"/>
                    </a:lnTo>
                    <a:lnTo>
                      <a:pt x="3150527" y="52019"/>
                    </a:lnTo>
                    <a:lnTo>
                      <a:pt x="3151428" y="56540"/>
                    </a:lnTo>
                    <a:lnTo>
                      <a:pt x="3152317" y="61061"/>
                    </a:lnTo>
                    <a:lnTo>
                      <a:pt x="3152775" y="65633"/>
                    </a:lnTo>
                    <a:lnTo>
                      <a:pt x="3152775" y="70243"/>
                    </a:lnTo>
                    <a:lnTo>
                      <a:pt x="3152775" y="2482456"/>
                    </a:lnTo>
                    <a:lnTo>
                      <a:pt x="3152775" y="2487066"/>
                    </a:lnTo>
                    <a:lnTo>
                      <a:pt x="3152317" y="2491625"/>
                    </a:lnTo>
                    <a:lnTo>
                      <a:pt x="3151428" y="2496159"/>
                    </a:lnTo>
                    <a:lnTo>
                      <a:pt x="3150527" y="2500680"/>
                    </a:lnTo>
                    <a:lnTo>
                      <a:pt x="3149193" y="2505075"/>
                    </a:lnTo>
                    <a:lnTo>
                      <a:pt x="3147428" y="2509329"/>
                    </a:lnTo>
                    <a:lnTo>
                      <a:pt x="3145663" y="2513596"/>
                    </a:lnTo>
                    <a:lnTo>
                      <a:pt x="3143504" y="2517648"/>
                    </a:lnTo>
                    <a:lnTo>
                      <a:pt x="3140938" y="2521470"/>
                    </a:lnTo>
                    <a:lnTo>
                      <a:pt x="3138373" y="2525306"/>
                    </a:lnTo>
                    <a:lnTo>
                      <a:pt x="3105150" y="2549118"/>
                    </a:lnTo>
                    <a:lnTo>
                      <a:pt x="3087141" y="2552700"/>
                    </a:lnTo>
                    <a:lnTo>
                      <a:pt x="3082531" y="2552700"/>
                    </a:lnTo>
                    <a:lnTo>
                      <a:pt x="70243" y="2552700"/>
                    </a:lnTo>
                    <a:lnTo>
                      <a:pt x="65633" y="2552700"/>
                    </a:lnTo>
                    <a:lnTo>
                      <a:pt x="61061" y="2552255"/>
                    </a:lnTo>
                    <a:lnTo>
                      <a:pt x="56540" y="2551353"/>
                    </a:lnTo>
                    <a:lnTo>
                      <a:pt x="52019" y="2550452"/>
                    </a:lnTo>
                    <a:lnTo>
                      <a:pt x="31216" y="2540863"/>
                    </a:lnTo>
                    <a:lnTo>
                      <a:pt x="27381" y="2538298"/>
                    </a:lnTo>
                    <a:lnTo>
                      <a:pt x="23837" y="2535389"/>
                    </a:lnTo>
                    <a:lnTo>
                      <a:pt x="20574" y="2532126"/>
                    </a:lnTo>
                    <a:lnTo>
                      <a:pt x="17310" y="2528862"/>
                    </a:lnTo>
                    <a:lnTo>
                      <a:pt x="14401" y="2525306"/>
                    </a:lnTo>
                    <a:lnTo>
                      <a:pt x="11836" y="2521470"/>
                    </a:lnTo>
                    <a:lnTo>
                      <a:pt x="9271" y="2517648"/>
                    </a:lnTo>
                    <a:lnTo>
                      <a:pt x="7112" y="2513596"/>
                    </a:lnTo>
                    <a:lnTo>
                      <a:pt x="5346" y="2509329"/>
                    </a:lnTo>
                    <a:lnTo>
                      <a:pt x="3581" y="2505075"/>
                    </a:lnTo>
                    <a:lnTo>
                      <a:pt x="2247" y="2500680"/>
                    </a:lnTo>
                    <a:lnTo>
                      <a:pt x="1346" y="2496159"/>
                    </a:lnTo>
                    <a:lnTo>
                      <a:pt x="457" y="2491625"/>
                    </a:lnTo>
                    <a:lnTo>
                      <a:pt x="0" y="2487066"/>
                    </a:lnTo>
                    <a:lnTo>
                      <a:pt x="0" y="2482456"/>
                    </a:lnTo>
                    <a:close/>
                  </a:path>
                </a:pathLst>
              </a:custGeom>
              <a:ln w="9525">
                <a:solidFill>
                  <a:srgbClr val="CCCCCC"/>
                </a:solidFill>
              </a:ln>
            </p:spPr>
            <p:txBody>
              <a:bodyPr wrap="square" lIns="0" tIns="0" rIns="0" bIns="0" rtlCol="0"/>
              <a:lstStyle/>
              <a:p>
                <a:endParaRPr sz="2000">
                  <a:latin typeface="+mn-lt"/>
                </a:endParaRPr>
              </a:p>
            </p:txBody>
          </p:sp>
        </p:grpSp>
        <p:sp>
          <p:nvSpPr>
            <p:cNvPr id="10" name="object 10"/>
            <p:cNvSpPr txBox="1"/>
            <p:nvPr/>
          </p:nvSpPr>
          <p:spPr>
            <a:xfrm>
              <a:off x="4342612" y="2630487"/>
              <a:ext cx="2693035" cy="2736518"/>
            </a:xfrm>
            <a:prstGeom prst="rect">
              <a:avLst/>
            </a:prstGeom>
          </p:spPr>
          <p:txBody>
            <a:bodyPr vert="horz" wrap="square" lIns="0" tIns="1714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sz="2000" spc="-165" dirty="0">
                  <a:solidFill>
                    <a:srgbClr val="373737"/>
                  </a:solidFill>
                  <a:latin typeface="+mn-lt"/>
                  <a:cs typeface="Trebuchet MS"/>
                </a:rPr>
                <a:t>Sample</a:t>
              </a:r>
              <a:r>
                <a:rPr sz="2000" spc="-85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20" dirty="0">
                  <a:solidFill>
                    <a:srgbClr val="373737"/>
                  </a:solidFill>
                  <a:latin typeface="+mn-lt"/>
                  <a:cs typeface="Trebuchet MS"/>
                </a:rPr>
                <a:t>Highlights</a:t>
              </a:r>
              <a:endParaRPr sz="2000" dirty="0">
                <a:latin typeface="+mn-lt"/>
                <a:cs typeface="Trebuchet MS"/>
              </a:endParaRPr>
            </a:p>
            <a:p>
              <a:pPr marL="12700">
                <a:lnSpc>
                  <a:spcPct val="100000"/>
                </a:lnSpc>
                <a:spcBef>
                  <a:spcPts val="1395"/>
                </a:spcBef>
              </a:pPr>
              <a:r>
                <a:rPr sz="2000" spc="-204" dirty="0">
                  <a:solidFill>
                    <a:srgbClr val="373737"/>
                  </a:solidFill>
                  <a:latin typeface="+mn-lt"/>
                  <a:cs typeface="Trebuchet MS"/>
                </a:rPr>
                <a:t>Top</a:t>
              </a:r>
              <a:r>
                <a:rPr sz="2000" spc="-85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114" dirty="0">
                  <a:solidFill>
                    <a:srgbClr val="373737"/>
                  </a:solidFill>
                  <a:latin typeface="+mn-lt"/>
                  <a:cs typeface="Trebuchet MS"/>
                </a:rPr>
                <a:t>entries</a:t>
              </a:r>
              <a:r>
                <a:rPr sz="2000" spc="-80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175" dirty="0">
                  <a:solidFill>
                    <a:srgbClr val="373737"/>
                  </a:solidFill>
                  <a:latin typeface="+mn-lt"/>
                  <a:cs typeface="Trebuchet MS"/>
                </a:rPr>
                <a:t>include</a:t>
              </a:r>
              <a:r>
                <a:rPr sz="2000" spc="-80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135" dirty="0">
                  <a:solidFill>
                    <a:srgbClr val="373737"/>
                  </a:solidFill>
                  <a:latin typeface="+mn-lt"/>
                  <a:cs typeface="Trebuchet MS"/>
                </a:rPr>
                <a:t>Avatar</a:t>
              </a:r>
              <a:r>
                <a:rPr sz="2000" spc="-80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150" dirty="0">
                  <a:solidFill>
                    <a:srgbClr val="373737"/>
                  </a:solidFill>
                  <a:latin typeface="+mn-lt"/>
                  <a:cs typeface="Trebuchet MS"/>
                </a:rPr>
                <a:t>(budget</a:t>
              </a:r>
              <a:endParaRPr sz="2000" dirty="0">
                <a:latin typeface="+mn-lt"/>
                <a:cs typeface="Trebuchet MS"/>
              </a:endParaRPr>
            </a:p>
            <a:p>
              <a:pPr marL="12700">
                <a:lnSpc>
                  <a:spcPct val="100000"/>
                </a:lnSpc>
                <a:spcBef>
                  <a:spcPts val="720"/>
                </a:spcBef>
              </a:pPr>
              <a:r>
                <a:rPr sz="2000" spc="-10" dirty="0">
                  <a:solidFill>
                    <a:srgbClr val="373737"/>
                  </a:solidFill>
                  <a:latin typeface="+mn-lt"/>
                  <a:cs typeface="Trebuchet MS"/>
                </a:rPr>
                <a:t>$237M,</a:t>
              </a:r>
              <a:endParaRPr sz="2000" dirty="0">
                <a:latin typeface="+mn-lt"/>
                <a:cs typeface="Trebuchet MS"/>
              </a:endParaRPr>
            </a:p>
            <a:p>
              <a:pPr marL="12700" marR="44450">
                <a:lnSpc>
                  <a:spcPct val="136400"/>
                </a:lnSpc>
              </a:pPr>
              <a:r>
                <a:rPr sz="2000" spc="-145" dirty="0">
                  <a:solidFill>
                    <a:srgbClr val="373737"/>
                  </a:solidFill>
                  <a:latin typeface="+mn-lt"/>
                  <a:cs typeface="Trebuchet MS"/>
                </a:rPr>
                <a:t>Action/Adventure/Fantasy/Sci-</a:t>
              </a:r>
              <a:r>
                <a:rPr sz="2000" spc="-165" dirty="0">
                  <a:solidFill>
                    <a:srgbClr val="373737"/>
                  </a:solidFill>
                  <a:latin typeface="+mn-lt"/>
                  <a:cs typeface="Trebuchet MS"/>
                </a:rPr>
                <a:t>Fi, </a:t>
              </a:r>
              <a:r>
                <a:rPr sz="2000" spc="-105" dirty="0">
                  <a:solidFill>
                    <a:srgbClr val="373737"/>
                  </a:solidFill>
                  <a:latin typeface="+mn-lt"/>
                  <a:cs typeface="Trebuchet MS"/>
                </a:rPr>
                <a:t>rating</a:t>
              </a:r>
              <a:r>
                <a:rPr sz="2000" spc="-90" dirty="0">
                  <a:solidFill>
                    <a:srgbClr val="373737"/>
                  </a:solidFill>
                  <a:latin typeface="+mn-lt"/>
                  <a:cs typeface="Trebuchet MS"/>
                </a:rPr>
                <a:t> 7.2) </a:t>
              </a:r>
              <a:r>
                <a:rPr sz="2000" spc="-210" dirty="0">
                  <a:solidFill>
                    <a:srgbClr val="373737"/>
                  </a:solidFill>
                  <a:latin typeface="+mn-lt"/>
                  <a:cs typeface="Trebuchet MS"/>
                </a:rPr>
                <a:t>and</a:t>
              </a:r>
              <a:r>
                <a:rPr sz="2000" spc="-90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110" dirty="0">
                  <a:solidFill>
                    <a:srgbClr val="373737"/>
                  </a:solidFill>
                  <a:latin typeface="+mn-lt"/>
                  <a:cs typeface="Trebuchet MS"/>
                </a:rPr>
                <a:t>Pirates</a:t>
              </a:r>
              <a:r>
                <a:rPr sz="2000" spc="-90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114" dirty="0">
                  <a:solidFill>
                    <a:srgbClr val="373737"/>
                  </a:solidFill>
                  <a:latin typeface="+mn-lt"/>
                  <a:cs typeface="Trebuchet MS"/>
                </a:rPr>
                <a:t>of</a:t>
              </a:r>
              <a:r>
                <a:rPr sz="2000" spc="-90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25" dirty="0">
                  <a:solidFill>
                    <a:srgbClr val="373737"/>
                  </a:solidFill>
                  <a:latin typeface="+mn-lt"/>
                  <a:cs typeface="Trebuchet MS"/>
                </a:rPr>
                <a:t>the </a:t>
              </a:r>
              <a:r>
                <a:rPr sz="2000" spc="-165" dirty="0">
                  <a:solidFill>
                    <a:srgbClr val="373737"/>
                  </a:solidFill>
                  <a:latin typeface="+mn-lt"/>
                  <a:cs typeface="Trebuchet MS"/>
                </a:rPr>
                <a:t>Caribbean</a:t>
              </a:r>
              <a:r>
                <a:rPr sz="2000" spc="-50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10" dirty="0">
                  <a:solidFill>
                    <a:srgbClr val="373737"/>
                  </a:solidFill>
                  <a:latin typeface="+mn-lt"/>
                  <a:cs typeface="Trebuchet MS"/>
                </a:rPr>
                <a:t>sequels</a:t>
              </a:r>
              <a:endParaRPr sz="2000" dirty="0">
                <a:latin typeface="+mn-lt"/>
                <a:cs typeface="Trebuchet MS"/>
              </a:endParaRPr>
            </a:p>
          </p:txBody>
        </p:sp>
        <p:grpSp>
          <p:nvGrpSpPr>
            <p:cNvPr id="11" name="object 11"/>
            <p:cNvGrpSpPr/>
            <p:nvPr/>
          </p:nvGrpSpPr>
          <p:grpSpPr>
            <a:xfrm>
              <a:off x="7519987" y="2424112"/>
              <a:ext cx="3152775" cy="3519488"/>
              <a:chOff x="7519987" y="2424112"/>
              <a:chExt cx="3152775" cy="3519488"/>
            </a:xfrm>
          </p:grpSpPr>
          <p:sp>
            <p:nvSpPr>
              <p:cNvPr id="12" name="object 12"/>
              <p:cNvSpPr/>
              <p:nvPr/>
            </p:nvSpPr>
            <p:spPr>
              <a:xfrm>
                <a:off x="7519987" y="2424112"/>
                <a:ext cx="3152775" cy="3519488"/>
              </a:xfrm>
              <a:custGeom>
                <a:avLst/>
                <a:gdLst/>
                <a:ahLst/>
                <a:cxnLst/>
                <a:rect l="l" t="t" r="r" b="b"/>
                <a:pathLst>
                  <a:path w="3152775" h="2552700">
                    <a:moveTo>
                      <a:pt x="3087141" y="0"/>
                    </a:moveTo>
                    <a:lnTo>
                      <a:pt x="65633" y="0"/>
                    </a:lnTo>
                    <a:lnTo>
                      <a:pt x="61061" y="444"/>
                    </a:lnTo>
                    <a:lnTo>
                      <a:pt x="23837" y="17310"/>
                    </a:lnTo>
                    <a:lnTo>
                      <a:pt x="2247" y="52019"/>
                    </a:lnTo>
                    <a:lnTo>
                      <a:pt x="0" y="65633"/>
                    </a:lnTo>
                    <a:lnTo>
                      <a:pt x="0" y="2482456"/>
                    </a:lnTo>
                    <a:lnTo>
                      <a:pt x="0" y="2487066"/>
                    </a:lnTo>
                    <a:lnTo>
                      <a:pt x="14401" y="2525306"/>
                    </a:lnTo>
                    <a:lnTo>
                      <a:pt x="47625" y="2549118"/>
                    </a:lnTo>
                    <a:lnTo>
                      <a:pt x="65633" y="2552700"/>
                    </a:lnTo>
                    <a:lnTo>
                      <a:pt x="3087141" y="2552700"/>
                    </a:lnTo>
                    <a:lnTo>
                      <a:pt x="3125393" y="2538298"/>
                    </a:lnTo>
                    <a:lnTo>
                      <a:pt x="3149193" y="2505075"/>
                    </a:lnTo>
                    <a:lnTo>
                      <a:pt x="3152775" y="2487066"/>
                    </a:lnTo>
                    <a:lnTo>
                      <a:pt x="3152775" y="65633"/>
                    </a:lnTo>
                    <a:lnTo>
                      <a:pt x="3138373" y="27381"/>
                    </a:lnTo>
                    <a:lnTo>
                      <a:pt x="3105150" y="3581"/>
                    </a:lnTo>
                    <a:lnTo>
                      <a:pt x="3091700" y="444"/>
                    </a:lnTo>
                    <a:lnTo>
                      <a:pt x="3087141" y="0"/>
                    </a:lnTo>
                    <a:close/>
                  </a:path>
                </a:pathLst>
              </a:custGeom>
              <a:solidFill>
                <a:srgbClr val="E6E6E6"/>
              </a:solidFill>
            </p:spPr>
            <p:txBody>
              <a:bodyPr wrap="square" lIns="0" tIns="0" rIns="0" bIns="0" rtlCol="0"/>
              <a:lstStyle/>
              <a:p>
                <a:endParaRPr sz="2000">
                  <a:latin typeface="+mn-lt"/>
                </a:endParaRPr>
              </a:p>
            </p:txBody>
          </p:sp>
          <p:sp>
            <p:nvSpPr>
              <p:cNvPr id="13" name="object 13"/>
              <p:cNvSpPr/>
              <p:nvPr/>
            </p:nvSpPr>
            <p:spPr>
              <a:xfrm>
                <a:off x="7519987" y="2424112"/>
                <a:ext cx="3152775" cy="2552700"/>
              </a:xfrm>
              <a:custGeom>
                <a:avLst/>
                <a:gdLst/>
                <a:ahLst/>
                <a:cxnLst/>
                <a:rect l="l" t="t" r="r" b="b"/>
                <a:pathLst>
                  <a:path w="3152775" h="2552700">
                    <a:moveTo>
                      <a:pt x="0" y="2482456"/>
                    </a:moveTo>
                    <a:lnTo>
                      <a:pt x="0" y="70243"/>
                    </a:lnTo>
                    <a:lnTo>
                      <a:pt x="0" y="65633"/>
                    </a:lnTo>
                    <a:lnTo>
                      <a:pt x="457" y="61061"/>
                    </a:lnTo>
                    <a:lnTo>
                      <a:pt x="1346" y="56540"/>
                    </a:lnTo>
                    <a:lnTo>
                      <a:pt x="2247" y="52019"/>
                    </a:lnTo>
                    <a:lnTo>
                      <a:pt x="3581" y="47625"/>
                    </a:lnTo>
                    <a:lnTo>
                      <a:pt x="5346" y="43370"/>
                    </a:lnTo>
                    <a:lnTo>
                      <a:pt x="7112" y="39103"/>
                    </a:lnTo>
                    <a:lnTo>
                      <a:pt x="35052" y="9271"/>
                    </a:lnTo>
                    <a:lnTo>
                      <a:pt x="65633" y="0"/>
                    </a:lnTo>
                    <a:lnTo>
                      <a:pt x="70243" y="0"/>
                    </a:lnTo>
                    <a:lnTo>
                      <a:pt x="3082531" y="0"/>
                    </a:lnTo>
                    <a:lnTo>
                      <a:pt x="3087141" y="0"/>
                    </a:lnTo>
                    <a:lnTo>
                      <a:pt x="3091700" y="444"/>
                    </a:lnTo>
                    <a:lnTo>
                      <a:pt x="3128937" y="17310"/>
                    </a:lnTo>
                    <a:lnTo>
                      <a:pt x="3132201" y="20574"/>
                    </a:lnTo>
                    <a:lnTo>
                      <a:pt x="3135464" y="23837"/>
                    </a:lnTo>
                    <a:lnTo>
                      <a:pt x="3147428" y="43370"/>
                    </a:lnTo>
                    <a:lnTo>
                      <a:pt x="3149193" y="47625"/>
                    </a:lnTo>
                    <a:lnTo>
                      <a:pt x="3150527" y="52019"/>
                    </a:lnTo>
                    <a:lnTo>
                      <a:pt x="3151428" y="56540"/>
                    </a:lnTo>
                    <a:lnTo>
                      <a:pt x="3152317" y="61061"/>
                    </a:lnTo>
                    <a:lnTo>
                      <a:pt x="3152775" y="65633"/>
                    </a:lnTo>
                    <a:lnTo>
                      <a:pt x="3152775" y="70243"/>
                    </a:lnTo>
                    <a:lnTo>
                      <a:pt x="3152775" y="2482456"/>
                    </a:lnTo>
                    <a:lnTo>
                      <a:pt x="3152775" y="2487066"/>
                    </a:lnTo>
                    <a:lnTo>
                      <a:pt x="3152317" y="2491625"/>
                    </a:lnTo>
                    <a:lnTo>
                      <a:pt x="3151428" y="2496159"/>
                    </a:lnTo>
                    <a:lnTo>
                      <a:pt x="3150527" y="2500680"/>
                    </a:lnTo>
                    <a:lnTo>
                      <a:pt x="3149193" y="2505075"/>
                    </a:lnTo>
                    <a:lnTo>
                      <a:pt x="3147428" y="2509329"/>
                    </a:lnTo>
                    <a:lnTo>
                      <a:pt x="3145663" y="2513596"/>
                    </a:lnTo>
                    <a:lnTo>
                      <a:pt x="3143504" y="2517648"/>
                    </a:lnTo>
                    <a:lnTo>
                      <a:pt x="3140938" y="2521470"/>
                    </a:lnTo>
                    <a:lnTo>
                      <a:pt x="3138373" y="2525306"/>
                    </a:lnTo>
                    <a:lnTo>
                      <a:pt x="3135464" y="2528862"/>
                    </a:lnTo>
                    <a:lnTo>
                      <a:pt x="3132201" y="2532126"/>
                    </a:lnTo>
                    <a:lnTo>
                      <a:pt x="3128937" y="2535389"/>
                    </a:lnTo>
                    <a:lnTo>
                      <a:pt x="3091700" y="2552255"/>
                    </a:lnTo>
                    <a:lnTo>
                      <a:pt x="3087141" y="2552700"/>
                    </a:lnTo>
                    <a:lnTo>
                      <a:pt x="3082531" y="2552700"/>
                    </a:lnTo>
                    <a:lnTo>
                      <a:pt x="70243" y="2552700"/>
                    </a:lnTo>
                    <a:lnTo>
                      <a:pt x="65633" y="2552700"/>
                    </a:lnTo>
                    <a:lnTo>
                      <a:pt x="61061" y="2552255"/>
                    </a:lnTo>
                    <a:lnTo>
                      <a:pt x="56540" y="2551353"/>
                    </a:lnTo>
                    <a:lnTo>
                      <a:pt x="52019" y="2550452"/>
                    </a:lnTo>
                    <a:lnTo>
                      <a:pt x="17310" y="2528862"/>
                    </a:lnTo>
                    <a:lnTo>
                      <a:pt x="11836" y="2521470"/>
                    </a:lnTo>
                    <a:lnTo>
                      <a:pt x="9271" y="2517648"/>
                    </a:lnTo>
                    <a:lnTo>
                      <a:pt x="7112" y="2513596"/>
                    </a:lnTo>
                    <a:lnTo>
                      <a:pt x="5346" y="2509329"/>
                    </a:lnTo>
                    <a:lnTo>
                      <a:pt x="3581" y="2505075"/>
                    </a:lnTo>
                    <a:lnTo>
                      <a:pt x="2247" y="2500680"/>
                    </a:lnTo>
                    <a:lnTo>
                      <a:pt x="1346" y="2496159"/>
                    </a:lnTo>
                    <a:lnTo>
                      <a:pt x="457" y="2491625"/>
                    </a:lnTo>
                    <a:lnTo>
                      <a:pt x="0" y="2487066"/>
                    </a:lnTo>
                    <a:lnTo>
                      <a:pt x="0" y="2482456"/>
                    </a:lnTo>
                    <a:close/>
                  </a:path>
                </a:pathLst>
              </a:custGeom>
              <a:ln w="9525">
                <a:solidFill>
                  <a:srgbClr val="CCCCCC"/>
                </a:solidFill>
              </a:ln>
            </p:spPr>
            <p:txBody>
              <a:bodyPr wrap="square" lIns="0" tIns="0" rIns="0" bIns="0" rtlCol="0"/>
              <a:lstStyle/>
              <a:p>
                <a:endParaRPr sz="2000">
                  <a:latin typeface="+mn-lt"/>
                </a:endParaRPr>
              </a:p>
            </p:txBody>
          </p:sp>
        </p:grpSp>
        <p:sp>
          <p:nvSpPr>
            <p:cNvPr id="14" name="object 14"/>
            <p:cNvSpPr txBox="1"/>
            <p:nvPr/>
          </p:nvSpPr>
          <p:spPr>
            <a:xfrm>
              <a:off x="7723987" y="2630487"/>
              <a:ext cx="2562225" cy="2470805"/>
            </a:xfrm>
            <a:prstGeom prst="rect">
              <a:avLst/>
            </a:prstGeom>
          </p:spPr>
          <p:txBody>
            <a:bodyPr vert="horz" wrap="square" lIns="0" tIns="1714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sz="2000" spc="-180" dirty="0">
                  <a:solidFill>
                    <a:srgbClr val="373737"/>
                  </a:solidFill>
                  <a:latin typeface="+mn-lt"/>
                  <a:cs typeface="Trebuchet MS"/>
                </a:rPr>
                <a:t>Data</a:t>
              </a:r>
              <a:r>
                <a:rPr sz="2000" spc="-105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10" dirty="0">
                  <a:solidFill>
                    <a:srgbClr val="373737"/>
                  </a:solidFill>
                  <a:latin typeface="+mn-lt"/>
                  <a:cs typeface="Trebuchet MS"/>
                </a:rPr>
                <a:t>Types</a:t>
              </a:r>
              <a:endParaRPr sz="2000">
                <a:latin typeface="+mn-lt"/>
                <a:cs typeface="Trebuchet MS"/>
              </a:endParaRPr>
            </a:p>
            <a:p>
              <a:pPr marL="12700" marR="5080">
                <a:lnSpc>
                  <a:spcPct val="136400"/>
                </a:lnSpc>
                <a:spcBef>
                  <a:spcPts val="675"/>
                </a:spcBef>
              </a:pPr>
              <a:r>
                <a:rPr sz="2000" spc="-150" dirty="0">
                  <a:solidFill>
                    <a:srgbClr val="373737"/>
                  </a:solidFill>
                  <a:latin typeface="+mn-lt"/>
                  <a:cs typeface="Trebuchet MS"/>
                </a:rPr>
                <a:t>Textual</a:t>
              </a:r>
              <a:r>
                <a:rPr sz="2000" spc="-60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130" dirty="0">
                  <a:solidFill>
                    <a:srgbClr val="373737"/>
                  </a:solidFill>
                  <a:latin typeface="+mn-lt"/>
                  <a:cs typeface="Trebuchet MS"/>
                </a:rPr>
                <a:t>features</a:t>
              </a:r>
              <a:r>
                <a:rPr sz="2000" spc="-60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10" dirty="0">
                  <a:solidFill>
                    <a:srgbClr val="373737"/>
                  </a:solidFill>
                  <a:latin typeface="+mn-lt"/>
                  <a:cs typeface="Trebuchet MS"/>
                </a:rPr>
                <a:t>(genres, </a:t>
              </a:r>
              <a:r>
                <a:rPr sz="2000" spc="-190" dirty="0">
                  <a:solidFill>
                    <a:srgbClr val="373737"/>
                  </a:solidFill>
                  <a:latin typeface="+mn-lt"/>
                  <a:cs typeface="Trebuchet MS"/>
                </a:rPr>
                <a:t>keywords,</a:t>
              </a:r>
              <a:r>
                <a:rPr sz="2000" spc="-50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114" dirty="0">
                  <a:solidFill>
                    <a:srgbClr val="373737"/>
                  </a:solidFill>
                  <a:latin typeface="+mn-lt"/>
                  <a:cs typeface="Trebuchet MS"/>
                </a:rPr>
                <a:t>tagline)</a:t>
              </a:r>
              <a:r>
                <a:rPr sz="2000" spc="-50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204" dirty="0">
                  <a:solidFill>
                    <a:srgbClr val="373737"/>
                  </a:solidFill>
                  <a:latin typeface="+mn-lt"/>
                  <a:cs typeface="Trebuchet MS"/>
                </a:rPr>
                <a:t>combined</a:t>
              </a:r>
              <a:r>
                <a:rPr sz="2000" spc="-50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204" dirty="0">
                  <a:solidFill>
                    <a:srgbClr val="373737"/>
                  </a:solidFill>
                  <a:latin typeface="+mn-lt"/>
                  <a:cs typeface="Trebuchet MS"/>
                </a:rPr>
                <a:t>with </a:t>
              </a:r>
              <a:r>
                <a:rPr sz="2000" spc="-155" dirty="0">
                  <a:solidFill>
                    <a:srgbClr val="373737"/>
                  </a:solidFill>
                  <a:latin typeface="+mn-lt"/>
                  <a:cs typeface="Trebuchet MS"/>
                </a:rPr>
                <a:t>numerical</a:t>
              </a:r>
              <a:r>
                <a:rPr sz="2000" spc="-50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130" dirty="0">
                  <a:solidFill>
                    <a:srgbClr val="373737"/>
                  </a:solidFill>
                  <a:latin typeface="+mn-lt"/>
                  <a:cs typeface="Trebuchet MS"/>
                </a:rPr>
                <a:t>attributes</a:t>
              </a:r>
              <a:r>
                <a:rPr sz="2000" spc="-45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55" dirty="0">
                  <a:solidFill>
                    <a:srgbClr val="373737"/>
                  </a:solidFill>
                  <a:latin typeface="+mn-lt"/>
                  <a:cs typeface="Trebuchet MS"/>
                </a:rPr>
                <a:t>(budget, </a:t>
              </a:r>
              <a:r>
                <a:rPr sz="2000" spc="-85" dirty="0">
                  <a:solidFill>
                    <a:srgbClr val="373737"/>
                  </a:solidFill>
                  <a:latin typeface="+mn-lt"/>
                  <a:cs typeface="Trebuchet MS"/>
                </a:rPr>
                <a:t>ratings)</a:t>
              </a:r>
              <a:r>
                <a:rPr sz="2000" spc="-75" dirty="0">
                  <a:solidFill>
                    <a:srgbClr val="373737"/>
                  </a:solidFill>
                  <a:latin typeface="+mn-lt"/>
                  <a:cs typeface="Trebuchet MS"/>
                </a:rPr>
                <a:t> for </a:t>
              </a:r>
              <a:r>
                <a:rPr sz="2000" spc="-85" dirty="0">
                  <a:solidFill>
                    <a:srgbClr val="373737"/>
                  </a:solidFill>
                  <a:latin typeface="+mn-lt"/>
                  <a:cs typeface="Trebuchet MS"/>
                </a:rPr>
                <a:t>comprehensive </a:t>
              </a:r>
              <a:r>
                <a:rPr sz="2000" spc="-10" dirty="0">
                  <a:solidFill>
                    <a:srgbClr val="373737"/>
                  </a:solidFill>
                  <a:latin typeface="+mn-lt"/>
                  <a:cs typeface="Trebuchet MS"/>
                </a:rPr>
                <a:t>analysis</a:t>
              </a:r>
              <a:endParaRPr sz="2000">
                <a:latin typeface="+mn-lt"/>
                <a:cs typeface="Trebuchet MS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47623"/>
            <a:ext cx="4682766" cy="903922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638800" y="3038476"/>
            <a:ext cx="1743075" cy="295275"/>
          </a:xfrm>
          <a:custGeom>
            <a:avLst/>
            <a:gdLst/>
            <a:ahLst/>
            <a:cxnLst/>
            <a:rect l="l" t="t" r="r" b="b"/>
            <a:pathLst>
              <a:path w="1743075" h="295275">
                <a:moveTo>
                  <a:pt x="1719834" y="0"/>
                </a:moveTo>
                <a:lnTo>
                  <a:pt x="23241" y="0"/>
                </a:lnTo>
                <a:lnTo>
                  <a:pt x="19824" y="685"/>
                </a:lnTo>
                <a:lnTo>
                  <a:pt x="0" y="23241"/>
                </a:lnTo>
                <a:lnTo>
                  <a:pt x="0" y="268490"/>
                </a:lnTo>
                <a:lnTo>
                  <a:pt x="0" y="272034"/>
                </a:lnTo>
                <a:lnTo>
                  <a:pt x="23241" y="295275"/>
                </a:lnTo>
                <a:lnTo>
                  <a:pt x="1719834" y="295275"/>
                </a:lnTo>
                <a:lnTo>
                  <a:pt x="1743075" y="272034"/>
                </a:lnTo>
                <a:lnTo>
                  <a:pt x="1743075" y="23241"/>
                </a:lnTo>
                <a:lnTo>
                  <a:pt x="1723250" y="685"/>
                </a:lnTo>
                <a:lnTo>
                  <a:pt x="1719834" y="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658225" y="3038476"/>
            <a:ext cx="695325" cy="295275"/>
          </a:xfrm>
          <a:custGeom>
            <a:avLst/>
            <a:gdLst/>
            <a:ahLst/>
            <a:cxnLst/>
            <a:rect l="l" t="t" r="r" b="b"/>
            <a:pathLst>
              <a:path w="695325" h="295275">
                <a:moveTo>
                  <a:pt x="672084" y="0"/>
                </a:moveTo>
                <a:lnTo>
                  <a:pt x="23241" y="0"/>
                </a:lnTo>
                <a:lnTo>
                  <a:pt x="19824" y="685"/>
                </a:lnTo>
                <a:lnTo>
                  <a:pt x="0" y="23241"/>
                </a:lnTo>
                <a:lnTo>
                  <a:pt x="0" y="268490"/>
                </a:lnTo>
                <a:lnTo>
                  <a:pt x="0" y="272034"/>
                </a:lnTo>
                <a:lnTo>
                  <a:pt x="23241" y="295275"/>
                </a:lnTo>
                <a:lnTo>
                  <a:pt x="672084" y="295275"/>
                </a:lnTo>
                <a:lnTo>
                  <a:pt x="695325" y="272034"/>
                </a:lnTo>
                <a:lnTo>
                  <a:pt x="695325" y="23241"/>
                </a:lnTo>
                <a:lnTo>
                  <a:pt x="675500" y="685"/>
                </a:lnTo>
                <a:lnTo>
                  <a:pt x="672084" y="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429750" y="3038476"/>
            <a:ext cx="971550" cy="295275"/>
          </a:xfrm>
          <a:custGeom>
            <a:avLst/>
            <a:gdLst/>
            <a:ahLst/>
            <a:cxnLst/>
            <a:rect l="l" t="t" r="r" b="b"/>
            <a:pathLst>
              <a:path w="971550" h="295275">
                <a:moveTo>
                  <a:pt x="948309" y="0"/>
                </a:moveTo>
                <a:lnTo>
                  <a:pt x="23241" y="0"/>
                </a:lnTo>
                <a:lnTo>
                  <a:pt x="19824" y="685"/>
                </a:lnTo>
                <a:lnTo>
                  <a:pt x="0" y="23241"/>
                </a:lnTo>
                <a:lnTo>
                  <a:pt x="0" y="268490"/>
                </a:lnTo>
                <a:lnTo>
                  <a:pt x="0" y="272034"/>
                </a:lnTo>
                <a:lnTo>
                  <a:pt x="23241" y="295275"/>
                </a:lnTo>
                <a:lnTo>
                  <a:pt x="948309" y="295275"/>
                </a:lnTo>
                <a:lnTo>
                  <a:pt x="971550" y="272034"/>
                </a:lnTo>
                <a:lnTo>
                  <a:pt x="971550" y="23241"/>
                </a:lnTo>
                <a:lnTo>
                  <a:pt x="951725" y="685"/>
                </a:lnTo>
                <a:lnTo>
                  <a:pt x="948309" y="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953375" y="3381376"/>
            <a:ext cx="695325" cy="295275"/>
          </a:xfrm>
          <a:custGeom>
            <a:avLst/>
            <a:gdLst/>
            <a:ahLst/>
            <a:cxnLst/>
            <a:rect l="l" t="t" r="r" b="b"/>
            <a:pathLst>
              <a:path w="695325" h="295275">
                <a:moveTo>
                  <a:pt x="672084" y="0"/>
                </a:moveTo>
                <a:lnTo>
                  <a:pt x="23241" y="0"/>
                </a:lnTo>
                <a:lnTo>
                  <a:pt x="19824" y="685"/>
                </a:lnTo>
                <a:lnTo>
                  <a:pt x="0" y="23241"/>
                </a:lnTo>
                <a:lnTo>
                  <a:pt x="0" y="268490"/>
                </a:lnTo>
                <a:lnTo>
                  <a:pt x="0" y="272034"/>
                </a:lnTo>
                <a:lnTo>
                  <a:pt x="23241" y="295275"/>
                </a:lnTo>
                <a:lnTo>
                  <a:pt x="672084" y="295275"/>
                </a:lnTo>
                <a:lnTo>
                  <a:pt x="695325" y="272034"/>
                </a:lnTo>
                <a:lnTo>
                  <a:pt x="695325" y="23241"/>
                </a:lnTo>
                <a:lnTo>
                  <a:pt x="675500" y="685"/>
                </a:lnTo>
                <a:lnTo>
                  <a:pt x="672084" y="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715375" y="3381376"/>
            <a:ext cx="428625" cy="295275"/>
          </a:xfrm>
          <a:custGeom>
            <a:avLst/>
            <a:gdLst/>
            <a:ahLst/>
            <a:cxnLst/>
            <a:rect l="l" t="t" r="r" b="b"/>
            <a:pathLst>
              <a:path w="428625" h="295275">
                <a:moveTo>
                  <a:pt x="405384" y="0"/>
                </a:moveTo>
                <a:lnTo>
                  <a:pt x="23241" y="0"/>
                </a:lnTo>
                <a:lnTo>
                  <a:pt x="19824" y="685"/>
                </a:lnTo>
                <a:lnTo>
                  <a:pt x="0" y="23241"/>
                </a:lnTo>
                <a:lnTo>
                  <a:pt x="0" y="268490"/>
                </a:lnTo>
                <a:lnTo>
                  <a:pt x="0" y="272034"/>
                </a:lnTo>
                <a:lnTo>
                  <a:pt x="23241" y="295275"/>
                </a:lnTo>
                <a:lnTo>
                  <a:pt x="405384" y="295275"/>
                </a:lnTo>
                <a:lnTo>
                  <a:pt x="428625" y="272034"/>
                </a:lnTo>
                <a:lnTo>
                  <a:pt x="428625" y="23241"/>
                </a:lnTo>
                <a:lnTo>
                  <a:pt x="408800" y="685"/>
                </a:lnTo>
                <a:lnTo>
                  <a:pt x="405384" y="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525000" y="3381376"/>
            <a:ext cx="809625" cy="295275"/>
          </a:xfrm>
          <a:custGeom>
            <a:avLst/>
            <a:gdLst/>
            <a:ahLst/>
            <a:cxnLst/>
            <a:rect l="l" t="t" r="r" b="b"/>
            <a:pathLst>
              <a:path w="809625" h="295275">
                <a:moveTo>
                  <a:pt x="786384" y="0"/>
                </a:moveTo>
                <a:lnTo>
                  <a:pt x="23241" y="0"/>
                </a:lnTo>
                <a:lnTo>
                  <a:pt x="19824" y="685"/>
                </a:lnTo>
                <a:lnTo>
                  <a:pt x="0" y="23241"/>
                </a:lnTo>
                <a:lnTo>
                  <a:pt x="0" y="268490"/>
                </a:lnTo>
                <a:lnTo>
                  <a:pt x="0" y="272034"/>
                </a:lnTo>
                <a:lnTo>
                  <a:pt x="23241" y="295275"/>
                </a:lnTo>
                <a:lnTo>
                  <a:pt x="786384" y="295275"/>
                </a:lnTo>
                <a:lnTo>
                  <a:pt x="809625" y="272034"/>
                </a:lnTo>
                <a:lnTo>
                  <a:pt x="809625" y="23241"/>
                </a:lnTo>
                <a:lnTo>
                  <a:pt x="789800" y="685"/>
                </a:lnTo>
                <a:lnTo>
                  <a:pt x="786384" y="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>
              <a:latin typeface="+mn-lt"/>
              <a:cs typeface="Times New Roman" panose="02020603050405020304" pitchFamily="18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4C887D3-B7BF-7427-2E4C-6C2905B6008A}"/>
              </a:ext>
            </a:extLst>
          </p:cNvPr>
          <p:cNvGrpSpPr/>
          <p:nvPr/>
        </p:nvGrpSpPr>
        <p:grpSpPr>
          <a:xfrm>
            <a:off x="5118182" y="2092324"/>
            <a:ext cx="5670386" cy="3168654"/>
            <a:chOff x="4919782" y="1368567"/>
            <a:chExt cx="5670386" cy="3168654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E18AAC91-787A-04BB-73FE-8B4E855632A9}"/>
                </a:ext>
              </a:extLst>
            </p:cNvPr>
            <p:cNvGrpSpPr/>
            <p:nvPr/>
          </p:nvGrpSpPr>
          <p:grpSpPr>
            <a:xfrm>
              <a:off x="4919782" y="1368567"/>
              <a:ext cx="5670386" cy="2834755"/>
              <a:chOff x="5023649" y="2014772"/>
              <a:chExt cx="5670386" cy="2834755"/>
            </a:xfrm>
          </p:grpSpPr>
          <p:sp>
            <p:nvSpPr>
              <p:cNvPr id="4" name="object 4"/>
              <p:cNvSpPr/>
              <p:nvPr/>
            </p:nvSpPr>
            <p:spPr>
              <a:xfrm>
                <a:off x="5038725" y="2457451"/>
                <a:ext cx="271462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2714625" h="28575">
                    <a:moveTo>
                      <a:pt x="2714625" y="0"/>
                    </a:moveTo>
                    <a:lnTo>
                      <a:pt x="0" y="0"/>
                    </a:lnTo>
                    <a:lnTo>
                      <a:pt x="0" y="28575"/>
                    </a:lnTo>
                    <a:lnTo>
                      <a:pt x="2714625" y="28575"/>
                    </a:lnTo>
                    <a:lnTo>
                      <a:pt x="2714625" y="0"/>
                    </a:lnTo>
                    <a:close/>
                  </a:path>
                </a:pathLst>
              </a:custGeom>
              <a:solidFill>
                <a:srgbClr val="CCCCCC"/>
              </a:solidFill>
            </p:spPr>
            <p:txBody>
              <a:bodyPr wrap="square" lIns="0" tIns="0" rIns="0" bIns="0" rtlCol="0"/>
              <a:lstStyle/>
              <a:p>
                <a:endParaRPr sz="2000">
                  <a:latin typeface="+mn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6" name="object 6"/>
              <p:cNvSpPr txBox="1"/>
              <p:nvPr/>
            </p:nvSpPr>
            <p:spPr>
              <a:xfrm>
                <a:off x="5023649" y="2784475"/>
                <a:ext cx="2588260" cy="2065052"/>
              </a:xfrm>
              <a:prstGeom prst="rect">
                <a:avLst/>
              </a:prstGeom>
            </p:spPr>
            <p:txBody>
              <a:bodyPr vert="horz" wrap="square" lIns="0" tIns="17145" rIns="0" bIns="0" rtlCol="0">
                <a:spAutoFit/>
              </a:bodyPr>
              <a:lstStyle/>
              <a:p>
                <a:pPr marL="12700" algn="just">
                  <a:lnSpc>
                    <a:spcPct val="100000"/>
                  </a:lnSpc>
                  <a:spcBef>
                    <a:spcPts val="135"/>
                  </a:spcBef>
                </a:pPr>
                <a:r>
                  <a:rPr sz="2000" spc="-210" dirty="0">
                    <a:solidFill>
                      <a:srgbClr val="373737"/>
                    </a:solidFill>
                    <a:latin typeface="+mn-lt"/>
                    <a:cs typeface="Times New Roman" panose="02020603050405020304" pitchFamily="18" charset="0"/>
                  </a:rPr>
                  <a:t>Remove</a:t>
                </a:r>
                <a:r>
                  <a:rPr sz="2000" spc="-80" dirty="0">
                    <a:solidFill>
                      <a:srgbClr val="373737"/>
                    </a:solidFill>
                    <a:latin typeface="+mn-lt"/>
                    <a:cs typeface="Times New Roman" panose="02020603050405020304" pitchFamily="18" charset="0"/>
                  </a:rPr>
                  <a:t> </a:t>
                </a:r>
                <a:r>
                  <a:rPr sz="2000" spc="-55" dirty="0">
                    <a:solidFill>
                      <a:srgbClr val="373737"/>
                    </a:solidFill>
                    <a:latin typeface="+mn-lt"/>
                    <a:cs typeface="Times New Roman" panose="02020603050405020304" pitchFamily="18" charset="0"/>
                  </a:rPr>
                  <a:t>Duplicates</a:t>
                </a:r>
                <a:endParaRPr sz="2000" dirty="0">
                  <a:latin typeface="+mn-lt"/>
                  <a:cs typeface="Times New Roman" panose="02020603050405020304" pitchFamily="18" charset="0"/>
                </a:endParaRPr>
              </a:p>
              <a:p>
                <a:pPr marL="12700" marR="5080" algn="just">
                  <a:lnSpc>
                    <a:spcPct val="136400"/>
                  </a:lnSpc>
                  <a:spcBef>
                    <a:spcPts val="750"/>
                  </a:spcBef>
                </a:pPr>
                <a:r>
                  <a:rPr sz="2000" spc="-204" dirty="0">
                    <a:solidFill>
                      <a:srgbClr val="373737"/>
                    </a:solidFill>
                    <a:latin typeface="+mn-lt"/>
                    <a:cs typeface="Times New Roman" panose="02020603050405020304" pitchFamily="18" charset="0"/>
                  </a:rPr>
                  <a:t>Applied</a:t>
                </a:r>
                <a:r>
                  <a:rPr sz="2000" spc="80" dirty="0">
                    <a:solidFill>
                      <a:srgbClr val="373737"/>
                    </a:solidFill>
                    <a:latin typeface="+mn-lt"/>
                    <a:cs typeface="Times New Roman" panose="02020603050405020304" pitchFamily="18" charset="0"/>
                  </a:rPr>
                  <a:t> </a:t>
                </a:r>
                <a:r>
                  <a:rPr sz="2000" spc="-25" dirty="0">
                    <a:solidFill>
                      <a:srgbClr val="373737"/>
                    </a:solidFill>
                    <a:latin typeface="+mn-lt"/>
                    <a:cs typeface="Times New Roman" panose="02020603050405020304" pitchFamily="18" charset="0"/>
                  </a:rPr>
                  <a:t>drop_duplicates()</a:t>
                </a:r>
                <a:r>
                  <a:rPr sz="2000" spc="-10" dirty="0">
                    <a:solidFill>
                      <a:srgbClr val="373737"/>
                    </a:solidFill>
                    <a:latin typeface="+mn-lt"/>
                    <a:cs typeface="Times New Roman" panose="02020603050405020304" pitchFamily="18" charset="0"/>
                  </a:rPr>
                  <a:t> </a:t>
                </a:r>
                <a:r>
                  <a:rPr sz="2000" spc="-55" dirty="0">
                    <a:solidFill>
                      <a:srgbClr val="373737"/>
                    </a:solidFill>
                    <a:latin typeface="+mn-lt"/>
                    <a:cs typeface="Times New Roman" panose="02020603050405020304" pitchFamily="18" charset="0"/>
                  </a:rPr>
                  <a:t>to </a:t>
                </a:r>
                <a:r>
                  <a:rPr sz="2000" spc="-165" dirty="0">
                    <a:solidFill>
                      <a:srgbClr val="373737"/>
                    </a:solidFill>
                    <a:latin typeface="+mn-lt"/>
                    <a:cs typeface="Times New Roman" panose="02020603050405020304" pitchFamily="18" charset="0"/>
                  </a:rPr>
                  <a:t>ensure</a:t>
                </a:r>
                <a:r>
                  <a:rPr sz="2000" spc="40" dirty="0">
                    <a:solidFill>
                      <a:srgbClr val="373737"/>
                    </a:solidFill>
                    <a:latin typeface="+mn-lt"/>
                    <a:cs typeface="Times New Roman" panose="02020603050405020304" pitchFamily="18" charset="0"/>
                  </a:rPr>
                  <a:t> </a:t>
                </a:r>
                <a:r>
                  <a:rPr sz="2000" spc="-220" dirty="0">
                    <a:solidFill>
                      <a:srgbClr val="373737"/>
                    </a:solidFill>
                    <a:latin typeface="+mn-lt"/>
                    <a:cs typeface="Times New Roman" panose="02020603050405020304" pitchFamily="18" charset="0"/>
                  </a:rPr>
                  <a:t>unique</a:t>
                </a:r>
                <a:r>
                  <a:rPr sz="2000" spc="95" dirty="0">
                    <a:solidFill>
                      <a:srgbClr val="373737"/>
                    </a:solidFill>
                    <a:latin typeface="+mn-lt"/>
                    <a:cs typeface="Times New Roman" panose="02020603050405020304" pitchFamily="18" charset="0"/>
                  </a:rPr>
                  <a:t> </a:t>
                </a:r>
                <a:r>
                  <a:rPr sz="2000" spc="-235" dirty="0">
                    <a:solidFill>
                      <a:srgbClr val="373737"/>
                    </a:solidFill>
                    <a:latin typeface="+mn-lt"/>
                    <a:cs typeface="Times New Roman" panose="02020603050405020304" pitchFamily="18" charset="0"/>
                  </a:rPr>
                  <a:t>movie</a:t>
                </a:r>
                <a:r>
                  <a:rPr sz="2000" spc="110" dirty="0">
                    <a:solidFill>
                      <a:srgbClr val="373737"/>
                    </a:solidFill>
                    <a:latin typeface="+mn-lt"/>
                    <a:cs typeface="Times New Roman" panose="02020603050405020304" pitchFamily="18" charset="0"/>
                  </a:rPr>
                  <a:t> </a:t>
                </a:r>
                <a:r>
                  <a:rPr sz="2000" spc="-130" dirty="0">
                    <a:solidFill>
                      <a:srgbClr val="373737"/>
                    </a:solidFill>
                    <a:latin typeface="+mn-lt"/>
                    <a:cs typeface="Times New Roman" panose="02020603050405020304" pitchFamily="18" charset="0"/>
                  </a:rPr>
                  <a:t>entries</a:t>
                </a:r>
                <a:r>
                  <a:rPr sz="2000" spc="70" dirty="0">
                    <a:solidFill>
                      <a:srgbClr val="373737"/>
                    </a:solidFill>
                    <a:latin typeface="+mn-lt"/>
                    <a:cs typeface="Times New Roman" panose="02020603050405020304" pitchFamily="18" charset="0"/>
                  </a:rPr>
                  <a:t> </a:t>
                </a:r>
                <a:r>
                  <a:rPr sz="2000" spc="-25" dirty="0">
                    <a:solidFill>
                      <a:srgbClr val="373737"/>
                    </a:solidFill>
                    <a:latin typeface="+mn-lt"/>
                    <a:cs typeface="Times New Roman" panose="02020603050405020304" pitchFamily="18" charset="0"/>
                  </a:rPr>
                  <a:t>and </a:t>
                </a:r>
                <a:r>
                  <a:rPr sz="2000" spc="-155" dirty="0">
                    <a:solidFill>
                      <a:srgbClr val="373737"/>
                    </a:solidFill>
                    <a:latin typeface="+mn-lt"/>
                    <a:cs typeface="Times New Roman" panose="02020603050405020304" pitchFamily="18" charset="0"/>
                  </a:rPr>
                  <a:t>prevent</a:t>
                </a:r>
                <a:r>
                  <a:rPr sz="2000" spc="-85" dirty="0">
                    <a:solidFill>
                      <a:srgbClr val="373737"/>
                    </a:solidFill>
                    <a:latin typeface="+mn-lt"/>
                    <a:cs typeface="Times New Roman" panose="02020603050405020304" pitchFamily="18" charset="0"/>
                  </a:rPr>
                  <a:t> </a:t>
                </a:r>
                <a:r>
                  <a:rPr sz="2000" spc="-145" dirty="0">
                    <a:solidFill>
                      <a:srgbClr val="373737"/>
                    </a:solidFill>
                    <a:latin typeface="+mn-lt"/>
                    <a:cs typeface="Times New Roman" panose="02020603050405020304" pitchFamily="18" charset="0"/>
                  </a:rPr>
                  <a:t>bias</a:t>
                </a:r>
                <a:r>
                  <a:rPr sz="2000" spc="-85" dirty="0">
                    <a:solidFill>
                      <a:srgbClr val="373737"/>
                    </a:solidFill>
                    <a:latin typeface="+mn-lt"/>
                    <a:cs typeface="Times New Roman" panose="02020603050405020304" pitchFamily="18" charset="0"/>
                  </a:rPr>
                  <a:t> </a:t>
                </a:r>
                <a:r>
                  <a:rPr sz="2000" spc="-125" dirty="0">
                    <a:solidFill>
                      <a:srgbClr val="373737"/>
                    </a:solidFill>
                    <a:latin typeface="+mn-lt"/>
                    <a:cs typeface="Times New Roman" panose="02020603050405020304" pitchFamily="18" charset="0"/>
                  </a:rPr>
                  <a:t>in</a:t>
                </a:r>
                <a:r>
                  <a:rPr sz="2000" spc="-80" dirty="0">
                    <a:solidFill>
                      <a:srgbClr val="373737"/>
                    </a:solidFill>
                    <a:latin typeface="+mn-lt"/>
                    <a:cs typeface="Times New Roman" panose="02020603050405020304" pitchFamily="18" charset="0"/>
                  </a:rPr>
                  <a:t> </a:t>
                </a:r>
                <a:r>
                  <a:rPr sz="2000" spc="-165" dirty="0">
                    <a:solidFill>
                      <a:srgbClr val="373737"/>
                    </a:solidFill>
                    <a:latin typeface="+mn-lt"/>
                    <a:cs typeface="Times New Roman" panose="02020603050405020304" pitchFamily="18" charset="0"/>
                  </a:rPr>
                  <a:t>recommendations</a:t>
                </a:r>
                <a:endParaRPr sz="2000" dirty="0">
                  <a:latin typeface="+mn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7" name="object 7"/>
              <p:cNvSpPr txBox="1"/>
              <p:nvPr/>
            </p:nvSpPr>
            <p:spPr>
              <a:xfrm>
                <a:off x="5038725" y="2014772"/>
                <a:ext cx="5268042" cy="325089"/>
              </a:xfrm>
              <a:prstGeom prst="rect">
                <a:avLst/>
              </a:prstGeom>
            </p:spPr>
            <p:txBody>
              <a:bodyPr vert="horz" wrap="square" lIns="0" tIns="17145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35"/>
                  </a:spcBef>
                  <a:tabLst>
                    <a:tab pos="2929890" algn="l"/>
                  </a:tabLst>
                </a:pPr>
                <a:r>
                  <a:rPr sz="2000" spc="-25" dirty="0">
                    <a:solidFill>
                      <a:srgbClr val="373737"/>
                    </a:solidFill>
                    <a:latin typeface="+mn-lt"/>
                    <a:cs typeface="Times New Roman" panose="02020603050405020304" pitchFamily="18" charset="0"/>
                  </a:rPr>
                  <a:t>01</a:t>
                </a:r>
                <a:r>
                  <a:rPr sz="2000" dirty="0">
                    <a:solidFill>
                      <a:srgbClr val="373737"/>
                    </a:solidFill>
                    <a:latin typeface="+mn-lt"/>
                    <a:cs typeface="Times New Roman" panose="02020603050405020304" pitchFamily="18" charset="0"/>
                  </a:rPr>
                  <a:t>	</a:t>
                </a:r>
                <a:r>
                  <a:rPr sz="2000" spc="-70" dirty="0">
                    <a:solidFill>
                      <a:srgbClr val="373737"/>
                    </a:solidFill>
                    <a:latin typeface="+mn-lt"/>
                    <a:cs typeface="Times New Roman" panose="02020603050405020304" pitchFamily="18" charset="0"/>
                  </a:rPr>
                  <a:t>02</a:t>
                </a:r>
                <a:endParaRPr sz="2000" dirty="0">
                  <a:latin typeface="+mn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8" name="object 8"/>
              <p:cNvSpPr/>
              <p:nvPr/>
            </p:nvSpPr>
            <p:spPr>
              <a:xfrm>
                <a:off x="7962900" y="2457451"/>
                <a:ext cx="271462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2714625" h="28575">
                    <a:moveTo>
                      <a:pt x="2714625" y="0"/>
                    </a:moveTo>
                    <a:lnTo>
                      <a:pt x="0" y="0"/>
                    </a:lnTo>
                    <a:lnTo>
                      <a:pt x="0" y="28575"/>
                    </a:lnTo>
                    <a:lnTo>
                      <a:pt x="2714625" y="28575"/>
                    </a:lnTo>
                    <a:lnTo>
                      <a:pt x="2714625" y="0"/>
                    </a:lnTo>
                    <a:close/>
                  </a:path>
                </a:pathLst>
              </a:custGeom>
              <a:solidFill>
                <a:srgbClr val="CCCCCC"/>
              </a:solidFill>
            </p:spPr>
            <p:txBody>
              <a:bodyPr wrap="square" lIns="0" tIns="0" rIns="0" bIns="0" rtlCol="0"/>
              <a:lstStyle/>
              <a:p>
                <a:endParaRPr sz="2000">
                  <a:latin typeface="+mn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" name="object 14"/>
              <p:cNvSpPr txBox="1"/>
              <p:nvPr/>
            </p:nvSpPr>
            <p:spPr>
              <a:xfrm>
                <a:off x="8013065" y="2797173"/>
                <a:ext cx="2680970" cy="1646476"/>
              </a:xfrm>
              <a:prstGeom prst="rect">
                <a:avLst/>
              </a:prstGeom>
            </p:spPr>
            <p:txBody>
              <a:bodyPr vert="horz" wrap="square" lIns="0" tIns="17145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35"/>
                  </a:spcBef>
                </a:pPr>
                <a:r>
                  <a:rPr sz="2000" spc="-130" dirty="0">
                    <a:solidFill>
                      <a:srgbClr val="373737"/>
                    </a:solidFill>
                    <a:latin typeface="+mn-lt"/>
                    <a:cs typeface="Times New Roman" panose="02020603050405020304" pitchFamily="18" charset="0"/>
                  </a:rPr>
                  <a:t>Identify</a:t>
                </a:r>
                <a:r>
                  <a:rPr sz="2000" spc="-55" dirty="0">
                    <a:solidFill>
                      <a:srgbClr val="373737"/>
                    </a:solidFill>
                    <a:latin typeface="+mn-lt"/>
                    <a:cs typeface="Times New Roman" panose="02020603050405020304" pitchFamily="18" charset="0"/>
                  </a:rPr>
                  <a:t> </a:t>
                </a:r>
                <a:r>
                  <a:rPr sz="2000" spc="-35" dirty="0">
                    <a:solidFill>
                      <a:srgbClr val="373737"/>
                    </a:solidFill>
                    <a:latin typeface="+mn-lt"/>
                    <a:cs typeface="Times New Roman" panose="02020603050405020304" pitchFamily="18" charset="0"/>
                  </a:rPr>
                  <a:t>Features</a:t>
                </a:r>
                <a:endParaRPr sz="2000" dirty="0">
                  <a:latin typeface="+mn-lt"/>
                  <a:cs typeface="Times New Roman" panose="02020603050405020304" pitchFamily="18" charset="0"/>
                </a:endParaRPr>
              </a:p>
              <a:p>
                <a:pPr marL="12700" marR="5080">
                  <a:lnSpc>
                    <a:spcPct val="136400"/>
                  </a:lnSpc>
                  <a:spcBef>
                    <a:spcPts val="750"/>
                  </a:spcBef>
                </a:pPr>
                <a:r>
                  <a:rPr sz="2000" spc="-165" dirty="0">
                    <a:solidFill>
                      <a:srgbClr val="373737"/>
                    </a:solidFill>
                    <a:latin typeface="+mn-lt"/>
                    <a:cs typeface="Times New Roman" panose="02020603050405020304" pitchFamily="18" charset="0"/>
                  </a:rPr>
                  <a:t>Selected</a:t>
                </a:r>
                <a:r>
                  <a:rPr sz="2000" spc="-65" dirty="0">
                    <a:solidFill>
                      <a:srgbClr val="373737"/>
                    </a:solidFill>
                    <a:latin typeface="+mn-lt"/>
                    <a:cs typeface="Times New Roman" panose="02020603050405020304" pitchFamily="18" charset="0"/>
                  </a:rPr>
                  <a:t> </a:t>
                </a:r>
                <a:r>
                  <a:rPr sz="2000" spc="-60" dirty="0">
                    <a:solidFill>
                      <a:srgbClr val="373737"/>
                    </a:solidFill>
                    <a:latin typeface="+mn-lt"/>
                    <a:cs typeface="Times New Roman" panose="02020603050405020304" pitchFamily="18" charset="0"/>
                  </a:rPr>
                  <a:t>genres,</a:t>
                </a:r>
                <a:r>
                  <a:rPr sz="2000" spc="-65" dirty="0">
                    <a:solidFill>
                      <a:srgbClr val="373737"/>
                    </a:solidFill>
                    <a:latin typeface="+mn-lt"/>
                    <a:cs typeface="Times New Roman" panose="02020603050405020304" pitchFamily="18" charset="0"/>
                  </a:rPr>
                  <a:t> </a:t>
                </a:r>
                <a:r>
                  <a:rPr sz="2000" spc="-10" dirty="0">
                    <a:solidFill>
                      <a:srgbClr val="373737"/>
                    </a:solidFill>
                    <a:latin typeface="+mn-lt"/>
                    <a:cs typeface="Times New Roman" panose="02020603050405020304" pitchFamily="18" charset="0"/>
                  </a:rPr>
                  <a:t>keywords, </a:t>
                </a:r>
                <a:r>
                  <a:rPr sz="2000" spc="-60" dirty="0">
                    <a:solidFill>
                      <a:srgbClr val="373737"/>
                    </a:solidFill>
                    <a:latin typeface="+mn-lt"/>
                    <a:cs typeface="Times New Roman" panose="02020603050405020304" pitchFamily="18" charset="0"/>
                  </a:rPr>
                  <a:t>tagline,</a:t>
                </a:r>
                <a:r>
                  <a:rPr sz="2000" spc="-85" dirty="0">
                    <a:solidFill>
                      <a:srgbClr val="373737"/>
                    </a:solidFill>
                    <a:latin typeface="+mn-lt"/>
                    <a:cs typeface="Times New Roman" panose="02020603050405020304" pitchFamily="18" charset="0"/>
                  </a:rPr>
                  <a:t> </a:t>
                </a:r>
                <a:r>
                  <a:rPr sz="2000" spc="-75" dirty="0">
                    <a:solidFill>
                      <a:srgbClr val="373737"/>
                    </a:solidFill>
                    <a:latin typeface="+mn-lt"/>
                    <a:cs typeface="Times New Roman" panose="02020603050405020304" pitchFamily="18" charset="0"/>
                  </a:rPr>
                  <a:t>cast,</a:t>
                </a:r>
                <a:r>
                  <a:rPr sz="2000" spc="-85" dirty="0">
                    <a:solidFill>
                      <a:srgbClr val="373737"/>
                    </a:solidFill>
                    <a:latin typeface="+mn-lt"/>
                    <a:cs typeface="Times New Roman" panose="02020603050405020304" pitchFamily="18" charset="0"/>
                  </a:rPr>
                  <a:t> </a:t>
                </a:r>
                <a:r>
                  <a:rPr sz="2000" spc="-210" dirty="0">
                    <a:solidFill>
                      <a:srgbClr val="373737"/>
                    </a:solidFill>
                    <a:latin typeface="+mn-lt"/>
                    <a:cs typeface="Times New Roman" panose="02020603050405020304" pitchFamily="18" charset="0"/>
                  </a:rPr>
                  <a:t>and</a:t>
                </a:r>
                <a:r>
                  <a:rPr sz="2000" spc="-80" dirty="0">
                    <a:solidFill>
                      <a:srgbClr val="373737"/>
                    </a:solidFill>
                    <a:latin typeface="+mn-lt"/>
                    <a:cs typeface="Times New Roman" panose="02020603050405020304" pitchFamily="18" charset="0"/>
                  </a:rPr>
                  <a:t> </a:t>
                </a:r>
                <a:r>
                  <a:rPr sz="2000" spc="-10" dirty="0">
                    <a:solidFill>
                      <a:srgbClr val="373737"/>
                    </a:solidFill>
                    <a:latin typeface="+mn-lt"/>
                    <a:cs typeface="Times New Roman" panose="02020603050405020304" pitchFamily="18" charset="0"/>
                  </a:rPr>
                  <a:t>director</a:t>
                </a:r>
                <a:r>
                  <a:rPr sz="2000" spc="-114" dirty="0">
                    <a:solidFill>
                      <a:srgbClr val="373737"/>
                    </a:solidFill>
                    <a:latin typeface="+mn-lt"/>
                    <a:cs typeface="Times New Roman" panose="02020603050405020304" pitchFamily="18" charset="0"/>
                  </a:rPr>
                  <a:t> </a:t>
                </a:r>
                <a:r>
                  <a:rPr sz="2000" spc="-65" dirty="0">
                    <a:solidFill>
                      <a:srgbClr val="373737"/>
                    </a:solidFill>
                    <a:latin typeface="+mn-lt"/>
                    <a:cs typeface="Times New Roman" panose="02020603050405020304" pitchFamily="18" charset="0"/>
                  </a:rPr>
                  <a:t>for </a:t>
                </a:r>
                <a:r>
                  <a:rPr sz="2000" spc="-150" dirty="0">
                    <a:solidFill>
                      <a:srgbClr val="373737"/>
                    </a:solidFill>
                    <a:latin typeface="+mn-lt"/>
                    <a:cs typeface="Times New Roman" panose="02020603050405020304" pitchFamily="18" charset="0"/>
                  </a:rPr>
                  <a:t>content</a:t>
                </a:r>
                <a:r>
                  <a:rPr sz="2000" spc="-90" dirty="0">
                    <a:solidFill>
                      <a:srgbClr val="373737"/>
                    </a:solidFill>
                    <a:latin typeface="+mn-lt"/>
                    <a:cs typeface="Times New Roman" panose="02020603050405020304" pitchFamily="18" charset="0"/>
                  </a:rPr>
                  <a:t> </a:t>
                </a:r>
                <a:r>
                  <a:rPr sz="2000" spc="-10" dirty="0">
                    <a:solidFill>
                      <a:srgbClr val="373737"/>
                    </a:solidFill>
                    <a:latin typeface="+mn-lt"/>
                    <a:cs typeface="Times New Roman" panose="02020603050405020304" pitchFamily="18" charset="0"/>
                  </a:rPr>
                  <a:t>analysis</a:t>
                </a:r>
                <a:endParaRPr sz="2000" dirty="0">
                  <a:latin typeface="+mn-lt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5" name="object 15"/>
            <p:cNvSpPr/>
            <p:nvPr/>
          </p:nvSpPr>
          <p:spPr>
            <a:xfrm>
              <a:off x="4919782" y="4508646"/>
              <a:ext cx="5638800" cy="28575"/>
            </a:xfrm>
            <a:custGeom>
              <a:avLst/>
              <a:gdLst/>
              <a:ahLst/>
              <a:cxnLst/>
              <a:rect l="l" t="t" r="r" b="b"/>
              <a:pathLst>
                <a:path w="5638800" h="28575">
                  <a:moveTo>
                    <a:pt x="5638800" y="0"/>
                  </a:moveTo>
                  <a:lnTo>
                    <a:pt x="0" y="0"/>
                  </a:lnTo>
                  <a:lnTo>
                    <a:pt x="0" y="28575"/>
                  </a:lnTo>
                  <a:lnTo>
                    <a:pt x="5638800" y="28575"/>
                  </a:lnTo>
                  <a:lnTo>
                    <a:pt x="5638800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  <a:cs typeface="Times New Roman" panose="02020603050405020304" pitchFamily="18" charset="0"/>
              </a:endParaRPr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5164936" y="5405203"/>
            <a:ext cx="4893945" cy="1843453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3495">
              <a:lnSpc>
                <a:spcPct val="100000"/>
              </a:lnSpc>
              <a:spcBef>
                <a:spcPts val="135"/>
              </a:spcBef>
            </a:pPr>
            <a:r>
              <a:rPr sz="2000" spc="-25" dirty="0">
                <a:solidFill>
                  <a:srgbClr val="373737"/>
                </a:solidFill>
                <a:latin typeface="+mn-lt"/>
                <a:cs typeface="Times New Roman" panose="02020603050405020304" pitchFamily="18" charset="0"/>
              </a:rPr>
              <a:t>03</a:t>
            </a:r>
            <a:endParaRPr sz="2000" dirty="0">
              <a:latin typeface="+mn-lt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2000" dirty="0">
              <a:latin typeface="+mn-lt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</a:pPr>
            <a:r>
              <a:rPr sz="2000" spc="-200" dirty="0">
                <a:solidFill>
                  <a:srgbClr val="373737"/>
                </a:solidFill>
                <a:latin typeface="+mn-lt"/>
                <a:cs typeface="Times New Roman" panose="02020603050405020304" pitchFamily="18" charset="0"/>
              </a:rPr>
              <a:t>Handle</a:t>
            </a:r>
            <a:r>
              <a:rPr sz="2000" spc="-85" dirty="0">
                <a:solidFill>
                  <a:srgbClr val="373737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sz="2000" spc="-95" dirty="0">
                <a:solidFill>
                  <a:srgbClr val="373737"/>
                </a:solidFill>
                <a:latin typeface="+mn-lt"/>
                <a:cs typeface="Times New Roman" panose="02020603050405020304" pitchFamily="18" charset="0"/>
              </a:rPr>
              <a:t>Missing</a:t>
            </a:r>
            <a:r>
              <a:rPr sz="2000" spc="-80" dirty="0">
                <a:solidFill>
                  <a:srgbClr val="373737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sz="2000" spc="-10" dirty="0">
                <a:solidFill>
                  <a:srgbClr val="373737"/>
                </a:solidFill>
                <a:latin typeface="+mn-lt"/>
                <a:cs typeface="Times New Roman" panose="02020603050405020304" pitchFamily="18" charset="0"/>
              </a:rPr>
              <a:t>Values</a:t>
            </a:r>
            <a:endParaRPr sz="2000" dirty="0">
              <a:latin typeface="+mn-lt"/>
              <a:cs typeface="Times New Roman" panose="02020603050405020304" pitchFamily="18" charset="0"/>
            </a:endParaRPr>
          </a:p>
          <a:p>
            <a:pPr marL="12700" marR="5080" indent="-635">
              <a:lnSpc>
                <a:spcPct val="136400"/>
              </a:lnSpc>
              <a:spcBef>
                <a:spcPts val="675"/>
              </a:spcBef>
            </a:pPr>
            <a:r>
              <a:rPr sz="2000" spc="-160" dirty="0">
                <a:solidFill>
                  <a:srgbClr val="373737"/>
                </a:solidFill>
                <a:latin typeface="+mn-lt"/>
                <a:cs typeface="Times New Roman" panose="02020603050405020304" pitchFamily="18" charset="0"/>
              </a:rPr>
              <a:t>Filled</a:t>
            </a:r>
            <a:r>
              <a:rPr sz="2000" spc="-90" dirty="0">
                <a:solidFill>
                  <a:srgbClr val="373737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sz="2000" spc="-114" dirty="0">
                <a:solidFill>
                  <a:srgbClr val="373737"/>
                </a:solidFill>
                <a:latin typeface="+mn-lt"/>
                <a:cs typeface="Times New Roman" panose="02020603050405020304" pitchFamily="18" charset="0"/>
              </a:rPr>
              <a:t>null</a:t>
            </a:r>
            <a:r>
              <a:rPr sz="2000" spc="-85" dirty="0">
                <a:solidFill>
                  <a:srgbClr val="373737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sz="2000" spc="-114" dirty="0">
                <a:solidFill>
                  <a:srgbClr val="373737"/>
                </a:solidFill>
                <a:latin typeface="+mn-lt"/>
                <a:cs typeface="Times New Roman" panose="02020603050405020304" pitchFamily="18" charset="0"/>
              </a:rPr>
              <a:t>entries</a:t>
            </a:r>
            <a:r>
              <a:rPr sz="2000" spc="-85" dirty="0">
                <a:solidFill>
                  <a:srgbClr val="373737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sz="2000" spc="-204" dirty="0">
                <a:solidFill>
                  <a:srgbClr val="373737"/>
                </a:solidFill>
                <a:latin typeface="+mn-lt"/>
                <a:cs typeface="Times New Roman" panose="02020603050405020304" pitchFamily="18" charset="0"/>
              </a:rPr>
              <a:t>with</a:t>
            </a:r>
            <a:r>
              <a:rPr sz="2000" spc="-85" dirty="0">
                <a:solidFill>
                  <a:srgbClr val="373737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sz="2000" spc="-170" dirty="0">
                <a:solidFill>
                  <a:srgbClr val="373737"/>
                </a:solidFill>
                <a:latin typeface="+mn-lt"/>
                <a:cs typeface="Times New Roman" panose="02020603050405020304" pitchFamily="18" charset="0"/>
              </a:rPr>
              <a:t>empty</a:t>
            </a:r>
            <a:r>
              <a:rPr sz="2000" spc="-85" dirty="0">
                <a:solidFill>
                  <a:srgbClr val="373737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sz="2000" spc="-65" dirty="0">
                <a:solidFill>
                  <a:srgbClr val="373737"/>
                </a:solidFill>
                <a:latin typeface="+mn-lt"/>
                <a:cs typeface="Times New Roman" panose="02020603050405020304" pitchFamily="18" charset="0"/>
              </a:rPr>
              <a:t>strings</a:t>
            </a:r>
            <a:r>
              <a:rPr sz="2000" spc="-85" dirty="0">
                <a:solidFill>
                  <a:srgbClr val="373737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sz="2000" spc="-155" dirty="0">
                <a:solidFill>
                  <a:srgbClr val="373737"/>
                </a:solidFill>
                <a:latin typeface="+mn-lt"/>
                <a:cs typeface="Times New Roman" panose="02020603050405020304" pitchFamily="18" charset="0"/>
              </a:rPr>
              <a:t>via</a:t>
            </a:r>
            <a:r>
              <a:rPr sz="2000" spc="-85" dirty="0">
                <a:solidFill>
                  <a:srgbClr val="373737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sz="2000" spc="-135" dirty="0">
                <a:solidFill>
                  <a:srgbClr val="373737"/>
                </a:solidFill>
                <a:latin typeface="+mn-lt"/>
                <a:cs typeface="Times New Roman" panose="02020603050405020304" pitchFamily="18" charset="0"/>
              </a:rPr>
              <a:t>iterative</a:t>
            </a:r>
            <a:r>
              <a:rPr sz="2000" spc="-90" dirty="0">
                <a:solidFill>
                  <a:srgbClr val="373737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sz="2000" spc="-170" dirty="0">
                <a:solidFill>
                  <a:srgbClr val="373737"/>
                </a:solidFill>
                <a:latin typeface="+mn-lt"/>
                <a:cs typeface="Times New Roman" panose="02020603050405020304" pitchFamily="18" charset="0"/>
              </a:rPr>
              <a:t>loop</a:t>
            </a:r>
            <a:r>
              <a:rPr sz="2000" spc="-85" dirty="0">
                <a:solidFill>
                  <a:srgbClr val="373737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sz="2000" spc="-155" dirty="0">
                <a:solidFill>
                  <a:srgbClr val="373737"/>
                </a:solidFill>
                <a:latin typeface="+mn-lt"/>
                <a:cs typeface="Times New Roman" panose="02020603050405020304" pitchFamily="18" charset="0"/>
              </a:rPr>
              <a:t>to</a:t>
            </a:r>
            <a:r>
              <a:rPr sz="2000" spc="-85" dirty="0">
                <a:solidFill>
                  <a:srgbClr val="373737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sz="2000" spc="-165" dirty="0">
                <a:solidFill>
                  <a:srgbClr val="373737"/>
                </a:solidFill>
                <a:latin typeface="+mn-lt"/>
                <a:cs typeface="Times New Roman" panose="02020603050405020304" pitchFamily="18" charset="0"/>
              </a:rPr>
              <a:t>avoid </a:t>
            </a:r>
            <a:r>
              <a:rPr sz="2000" spc="-160" dirty="0">
                <a:solidFill>
                  <a:srgbClr val="373737"/>
                </a:solidFill>
                <a:latin typeface="+mn-lt"/>
                <a:cs typeface="Times New Roman" panose="02020603050405020304" pitchFamily="18" charset="0"/>
              </a:rPr>
              <a:t>imputation</a:t>
            </a:r>
            <a:r>
              <a:rPr sz="2000" spc="-85" dirty="0">
                <a:solidFill>
                  <a:srgbClr val="373737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sz="2000" spc="-145" dirty="0">
                <a:solidFill>
                  <a:srgbClr val="373737"/>
                </a:solidFill>
                <a:latin typeface="+mn-lt"/>
                <a:cs typeface="Times New Roman" panose="02020603050405020304" pitchFamily="18" charset="0"/>
              </a:rPr>
              <a:t>bias</a:t>
            </a:r>
            <a:r>
              <a:rPr sz="2000" spc="-80" dirty="0">
                <a:solidFill>
                  <a:srgbClr val="373737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sz="2000" spc="-125" dirty="0">
                <a:solidFill>
                  <a:srgbClr val="373737"/>
                </a:solidFill>
                <a:latin typeface="+mn-lt"/>
                <a:cs typeface="Times New Roman" panose="02020603050405020304" pitchFamily="18" charset="0"/>
              </a:rPr>
              <a:t>in</a:t>
            </a:r>
            <a:r>
              <a:rPr sz="2000" spc="-80" dirty="0">
                <a:solidFill>
                  <a:srgbClr val="373737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sz="2000" spc="-140" dirty="0">
                <a:solidFill>
                  <a:srgbClr val="373737"/>
                </a:solidFill>
                <a:latin typeface="+mn-lt"/>
                <a:cs typeface="Times New Roman" panose="02020603050405020304" pitchFamily="18" charset="0"/>
              </a:rPr>
              <a:t>textual</a:t>
            </a:r>
            <a:r>
              <a:rPr sz="2000" spc="-80" dirty="0">
                <a:solidFill>
                  <a:srgbClr val="373737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sz="2000" spc="-10" dirty="0">
                <a:solidFill>
                  <a:srgbClr val="373737"/>
                </a:solidFill>
                <a:latin typeface="+mn-lt"/>
                <a:cs typeface="Times New Roman" panose="02020603050405020304" pitchFamily="18" charset="0"/>
              </a:rPr>
              <a:t>features</a:t>
            </a:r>
            <a:endParaRPr sz="2000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AA20F7B-2F31-90A1-351C-1F71F08DA0C0}"/>
              </a:ext>
            </a:extLst>
          </p:cNvPr>
          <p:cNvSpPr txBox="1"/>
          <p:nvPr/>
        </p:nvSpPr>
        <p:spPr>
          <a:xfrm>
            <a:off x="5057058" y="832427"/>
            <a:ext cx="5715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spc="-380" dirty="0">
                <a:latin typeface="+mn-lt"/>
                <a:cs typeface="Times New Roman" panose="02020603050405020304" pitchFamily="18" charset="0"/>
              </a:rPr>
              <a:t>Data</a:t>
            </a:r>
            <a:r>
              <a:rPr lang="en-IN" sz="4000" spc="-225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IN" sz="4000" spc="-275" dirty="0">
                <a:latin typeface="+mn-lt"/>
                <a:cs typeface="Times New Roman" panose="02020603050405020304" pitchFamily="18" charset="0"/>
              </a:rPr>
              <a:t>Cleaning</a:t>
            </a:r>
            <a:r>
              <a:rPr lang="en-IN" sz="4000" spc="-229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IN" sz="4000" spc="-315" dirty="0">
                <a:latin typeface="+mn-lt"/>
                <a:cs typeface="Times New Roman" panose="02020603050405020304" pitchFamily="18" charset="0"/>
              </a:rPr>
              <a:t>Pipeline</a:t>
            </a:r>
            <a:endParaRPr lang="en-IN" sz="4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8915400"/>
          </a:xfrm>
          <a:custGeom>
            <a:avLst/>
            <a:gdLst/>
            <a:ahLst/>
            <a:cxnLst/>
            <a:rect l="l" t="t" r="r" b="b"/>
            <a:pathLst>
              <a:path w="11165840" h="6439535">
                <a:moveTo>
                  <a:pt x="11165782" y="6438934"/>
                </a:moveTo>
                <a:lnTo>
                  <a:pt x="0" y="6438934"/>
                </a:lnTo>
                <a:lnTo>
                  <a:pt x="0" y="0"/>
                </a:lnTo>
                <a:lnTo>
                  <a:pt x="11165782" y="0"/>
                </a:lnTo>
                <a:lnTo>
                  <a:pt x="11165782" y="6438934"/>
                </a:lnTo>
                <a:close/>
              </a:path>
            </a:pathLst>
          </a:custGeom>
          <a:solidFill>
            <a:srgbClr val="F6F6F6"/>
          </a:solidFill>
        </p:spPr>
        <p:txBody>
          <a:bodyPr wrap="square" lIns="0" tIns="0" rIns="0" bIns="0" rtlCol="0"/>
          <a:lstStyle/>
          <a:p>
            <a:endParaRPr>
              <a:latin typeface="+mn-l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02812" y="464078"/>
            <a:ext cx="10466259" cy="621111"/>
          </a:xfrm>
          <a:prstGeom prst="rect">
            <a:avLst/>
          </a:prstGeom>
        </p:spPr>
        <p:txBody>
          <a:bodyPr vert="horz" wrap="square" lIns="0" tIns="112184" rIns="0" bIns="0" rtlCol="0">
            <a:spAutoFit/>
          </a:bodyPr>
          <a:lstStyle/>
          <a:p>
            <a:pPr marL="129539">
              <a:lnSpc>
                <a:spcPct val="100000"/>
              </a:lnSpc>
              <a:spcBef>
                <a:spcPts val="95"/>
              </a:spcBef>
            </a:pPr>
            <a:r>
              <a:rPr sz="3300" spc="-380" dirty="0">
                <a:latin typeface="+mn-lt"/>
              </a:rPr>
              <a:t>Feature</a:t>
            </a:r>
            <a:r>
              <a:rPr sz="3300" spc="-240" dirty="0">
                <a:latin typeface="+mn-lt"/>
              </a:rPr>
              <a:t> </a:t>
            </a:r>
            <a:r>
              <a:rPr sz="3300" spc="-285" dirty="0">
                <a:latin typeface="+mn-lt"/>
              </a:rPr>
              <a:t>Engineering</a:t>
            </a:r>
            <a:r>
              <a:rPr sz="3300" spc="-240" dirty="0">
                <a:latin typeface="+mn-lt"/>
              </a:rPr>
              <a:t> </a:t>
            </a:r>
            <a:r>
              <a:rPr sz="3300" spc="-265" dirty="0">
                <a:latin typeface="+mn-lt"/>
              </a:rPr>
              <a:t>Process</a:t>
            </a:r>
            <a:endParaRPr sz="3300">
              <a:latin typeface="+mn-lt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41BF440-2858-1890-0A3E-0705E52DA476}"/>
              </a:ext>
            </a:extLst>
          </p:cNvPr>
          <p:cNvGrpSpPr/>
          <p:nvPr/>
        </p:nvGrpSpPr>
        <p:grpSpPr>
          <a:xfrm>
            <a:off x="381000" y="1985177"/>
            <a:ext cx="4705515" cy="5021246"/>
            <a:chOff x="457200" y="2866589"/>
            <a:chExt cx="4705515" cy="5021246"/>
          </a:xfrm>
        </p:grpSpPr>
        <p:sp>
          <p:nvSpPr>
            <p:cNvPr id="4" name="object 4"/>
            <p:cNvSpPr/>
            <p:nvPr/>
          </p:nvSpPr>
          <p:spPr>
            <a:xfrm>
              <a:off x="615512" y="3810000"/>
              <a:ext cx="3270688" cy="457200"/>
            </a:xfrm>
            <a:custGeom>
              <a:avLst/>
              <a:gdLst/>
              <a:ahLst/>
              <a:cxnLst/>
              <a:rect l="l" t="t" r="r" b="b"/>
              <a:pathLst>
                <a:path w="1898650" h="288925">
                  <a:moveTo>
                    <a:pt x="1875483" y="288449"/>
                  </a:moveTo>
                  <a:lnTo>
                    <a:pt x="22699" y="288449"/>
                  </a:lnTo>
                  <a:lnTo>
                    <a:pt x="19361" y="287785"/>
                  </a:lnTo>
                  <a:lnTo>
                    <a:pt x="0" y="265749"/>
                  </a:lnTo>
                  <a:lnTo>
                    <a:pt x="0" y="262279"/>
                  </a:lnTo>
                  <a:lnTo>
                    <a:pt x="0" y="22699"/>
                  </a:lnTo>
                  <a:lnTo>
                    <a:pt x="22699" y="0"/>
                  </a:lnTo>
                  <a:lnTo>
                    <a:pt x="1875483" y="0"/>
                  </a:lnTo>
                  <a:lnTo>
                    <a:pt x="1898182" y="22699"/>
                  </a:lnTo>
                  <a:lnTo>
                    <a:pt x="1898182" y="265749"/>
                  </a:lnTo>
                  <a:lnTo>
                    <a:pt x="1878821" y="287785"/>
                  </a:lnTo>
                  <a:lnTo>
                    <a:pt x="1875483" y="288449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5071B0BF-2411-3147-661E-169FEE9944C4}"/>
                </a:ext>
              </a:extLst>
            </p:cNvPr>
            <p:cNvGrpSpPr/>
            <p:nvPr/>
          </p:nvGrpSpPr>
          <p:grpSpPr>
            <a:xfrm>
              <a:off x="457200" y="2866589"/>
              <a:ext cx="4705515" cy="5021246"/>
              <a:chOff x="376191" y="1610990"/>
              <a:chExt cx="4705515" cy="5021246"/>
            </a:xfrm>
          </p:grpSpPr>
          <p:sp>
            <p:nvSpPr>
              <p:cNvPr id="5" name="object 5"/>
              <p:cNvSpPr/>
              <p:nvPr/>
            </p:nvSpPr>
            <p:spPr>
              <a:xfrm>
                <a:off x="376191" y="3097261"/>
                <a:ext cx="4705515" cy="2898538"/>
              </a:xfrm>
              <a:custGeom>
                <a:avLst/>
                <a:gdLst/>
                <a:ahLst/>
                <a:cxnLst/>
                <a:rect l="l" t="t" r="r" b="b"/>
                <a:pathLst>
                  <a:path w="4596765" h="2093595">
                    <a:moveTo>
                      <a:pt x="4596574" y="68465"/>
                    </a:moveTo>
                    <a:lnTo>
                      <a:pt x="4596104" y="63690"/>
                    </a:lnTo>
                    <a:lnTo>
                      <a:pt x="4595241" y="59372"/>
                    </a:lnTo>
                    <a:lnTo>
                      <a:pt x="4595190" y="58966"/>
                    </a:lnTo>
                    <a:lnTo>
                      <a:pt x="4595088" y="58597"/>
                    </a:lnTo>
                    <a:lnTo>
                      <a:pt x="4594237" y="54254"/>
                    </a:lnTo>
                    <a:lnTo>
                      <a:pt x="4592840" y="49669"/>
                    </a:lnTo>
                    <a:lnTo>
                      <a:pt x="4590999" y="45224"/>
                    </a:lnTo>
                    <a:lnTo>
                      <a:pt x="4589157" y="40779"/>
                    </a:lnTo>
                    <a:lnTo>
                      <a:pt x="4586897" y="36563"/>
                    </a:lnTo>
                    <a:lnTo>
                      <a:pt x="4584471" y="32943"/>
                    </a:lnTo>
                    <a:lnTo>
                      <a:pt x="4584243" y="32550"/>
                    </a:lnTo>
                    <a:lnTo>
                      <a:pt x="4583963" y="32194"/>
                    </a:lnTo>
                    <a:lnTo>
                      <a:pt x="4581550" y="28562"/>
                    </a:lnTo>
                    <a:lnTo>
                      <a:pt x="4578515" y="24853"/>
                    </a:lnTo>
                    <a:lnTo>
                      <a:pt x="4575111" y="21463"/>
                    </a:lnTo>
                    <a:lnTo>
                      <a:pt x="4571720" y="18059"/>
                    </a:lnTo>
                    <a:lnTo>
                      <a:pt x="4568012" y="15011"/>
                    </a:lnTo>
                    <a:lnTo>
                      <a:pt x="4564291" y="12547"/>
                    </a:lnTo>
                    <a:lnTo>
                      <a:pt x="4564024" y="12331"/>
                    </a:lnTo>
                    <a:lnTo>
                      <a:pt x="4563719" y="12153"/>
                    </a:lnTo>
                    <a:lnTo>
                      <a:pt x="4560011" y="9677"/>
                    </a:lnTo>
                    <a:lnTo>
                      <a:pt x="4555795" y="7416"/>
                    </a:lnTo>
                    <a:lnTo>
                      <a:pt x="4551350" y="5575"/>
                    </a:lnTo>
                    <a:lnTo>
                      <a:pt x="4546905" y="3733"/>
                    </a:lnTo>
                    <a:lnTo>
                      <a:pt x="4542320" y="2336"/>
                    </a:lnTo>
                    <a:lnTo>
                      <a:pt x="4537913" y="1473"/>
                    </a:lnTo>
                    <a:lnTo>
                      <a:pt x="4537595" y="1384"/>
                    </a:lnTo>
                    <a:lnTo>
                      <a:pt x="4537240" y="1333"/>
                    </a:lnTo>
                    <a:lnTo>
                      <a:pt x="4532884" y="469"/>
                    </a:lnTo>
                    <a:lnTo>
                      <a:pt x="4528121" y="0"/>
                    </a:lnTo>
                    <a:lnTo>
                      <a:pt x="4523308" y="0"/>
                    </a:lnTo>
                    <a:lnTo>
                      <a:pt x="73279" y="0"/>
                    </a:lnTo>
                    <a:lnTo>
                      <a:pt x="68465" y="0"/>
                    </a:lnTo>
                    <a:lnTo>
                      <a:pt x="63703" y="469"/>
                    </a:lnTo>
                    <a:lnTo>
                      <a:pt x="59347" y="1333"/>
                    </a:lnTo>
                    <a:lnTo>
                      <a:pt x="58978" y="1384"/>
                    </a:lnTo>
                    <a:lnTo>
                      <a:pt x="58623" y="1473"/>
                    </a:lnTo>
                    <a:lnTo>
                      <a:pt x="54254" y="2336"/>
                    </a:lnTo>
                    <a:lnTo>
                      <a:pt x="49682" y="3733"/>
                    </a:lnTo>
                    <a:lnTo>
                      <a:pt x="45237" y="5575"/>
                    </a:lnTo>
                    <a:lnTo>
                      <a:pt x="40792" y="7416"/>
                    </a:lnTo>
                    <a:lnTo>
                      <a:pt x="36563" y="9677"/>
                    </a:lnTo>
                    <a:lnTo>
                      <a:pt x="32740" y="12230"/>
                    </a:lnTo>
                    <a:lnTo>
                      <a:pt x="32562" y="12331"/>
                    </a:lnTo>
                    <a:lnTo>
                      <a:pt x="32385" y="12458"/>
                    </a:lnTo>
                    <a:lnTo>
                      <a:pt x="28562" y="15011"/>
                    </a:lnTo>
                    <a:lnTo>
                      <a:pt x="24866" y="18059"/>
                    </a:lnTo>
                    <a:lnTo>
                      <a:pt x="21463" y="21463"/>
                    </a:lnTo>
                    <a:lnTo>
                      <a:pt x="18059" y="24853"/>
                    </a:lnTo>
                    <a:lnTo>
                      <a:pt x="15024" y="28562"/>
                    </a:lnTo>
                    <a:lnTo>
                      <a:pt x="12598" y="32194"/>
                    </a:lnTo>
                    <a:lnTo>
                      <a:pt x="12331" y="32550"/>
                    </a:lnTo>
                    <a:lnTo>
                      <a:pt x="12090" y="32943"/>
                    </a:lnTo>
                    <a:lnTo>
                      <a:pt x="9677" y="36563"/>
                    </a:lnTo>
                    <a:lnTo>
                      <a:pt x="7416" y="40779"/>
                    </a:lnTo>
                    <a:lnTo>
                      <a:pt x="5575" y="45224"/>
                    </a:lnTo>
                    <a:lnTo>
                      <a:pt x="3733" y="49669"/>
                    </a:lnTo>
                    <a:lnTo>
                      <a:pt x="2349" y="54254"/>
                    </a:lnTo>
                    <a:lnTo>
                      <a:pt x="1460" y="58699"/>
                    </a:lnTo>
                    <a:lnTo>
                      <a:pt x="1397" y="58966"/>
                    </a:lnTo>
                    <a:lnTo>
                      <a:pt x="1346" y="59245"/>
                    </a:lnTo>
                    <a:lnTo>
                      <a:pt x="469" y="63690"/>
                    </a:lnTo>
                    <a:lnTo>
                      <a:pt x="0" y="68465"/>
                    </a:lnTo>
                    <a:lnTo>
                      <a:pt x="0" y="73266"/>
                    </a:lnTo>
                    <a:lnTo>
                      <a:pt x="0" y="2020303"/>
                    </a:lnTo>
                    <a:lnTo>
                      <a:pt x="0" y="2025116"/>
                    </a:lnTo>
                    <a:lnTo>
                      <a:pt x="469" y="2029879"/>
                    </a:lnTo>
                    <a:lnTo>
                      <a:pt x="1346" y="2034336"/>
                    </a:lnTo>
                    <a:lnTo>
                      <a:pt x="1397" y="2034603"/>
                    </a:lnTo>
                    <a:lnTo>
                      <a:pt x="1460" y="2034882"/>
                    </a:lnTo>
                    <a:lnTo>
                      <a:pt x="2349" y="2039315"/>
                    </a:lnTo>
                    <a:lnTo>
                      <a:pt x="3733" y="2043899"/>
                    </a:lnTo>
                    <a:lnTo>
                      <a:pt x="5575" y="2048344"/>
                    </a:lnTo>
                    <a:lnTo>
                      <a:pt x="7416" y="2052789"/>
                    </a:lnTo>
                    <a:lnTo>
                      <a:pt x="9677" y="2057006"/>
                    </a:lnTo>
                    <a:lnTo>
                      <a:pt x="12128" y="2060689"/>
                    </a:lnTo>
                    <a:lnTo>
                      <a:pt x="12331" y="2061019"/>
                    </a:lnTo>
                    <a:lnTo>
                      <a:pt x="12560" y="2061337"/>
                    </a:lnTo>
                    <a:lnTo>
                      <a:pt x="15024" y="2065020"/>
                    </a:lnTo>
                    <a:lnTo>
                      <a:pt x="18059" y="2068715"/>
                    </a:lnTo>
                    <a:lnTo>
                      <a:pt x="21463" y="2072119"/>
                    </a:lnTo>
                    <a:lnTo>
                      <a:pt x="24866" y="2075522"/>
                    </a:lnTo>
                    <a:lnTo>
                      <a:pt x="28562" y="2078558"/>
                    </a:lnTo>
                    <a:lnTo>
                      <a:pt x="32473" y="2081174"/>
                    </a:lnTo>
                    <a:lnTo>
                      <a:pt x="32651" y="2081301"/>
                    </a:lnTo>
                    <a:lnTo>
                      <a:pt x="36563" y="2083904"/>
                    </a:lnTo>
                    <a:lnTo>
                      <a:pt x="40792" y="2086165"/>
                    </a:lnTo>
                    <a:lnTo>
                      <a:pt x="45237" y="2088007"/>
                    </a:lnTo>
                    <a:lnTo>
                      <a:pt x="49682" y="2089848"/>
                    </a:lnTo>
                    <a:lnTo>
                      <a:pt x="54254" y="2091232"/>
                    </a:lnTo>
                    <a:lnTo>
                      <a:pt x="58724" y="2092134"/>
                    </a:lnTo>
                    <a:lnTo>
                      <a:pt x="58978" y="2092185"/>
                    </a:lnTo>
                    <a:lnTo>
                      <a:pt x="59220" y="2092223"/>
                    </a:lnTo>
                    <a:lnTo>
                      <a:pt x="63703" y="2093112"/>
                    </a:lnTo>
                    <a:lnTo>
                      <a:pt x="68465" y="2093582"/>
                    </a:lnTo>
                    <a:lnTo>
                      <a:pt x="73279" y="2093582"/>
                    </a:lnTo>
                    <a:lnTo>
                      <a:pt x="4523308" y="2093582"/>
                    </a:lnTo>
                    <a:lnTo>
                      <a:pt x="4528121" y="2093582"/>
                    </a:lnTo>
                    <a:lnTo>
                      <a:pt x="4532884" y="2093112"/>
                    </a:lnTo>
                    <a:lnTo>
                      <a:pt x="4537367" y="2092223"/>
                    </a:lnTo>
                    <a:lnTo>
                      <a:pt x="4537595" y="2092185"/>
                    </a:lnTo>
                    <a:lnTo>
                      <a:pt x="4537811" y="2092134"/>
                    </a:lnTo>
                    <a:lnTo>
                      <a:pt x="4542320" y="2091232"/>
                    </a:lnTo>
                    <a:lnTo>
                      <a:pt x="4546905" y="2089848"/>
                    </a:lnTo>
                    <a:lnTo>
                      <a:pt x="4551350" y="2088007"/>
                    </a:lnTo>
                    <a:lnTo>
                      <a:pt x="4555795" y="2086165"/>
                    </a:lnTo>
                    <a:lnTo>
                      <a:pt x="4560011" y="2083904"/>
                    </a:lnTo>
                    <a:lnTo>
                      <a:pt x="4563808" y="2081377"/>
                    </a:lnTo>
                    <a:lnTo>
                      <a:pt x="4564024" y="2081237"/>
                    </a:lnTo>
                    <a:lnTo>
                      <a:pt x="4564215" y="2081098"/>
                    </a:lnTo>
                    <a:lnTo>
                      <a:pt x="4568012" y="2078558"/>
                    </a:lnTo>
                    <a:lnTo>
                      <a:pt x="4571720" y="2075522"/>
                    </a:lnTo>
                    <a:lnTo>
                      <a:pt x="4575111" y="2072119"/>
                    </a:lnTo>
                    <a:lnTo>
                      <a:pt x="4578515" y="2068715"/>
                    </a:lnTo>
                    <a:lnTo>
                      <a:pt x="4581550" y="2065020"/>
                    </a:lnTo>
                    <a:lnTo>
                      <a:pt x="4584001" y="2061337"/>
                    </a:lnTo>
                    <a:lnTo>
                      <a:pt x="4584243" y="2061019"/>
                    </a:lnTo>
                    <a:lnTo>
                      <a:pt x="4584433" y="2060689"/>
                    </a:lnTo>
                    <a:lnTo>
                      <a:pt x="4586897" y="2057006"/>
                    </a:lnTo>
                    <a:lnTo>
                      <a:pt x="4589157" y="2052789"/>
                    </a:lnTo>
                    <a:lnTo>
                      <a:pt x="4590999" y="2048344"/>
                    </a:lnTo>
                    <a:lnTo>
                      <a:pt x="4592840" y="2043899"/>
                    </a:lnTo>
                    <a:lnTo>
                      <a:pt x="4594237" y="2039315"/>
                    </a:lnTo>
                    <a:lnTo>
                      <a:pt x="4595088" y="2034984"/>
                    </a:lnTo>
                    <a:lnTo>
                      <a:pt x="4595190" y="2034603"/>
                    </a:lnTo>
                    <a:lnTo>
                      <a:pt x="4595241" y="2034209"/>
                    </a:lnTo>
                    <a:lnTo>
                      <a:pt x="4596104" y="2029879"/>
                    </a:lnTo>
                    <a:lnTo>
                      <a:pt x="4596574" y="2025116"/>
                    </a:lnTo>
                    <a:lnTo>
                      <a:pt x="4596574" y="2020303"/>
                    </a:lnTo>
                    <a:lnTo>
                      <a:pt x="4596574" y="73266"/>
                    </a:lnTo>
                    <a:lnTo>
                      <a:pt x="4596574" y="68465"/>
                    </a:lnTo>
                    <a:close/>
                  </a:path>
                </a:pathLst>
              </a:custGeom>
              <a:solidFill>
                <a:srgbClr val="E9E9E9"/>
              </a:solidFill>
            </p:spPr>
            <p:txBody>
              <a:bodyPr wrap="square" lIns="0" tIns="0" rIns="0" bIns="0" rtlCol="0"/>
              <a:lstStyle/>
              <a:p>
                <a:endParaRPr sz="2000">
                  <a:latin typeface="+mn-lt"/>
                </a:endParaRPr>
              </a:p>
            </p:txBody>
          </p:sp>
          <p:sp>
            <p:nvSpPr>
              <p:cNvPr id="6" name="object 6"/>
              <p:cNvSpPr txBox="1"/>
              <p:nvPr/>
            </p:nvSpPr>
            <p:spPr>
              <a:xfrm>
                <a:off x="720053" y="1610990"/>
                <a:ext cx="4361653" cy="5021246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95"/>
                  </a:spcBef>
                </a:pPr>
                <a:r>
                  <a:rPr sz="2000" spc="-195" dirty="0">
                    <a:solidFill>
                      <a:srgbClr val="373737"/>
                    </a:solidFill>
                    <a:latin typeface="+mn-lt"/>
                    <a:cs typeface="Trebuchet MS"/>
                  </a:rPr>
                  <a:t>Feature</a:t>
                </a:r>
                <a:r>
                  <a:rPr sz="2000" spc="-70" dirty="0">
                    <a:solidFill>
                      <a:srgbClr val="373737"/>
                    </a:solidFill>
                    <a:latin typeface="+mn-lt"/>
                    <a:cs typeface="Trebuchet MS"/>
                  </a:rPr>
                  <a:t> </a:t>
                </a:r>
                <a:r>
                  <a:rPr sz="2000" spc="-95" dirty="0">
                    <a:solidFill>
                      <a:srgbClr val="373737"/>
                    </a:solidFill>
                    <a:latin typeface="+mn-lt"/>
                    <a:cs typeface="Trebuchet MS"/>
                  </a:rPr>
                  <a:t>Concatenation</a:t>
                </a:r>
                <a:endParaRPr sz="2000" dirty="0">
                  <a:latin typeface="+mn-lt"/>
                  <a:cs typeface="Trebuchet MS"/>
                </a:endParaRPr>
              </a:p>
              <a:p>
                <a:pPr>
                  <a:lnSpc>
                    <a:spcPct val="100000"/>
                  </a:lnSpc>
                  <a:spcBef>
                    <a:spcPts val="135"/>
                  </a:spcBef>
                </a:pPr>
                <a:endParaRPr sz="2000" dirty="0">
                  <a:latin typeface="+mn-lt"/>
                  <a:cs typeface="Trebuchet MS"/>
                </a:endParaRPr>
              </a:p>
              <a:p>
                <a:pPr marL="12700">
                  <a:lnSpc>
                    <a:spcPct val="100000"/>
                  </a:lnSpc>
                </a:pPr>
                <a:r>
                  <a:rPr sz="2000" spc="-200" dirty="0">
                    <a:solidFill>
                      <a:srgbClr val="373737"/>
                    </a:solidFill>
                    <a:latin typeface="+mn-lt"/>
                    <a:cs typeface="Trebuchet MS"/>
                  </a:rPr>
                  <a:t>Five</a:t>
                </a:r>
                <a:r>
                  <a:rPr sz="2000" spc="-85" dirty="0">
                    <a:solidFill>
                      <a:srgbClr val="373737"/>
                    </a:solidFill>
                    <a:latin typeface="+mn-lt"/>
                    <a:cs typeface="Trebuchet MS"/>
                  </a:rPr>
                  <a:t> </a:t>
                </a:r>
                <a:r>
                  <a:rPr sz="2000" spc="-180" dirty="0">
                    <a:solidFill>
                      <a:srgbClr val="373737"/>
                    </a:solidFill>
                    <a:latin typeface="+mn-lt"/>
                    <a:cs typeface="Trebuchet MS"/>
                  </a:rPr>
                  <a:t>selected</a:t>
                </a:r>
                <a:r>
                  <a:rPr sz="2000" spc="-80" dirty="0">
                    <a:solidFill>
                      <a:srgbClr val="373737"/>
                    </a:solidFill>
                    <a:latin typeface="+mn-lt"/>
                    <a:cs typeface="Trebuchet MS"/>
                  </a:rPr>
                  <a:t> </a:t>
                </a:r>
                <a:r>
                  <a:rPr sz="2000" spc="-145" dirty="0">
                    <a:solidFill>
                      <a:srgbClr val="373737"/>
                    </a:solidFill>
                    <a:latin typeface="+mn-lt"/>
                    <a:cs typeface="Trebuchet MS"/>
                  </a:rPr>
                  <a:t>features</a:t>
                </a:r>
                <a:r>
                  <a:rPr sz="2000" spc="-80" dirty="0">
                    <a:solidFill>
                      <a:srgbClr val="373737"/>
                    </a:solidFill>
                    <a:latin typeface="+mn-lt"/>
                    <a:cs typeface="Trebuchet MS"/>
                  </a:rPr>
                  <a:t> </a:t>
                </a:r>
                <a:r>
                  <a:rPr sz="2000" spc="-200" dirty="0">
                    <a:solidFill>
                      <a:srgbClr val="373737"/>
                    </a:solidFill>
                    <a:latin typeface="+mn-lt"/>
                    <a:cs typeface="Trebuchet MS"/>
                  </a:rPr>
                  <a:t>merged</a:t>
                </a:r>
                <a:r>
                  <a:rPr sz="2000" spc="-80" dirty="0">
                    <a:solidFill>
                      <a:srgbClr val="373737"/>
                    </a:solidFill>
                    <a:latin typeface="+mn-lt"/>
                    <a:cs typeface="Trebuchet MS"/>
                  </a:rPr>
                  <a:t> </a:t>
                </a:r>
                <a:r>
                  <a:rPr sz="2000" spc="-155" dirty="0">
                    <a:solidFill>
                      <a:srgbClr val="373737"/>
                    </a:solidFill>
                    <a:latin typeface="+mn-lt"/>
                    <a:cs typeface="Trebuchet MS"/>
                  </a:rPr>
                  <a:t>into</a:t>
                </a:r>
                <a:r>
                  <a:rPr sz="2000" spc="-80" dirty="0">
                    <a:solidFill>
                      <a:srgbClr val="373737"/>
                    </a:solidFill>
                    <a:latin typeface="+mn-lt"/>
                    <a:cs typeface="Trebuchet MS"/>
                  </a:rPr>
                  <a:t> </a:t>
                </a:r>
                <a:r>
                  <a:rPr sz="2000" spc="-10" dirty="0">
                    <a:solidFill>
                      <a:srgbClr val="373737"/>
                    </a:solidFill>
                    <a:latin typeface="+mn-lt"/>
                    <a:cs typeface="Trebuchet MS"/>
                  </a:rPr>
                  <a:t>single</a:t>
                </a:r>
                <a:endParaRPr sz="2000" dirty="0">
                  <a:latin typeface="+mn-lt"/>
                  <a:cs typeface="Trebuchet MS"/>
                </a:endParaRPr>
              </a:p>
              <a:p>
                <a:pPr marL="12700">
                  <a:lnSpc>
                    <a:spcPct val="100000"/>
                  </a:lnSpc>
                  <a:spcBef>
                    <a:spcPts val="660"/>
                  </a:spcBef>
                </a:pPr>
                <a:r>
                  <a:rPr sz="2000" spc="-45" dirty="0">
                    <a:solidFill>
                      <a:srgbClr val="373737"/>
                    </a:solidFill>
                    <a:latin typeface="+mn-lt"/>
                    <a:cs typeface="Lucida Sans Unicode"/>
                  </a:rPr>
                  <a:t>combined_features</a:t>
                </a:r>
                <a:r>
                  <a:rPr sz="2000" dirty="0">
                    <a:solidFill>
                      <a:srgbClr val="373737"/>
                    </a:solidFill>
                    <a:latin typeface="+mn-lt"/>
                    <a:cs typeface="Lucida Sans Unicode"/>
                  </a:rPr>
                  <a:t> </a:t>
                </a:r>
                <a:r>
                  <a:rPr sz="2000" spc="-40" dirty="0">
                    <a:solidFill>
                      <a:srgbClr val="373737"/>
                    </a:solidFill>
                    <a:latin typeface="+mn-lt"/>
                    <a:cs typeface="Trebuchet MS"/>
                  </a:rPr>
                  <a:t>column:</a:t>
                </a:r>
                <a:endParaRPr sz="2000" dirty="0">
                  <a:latin typeface="+mn-lt"/>
                  <a:cs typeface="Trebuchet MS"/>
                </a:endParaRPr>
              </a:p>
              <a:p>
                <a:pPr>
                  <a:lnSpc>
                    <a:spcPct val="100000"/>
                  </a:lnSpc>
                  <a:spcBef>
                    <a:spcPts val="1525"/>
                  </a:spcBef>
                </a:pPr>
                <a:endParaRPr sz="2000" dirty="0">
                  <a:latin typeface="+mn-lt"/>
                  <a:cs typeface="Trebuchet MS"/>
                </a:endParaRPr>
              </a:p>
              <a:p>
                <a:pPr marL="263525" marR="1430020">
                  <a:lnSpc>
                    <a:spcPct val="133200"/>
                  </a:lnSpc>
                </a:pPr>
                <a:r>
                  <a:rPr sz="2000" spc="-35" dirty="0">
                    <a:solidFill>
                      <a:srgbClr val="373737"/>
                    </a:solidFill>
                    <a:latin typeface="+mn-lt"/>
                    <a:cs typeface="Lucida Sans Unicode"/>
                  </a:rPr>
                  <a:t>movies_data</a:t>
                </a:r>
                <a:r>
                  <a:rPr sz="2000" spc="-35" dirty="0">
                    <a:solidFill>
                      <a:srgbClr val="005CC4"/>
                    </a:solidFill>
                    <a:latin typeface="+mn-lt"/>
                    <a:cs typeface="Lucida Sans Unicode"/>
                  </a:rPr>
                  <a:t>[</a:t>
                </a:r>
                <a:r>
                  <a:rPr sz="2000" spc="-35" dirty="0">
                    <a:solidFill>
                      <a:srgbClr val="032E61"/>
                    </a:solidFill>
                    <a:latin typeface="+mn-lt"/>
                    <a:cs typeface="Lucida Sans Unicode"/>
                  </a:rPr>
                  <a:t>'genres'</a:t>
                </a:r>
                <a:r>
                  <a:rPr sz="2000" spc="-35" dirty="0">
                    <a:solidFill>
                      <a:srgbClr val="005CC4"/>
                    </a:solidFill>
                    <a:latin typeface="+mn-lt"/>
                    <a:cs typeface="Lucida Sans Unicode"/>
                  </a:rPr>
                  <a:t>]</a:t>
                </a:r>
                <a:r>
                  <a:rPr sz="2000" spc="-5" dirty="0">
                    <a:solidFill>
                      <a:srgbClr val="005CC4"/>
                    </a:solidFill>
                    <a:latin typeface="+mn-lt"/>
                    <a:cs typeface="Lucida Sans Unicode"/>
                  </a:rPr>
                  <a:t> </a:t>
                </a:r>
                <a:r>
                  <a:rPr sz="2000" spc="-434" dirty="0">
                    <a:solidFill>
                      <a:srgbClr val="373737"/>
                    </a:solidFill>
                    <a:latin typeface="+mn-lt"/>
                    <a:cs typeface="Lucida Sans Unicode"/>
                  </a:rPr>
                  <a:t>+</a:t>
                </a:r>
                <a:r>
                  <a:rPr sz="2000" spc="-40" dirty="0">
                    <a:solidFill>
                      <a:srgbClr val="373737"/>
                    </a:solidFill>
                    <a:latin typeface="+mn-lt"/>
                    <a:cs typeface="Lucida Sans Unicode"/>
                  </a:rPr>
                  <a:t> movies_data</a:t>
                </a:r>
                <a:r>
                  <a:rPr sz="2000" spc="-40" dirty="0">
                    <a:solidFill>
                      <a:srgbClr val="005CC4"/>
                    </a:solidFill>
                    <a:latin typeface="+mn-lt"/>
                    <a:cs typeface="Lucida Sans Unicode"/>
                  </a:rPr>
                  <a:t>[</a:t>
                </a:r>
                <a:r>
                  <a:rPr sz="2000" spc="-40" dirty="0">
                    <a:solidFill>
                      <a:srgbClr val="032E61"/>
                    </a:solidFill>
                    <a:latin typeface="+mn-lt"/>
                    <a:cs typeface="Lucida Sans Unicode"/>
                  </a:rPr>
                  <a:t>'keywords'</a:t>
                </a:r>
                <a:r>
                  <a:rPr sz="2000" spc="-40" dirty="0">
                    <a:solidFill>
                      <a:srgbClr val="005CC4"/>
                    </a:solidFill>
                    <a:latin typeface="+mn-lt"/>
                    <a:cs typeface="Lucida Sans Unicode"/>
                  </a:rPr>
                  <a:t>]</a:t>
                </a:r>
                <a:r>
                  <a:rPr sz="2000" spc="90" dirty="0">
                    <a:solidFill>
                      <a:srgbClr val="005CC4"/>
                    </a:solidFill>
                    <a:latin typeface="+mn-lt"/>
                    <a:cs typeface="Lucida Sans Unicode"/>
                  </a:rPr>
                  <a:t> </a:t>
                </a:r>
                <a:r>
                  <a:rPr sz="2000" spc="-434" dirty="0">
                    <a:solidFill>
                      <a:srgbClr val="373737"/>
                    </a:solidFill>
                    <a:latin typeface="+mn-lt"/>
                    <a:cs typeface="Lucida Sans Unicode"/>
                  </a:rPr>
                  <a:t>+</a:t>
                </a:r>
                <a:r>
                  <a:rPr sz="2000" spc="-40" dirty="0">
                    <a:solidFill>
                      <a:srgbClr val="373737"/>
                    </a:solidFill>
                    <a:latin typeface="+mn-lt"/>
                    <a:cs typeface="Lucida Sans Unicode"/>
                  </a:rPr>
                  <a:t> movies_data</a:t>
                </a:r>
                <a:r>
                  <a:rPr sz="2000" spc="-40" dirty="0">
                    <a:solidFill>
                      <a:srgbClr val="005CC4"/>
                    </a:solidFill>
                    <a:latin typeface="+mn-lt"/>
                    <a:cs typeface="Lucida Sans Unicode"/>
                  </a:rPr>
                  <a:t>[</a:t>
                </a:r>
                <a:r>
                  <a:rPr sz="2000" spc="-40" dirty="0">
                    <a:solidFill>
                      <a:srgbClr val="032E61"/>
                    </a:solidFill>
                    <a:latin typeface="+mn-lt"/>
                    <a:cs typeface="Lucida Sans Unicode"/>
                  </a:rPr>
                  <a:t>'tagline'</a:t>
                </a:r>
                <a:r>
                  <a:rPr sz="2000" spc="-40" dirty="0">
                    <a:solidFill>
                      <a:srgbClr val="005CC4"/>
                    </a:solidFill>
                    <a:latin typeface="+mn-lt"/>
                    <a:cs typeface="Lucida Sans Unicode"/>
                  </a:rPr>
                  <a:t>]</a:t>
                </a:r>
                <a:r>
                  <a:rPr sz="2000" spc="75" dirty="0">
                    <a:solidFill>
                      <a:srgbClr val="005CC4"/>
                    </a:solidFill>
                    <a:latin typeface="+mn-lt"/>
                    <a:cs typeface="Lucida Sans Unicode"/>
                  </a:rPr>
                  <a:t> </a:t>
                </a:r>
                <a:r>
                  <a:rPr sz="2000" spc="-434" dirty="0">
                    <a:solidFill>
                      <a:srgbClr val="373737"/>
                    </a:solidFill>
                    <a:latin typeface="+mn-lt"/>
                    <a:cs typeface="Lucida Sans Unicode"/>
                  </a:rPr>
                  <a:t>+</a:t>
                </a:r>
                <a:r>
                  <a:rPr sz="2000" spc="-35" dirty="0">
                    <a:solidFill>
                      <a:srgbClr val="373737"/>
                    </a:solidFill>
                    <a:latin typeface="+mn-lt"/>
                    <a:cs typeface="Lucida Sans Unicode"/>
                  </a:rPr>
                  <a:t> movies_data</a:t>
                </a:r>
                <a:r>
                  <a:rPr sz="2000" spc="-35" dirty="0">
                    <a:solidFill>
                      <a:srgbClr val="005CC4"/>
                    </a:solidFill>
                    <a:latin typeface="+mn-lt"/>
                    <a:cs typeface="Lucida Sans Unicode"/>
                  </a:rPr>
                  <a:t>[</a:t>
                </a:r>
                <a:r>
                  <a:rPr sz="2000" spc="-35" dirty="0">
                    <a:solidFill>
                      <a:srgbClr val="032E61"/>
                    </a:solidFill>
                    <a:latin typeface="+mn-lt"/>
                    <a:cs typeface="Lucida Sans Unicode"/>
                  </a:rPr>
                  <a:t>'cast'</a:t>
                </a:r>
                <a:r>
                  <a:rPr sz="2000" spc="-35" dirty="0">
                    <a:solidFill>
                      <a:srgbClr val="005CC4"/>
                    </a:solidFill>
                    <a:latin typeface="+mn-lt"/>
                    <a:cs typeface="Lucida Sans Unicode"/>
                  </a:rPr>
                  <a:t>]</a:t>
                </a:r>
                <a:r>
                  <a:rPr sz="2000" spc="-30" dirty="0">
                    <a:solidFill>
                      <a:srgbClr val="005CC4"/>
                    </a:solidFill>
                    <a:latin typeface="+mn-lt"/>
                    <a:cs typeface="Lucida Sans Unicode"/>
                  </a:rPr>
                  <a:t> </a:t>
                </a:r>
                <a:r>
                  <a:rPr sz="2000" spc="-434" dirty="0">
                    <a:solidFill>
                      <a:srgbClr val="373737"/>
                    </a:solidFill>
                    <a:latin typeface="+mn-lt"/>
                    <a:cs typeface="Lucida Sans Unicode"/>
                  </a:rPr>
                  <a:t>+</a:t>
                </a:r>
                <a:r>
                  <a:rPr sz="2000" spc="-10" dirty="0">
                    <a:solidFill>
                      <a:srgbClr val="373737"/>
                    </a:solidFill>
                    <a:latin typeface="+mn-lt"/>
                    <a:cs typeface="Lucida Sans Unicode"/>
                  </a:rPr>
                  <a:t> movies_data</a:t>
                </a:r>
                <a:r>
                  <a:rPr sz="2000" spc="-10" dirty="0">
                    <a:solidFill>
                      <a:srgbClr val="005CC4"/>
                    </a:solidFill>
                    <a:latin typeface="+mn-lt"/>
                    <a:cs typeface="Lucida Sans Unicode"/>
                  </a:rPr>
                  <a:t>[</a:t>
                </a:r>
                <a:r>
                  <a:rPr sz="2000" spc="-10" dirty="0">
                    <a:solidFill>
                      <a:srgbClr val="032E61"/>
                    </a:solidFill>
                    <a:latin typeface="+mn-lt"/>
                    <a:cs typeface="Lucida Sans Unicode"/>
                  </a:rPr>
                  <a:t>'director'</a:t>
                </a:r>
                <a:r>
                  <a:rPr sz="2000" spc="-10" dirty="0">
                    <a:solidFill>
                      <a:srgbClr val="005CC4"/>
                    </a:solidFill>
                    <a:latin typeface="+mn-lt"/>
                    <a:cs typeface="Lucida Sans Unicode"/>
                  </a:rPr>
                  <a:t>]</a:t>
                </a:r>
                <a:endParaRPr sz="2000" dirty="0">
                  <a:latin typeface="+mn-lt"/>
                  <a:cs typeface="Lucida Sans Unicode"/>
                </a:endParaRPr>
              </a:p>
              <a:p>
                <a:pPr>
                  <a:lnSpc>
                    <a:spcPct val="100000"/>
                  </a:lnSpc>
                  <a:spcBef>
                    <a:spcPts val="1639"/>
                  </a:spcBef>
                </a:pPr>
                <a:endParaRPr sz="2000" dirty="0">
                  <a:latin typeface="+mn-lt"/>
                  <a:cs typeface="Lucida Sans Unicode"/>
                </a:endParaRPr>
              </a:p>
              <a:p>
                <a:pPr marL="12700">
                  <a:lnSpc>
                    <a:spcPct val="100000"/>
                  </a:lnSpc>
                </a:pPr>
                <a:r>
                  <a:rPr sz="2000" spc="-145" dirty="0">
                    <a:solidFill>
                      <a:srgbClr val="373737"/>
                    </a:solidFill>
                    <a:latin typeface="+mn-lt"/>
                    <a:cs typeface="Trebuchet MS"/>
                  </a:rPr>
                  <a:t>This</a:t>
                </a:r>
                <a:r>
                  <a:rPr sz="2000" spc="-80" dirty="0">
                    <a:solidFill>
                      <a:srgbClr val="373737"/>
                    </a:solidFill>
                    <a:latin typeface="+mn-lt"/>
                    <a:cs typeface="Trebuchet MS"/>
                  </a:rPr>
                  <a:t> </a:t>
                </a:r>
                <a:r>
                  <a:rPr sz="2000" spc="-155" dirty="0">
                    <a:solidFill>
                      <a:srgbClr val="373737"/>
                    </a:solidFill>
                    <a:latin typeface="+mn-lt"/>
                    <a:cs typeface="Trebuchet MS"/>
                  </a:rPr>
                  <a:t>creates</a:t>
                </a:r>
                <a:r>
                  <a:rPr sz="2000" spc="-80" dirty="0">
                    <a:solidFill>
                      <a:srgbClr val="373737"/>
                    </a:solidFill>
                    <a:latin typeface="+mn-lt"/>
                    <a:cs typeface="Trebuchet MS"/>
                  </a:rPr>
                  <a:t> </a:t>
                </a:r>
                <a:r>
                  <a:rPr sz="2000" spc="-175" dirty="0">
                    <a:solidFill>
                      <a:srgbClr val="373737"/>
                    </a:solidFill>
                    <a:latin typeface="+mn-lt"/>
                    <a:cs typeface="Trebuchet MS"/>
                  </a:rPr>
                  <a:t>unified</a:t>
                </a:r>
                <a:r>
                  <a:rPr sz="2000" spc="-80" dirty="0">
                    <a:solidFill>
                      <a:srgbClr val="373737"/>
                    </a:solidFill>
                    <a:latin typeface="+mn-lt"/>
                    <a:cs typeface="Trebuchet MS"/>
                  </a:rPr>
                  <a:t> </a:t>
                </a:r>
                <a:r>
                  <a:rPr sz="2000" spc="-135" dirty="0">
                    <a:solidFill>
                      <a:srgbClr val="373737"/>
                    </a:solidFill>
                    <a:latin typeface="+mn-lt"/>
                    <a:cs typeface="Trebuchet MS"/>
                  </a:rPr>
                  <a:t>text</a:t>
                </a:r>
                <a:r>
                  <a:rPr sz="2000" spc="-75" dirty="0">
                    <a:solidFill>
                      <a:srgbClr val="373737"/>
                    </a:solidFill>
                    <a:latin typeface="+mn-lt"/>
                    <a:cs typeface="Trebuchet MS"/>
                  </a:rPr>
                  <a:t> </a:t>
                </a:r>
                <a:r>
                  <a:rPr sz="2000" spc="-155" dirty="0">
                    <a:solidFill>
                      <a:srgbClr val="373737"/>
                    </a:solidFill>
                    <a:latin typeface="+mn-lt"/>
                    <a:cs typeface="Trebuchet MS"/>
                  </a:rPr>
                  <a:t>representation</a:t>
                </a:r>
                <a:r>
                  <a:rPr sz="2000" spc="-80" dirty="0">
                    <a:solidFill>
                      <a:srgbClr val="373737"/>
                    </a:solidFill>
                    <a:latin typeface="+mn-lt"/>
                    <a:cs typeface="Trebuchet MS"/>
                  </a:rPr>
                  <a:t> </a:t>
                </a:r>
                <a:r>
                  <a:rPr sz="2000" spc="-95" dirty="0">
                    <a:solidFill>
                      <a:srgbClr val="373737"/>
                    </a:solidFill>
                    <a:latin typeface="+mn-lt"/>
                    <a:cs typeface="Trebuchet MS"/>
                  </a:rPr>
                  <a:t>for</a:t>
                </a:r>
                <a:r>
                  <a:rPr sz="2000" spc="-80" dirty="0">
                    <a:solidFill>
                      <a:srgbClr val="373737"/>
                    </a:solidFill>
                    <a:latin typeface="+mn-lt"/>
                    <a:cs typeface="Trebuchet MS"/>
                  </a:rPr>
                  <a:t> </a:t>
                </a:r>
                <a:r>
                  <a:rPr sz="2000" spc="-225" dirty="0">
                    <a:solidFill>
                      <a:srgbClr val="373737"/>
                    </a:solidFill>
                    <a:latin typeface="+mn-lt"/>
                    <a:cs typeface="Trebuchet MS"/>
                  </a:rPr>
                  <a:t>each</a:t>
                </a:r>
                <a:r>
                  <a:rPr sz="2000" spc="-75" dirty="0">
                    <a:solidFill>
                      <a:srgbClr val="373737"/>
                    </a:solidFill>
                    <a:latin typeface="+mn-lt"/>
                    <a:cs typeface="Trebuchet MS"/>
                  </a:rPr>
                  <a:t> </a:t>
                </a:r>
                <a:r>
                  <a:rPr sz="2000" spc="-165" dirty="0">
                    <a:solidFill>
                      <a:srgbClr val="373737"/>
                    </a:solidFill>
                    <a:latin typeface="+mn-lt"/>
                    <a:cs typeface="Trebuchet MS"/>
                  </a:rPr>
                  <a:t>movie.</a:t>
                </a:r>
                <a:endParaRPr sz="2000" dirty="0">
                  <a:latin typeface="+mn-lt"/>
                  <a:cs typeface="Trebuchet MS"/>
                </a:endParaRPr>
              </a:p>
            </p:txBody>
          </p:sp>
        </p:grp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0D93567-6560-C432-C1B4-16D5A56B3715}"/>
              </a:ext>
            </a:extLst>
          </p:cNvPr>
          <p:cNvGrpSpPr/>
          <p:nvPr/>
        </p:nvGrpSpPr>
        <p:grpSpPr>
          <a:xfrm>
            <a:off x="6438103" y="1985177"/>
            <a:ext cx="4001297" cy="4034623"/>
            <a:chOff x="7414603" y="2763531"/>
            <a:chExt cx="4554709" cy="3271280"/>
          </a:xfrm>
        </p:grpSpPr>
        <p:sp>
          <p:nvSpPr>
            <p:cNvPr id="7" name="object 7"/>
            <p:cNvSpPr/>
            <p:nvPr/>
          </p:nvSpPr>
          <p:spPr>
            <a:xfrm>
              <a:off x="7772400" y="3271442"/>
              <a:ext cx="1600356" cy="400011"/>
            </a:xfrm>
            <a:custGeom>
              <a:avLst/>
              <a:gdLst/>
              <a:ahLst/>
              <a:cxnLst/>
              <a:rect l="l" t="t" r="r" b="b"/>
              <a:pathLst>
                <a:path w="1563370" h="288925">
                  <a:moveTo>
                    <a:pt x="1540510" y="288449"/>
                  </a:moveTo>
                  <a:lnTo>
                    <a:pt x="22699" y="288449"/>
                  </a:lnTo>
                  <a:lnTo>
                    <a:pt x="19361" y="287785"/>
                  </a:lnTo>
                  <a:lnTo>
                    <a:pt x="0" y="265749"/>
                  </a:lnTo>
                  <a:lnTo>
                    <a:pt x="0" y="262279"/>
                  </a:lnTo>
                  <a:lnTo>
                    <a:pt x="0" y="22699"/>
                  </a:lnTo>
                  <a:lnTo>
                    <a:pt x="22699" y="0"/>
                  </a:lnTo>
                  <a:lnTo>
                    <a:pt x="1540510" y="0"/>
                  </a:lnTo>
                  <a:lnTo>
                    <a:pt x="1563209" y="22699"/>
                  </a:lnTo>
                  <a:lnTo>
                    <a:pt x="1563209" y="265749"/>
                  </a:lnTo>
                  <a:lnTo>
                    <a:pt x="1543848" y="287784"/>
                  </a:lnTo>
                  <a:lnTo>
                    <a:pt x="1540510" y="288449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11" name="object 11"/>
            <p:cNvSpPr txBox="1"/>
            <p:nvPr/>
          </p:nvSpPr>
          <p:spPr>
            <a:xfrm>
              <a:off x="7414603" y="2763531"/>
              <a:ext cx="4554709" cy="327128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2000" spc="-145" dirty="0">
                  <a:solidFill>
                    <a:srgbClr val="373737"/>
                  </a:solidFill>
                  <a:latin typeface="+mn-lt"/>
                  <a:cs typeface="Trebuchet MS"/>
                </a:rPr>
                <a:t>Vectorization</a:t>
              </a:r>
              <a:r>
                <a:rPr sz="2000" spc="-45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10" dirty="0">
                  <a:solidFill>
                    <a:srgbClr val="373737"/>
                  </a:solidFill>
                  <a:latin typeface="+mn-lt"/>
                  <a:cs typeface="Trebuchet MS"/>
                </a:rPr>
                <a:t>Results</a:t>
              </a:r>
              <a:endParaRPr sz="2000" dirty="0">
                <a:latin typeface="+mn-lt"/>
                <a:cs typeface="Trebuchet MS"/>
              </a:endParaRPr>
            </a:p>
            <a:p>
              <a:pPr marL="354965" marR="5080" indent="-342900">
                <a:lnSpc>
                  <a:spcPts val="4100"/>
                </a:lnSpc>
                <a:spcBef>
                  <a:spcPts val="420"/>
                </a:spcBef>
                <a:buFont typeface="Arial" panose="020B0604020202020204" pitchFamily="34" charset="0"/>
                <a:buChar char="•"/>
              </a:pPr>
              <a:r>
                <a:rPr sz="2000" spc="-60" dirty="0">
                  <a:solidFill>
                    <a:srgbClr val="373737"/>
                  </a:solidFill>
                  <a:latin typeface="+mn-lt"/>
                  <a:cs typeface="Lucida Sans Unicode"/>
                </a:rPr>
                <a:t>TfidfVectorizer()</a:t>
              </a:r>
              <a:r>
                <a:rPr sz="2000" spc="-90" dirty="0">
                  <a:solidFill>
                    <a:srgbClr val="373737"/>
                  </a:solidFill>
                  <a:latin typeface="+mn-lt"/>
                  <a:cs typeface="Lucida Sans Unicode"/>
                </a:rPr>
                <a:t> </a:t>
              </a:r>
              <a:r>
                <a:rPr sz="2000" spc="-150" dirty="0">
                  <a:solidFill>
                    <a:srgbClr val="373737"/>
                  </a:solidFill>
                  <a:latin typeface="+mn-lt"/>
                  <a:cs typeface="Trebuchet MS"/>
                </a:rPr>
                <a:t>transformed</a:t>
              </a:r>
              <a:r>
                <a:rPr sz="2000" spc="-65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135" dirty="0">
                  <a:solidFill>
                    <a:srgbClr val="373737"/>
                  </a:solidFill>
                  <a:latin typeface="+mn-lt"/>
                  <a:cs typeface="Trebuchet MS"/>
                </a:rPr>
                <a:t>text</a:t>
              </a:r>
              <a:r>
                <a:rPr sz="2000" spc="-60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155" dirty="0">
                  <a:solidFill>
                    <a:srgbClr val="373737"/>
                  </a:solidFill>
                  <a:latin typeface="+mn-lt"/>
                  <a:cs typeface="Trebuchet MS"/>
                </a:rPr>
                <a:t>into</a:t>
              </a:r>
              <a:r>
                <a:rPr sz="2000" spc="-65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135" dirty="0">
                  <a:solidFill>
                    <a:srgbClr val="373737"/>
                  </a:solidFill>
                  <a:latin typeface="+mn-lt"/>
                  <a:cs typeface="Trebuchet MS"/>
                </a:rPr>
                <a:t>sparse</a:t>
              </a:r>
              <a:r>
                <a:rPr sz="2000" spc="-60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125" dirty="0">
                  <a:solidFill>
                    <a:srgbClr val="373737"/>
                  </a:solidFill>
                  <a:latin typeface="+mn-lt"/>
                  <a:cs typeface="Trebuchet MS"/>
                </a:rPr>
                <a:t>matrix: </a:t>
              </a:r>
              <a:r>
                <a:rPr sz="2000" spc="-200" dirty="0">
                  <a:solidFill>
                    <a:srgbClr val="373737"/>
                  </a:solidFill>
                  <a:latin typeface="+mn-lt"/>
                  <a:cs typeface="Trebuchet MS"/>
                </a:rPr>
                <a:t>Shape:</a:t>
              </a:r>
              <a:r>
                <a:rPr sz="2000" spc="-95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170" dirty="0">
                  <a:solidFill>
                    <a:srgbClr val="373737"/>
                  </a:solidFill>
                  <a:latin typeface="+mn-lt"/>
                  <a:cs typeface="Trebuchet MS"/>
                </a:rPr>
                <a:t>(4,803</a:t>
              </a:r>
              <a:r>
                <a:rPr sz="2000" spc="-95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180" dirty="0">
                  <a:solidFill>
                    <a:srgbClr val="373737"/>
                  </a:solidFill>
                  <a:latin typeface="+mn-lt"/>
                  <a:cs typeface="Trebuchet MS"/>
                </a:rPr>
                <a:t>movies</a:t>
              </a:r>
              <a:r>
                <a:rPr sz="2000" spc="-90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65" dirty="0">
                  <a:solidFill>
                    <a:srgbClr val="373737"/>
                  </a:solidFill>
                  <a:latin typeface="+mn-lt"/>
                  <a:cs typeface="Trebuchet MS"/>
                </a:rPr>
                <a:t>×</a:t>
              </a:r>
              <a:r>
                <a:rPr sz="2000" spc="-95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195" dirty="0">
                  <a:solidFill>
                    <a:srgbClr val="373737"/>
                  </a:solidFill>
                  <a:latin typeface="+mn-lt"/>
                  <a:cs typeface="Trebuchet MS"/>
                </a:rPr>
                <a:t>17,318</a:t>
              </a:r>
              <a:r>
                <a:rPr sz="2000" spc="-90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10" dirty="0">
                  <a:solidFill>
                    <a:srgbClr val="373737"/>
                  </a:solidFill>
                  <a:latin typeface="+mn-lt"/>
                  <a:cs typeface="Trebuchet MS"/>
                </a:rPr>
                <a:t>features)</a:t>
              </a:r>
              <a:endParaRPr sz="2000" dirty="0">
                <a:latin typeface="+mn-lt"/>
                <a:cs typeface="Trebuchet MS"/>
              </a:endParaRPr>
            </a:p>
            <a:p>
              <a:pPr marL="690245" indent="-342900">
                <a:lnSpc>
                  <a:spcPct val="100000"/>
                </a:lnSpc>
                <a:spcBef>
                  <a:spcPts val="760"/>
                </a:spcBef>
                <a:buFont typeface="Arial" panose="020B0604020202020204" pitchFamily="34" charset="0"/>
                <a:buChar char="•"/>
              </a:pPr>
              <a:r>
                <a:rPr sz="2000" spc="-135" dirty="0">
                  <a:solidFill>
                    <a:srgbClr val="373737"/>
                  </a:solidFill>
                  <a:latin typeface="+mn-lt"/>
                  <a:cs typeface="Trebuchet MS"/>
                </a:rPr>
                <a:t>Non-</a:t>
              </a:r>
              <a:r>
                <a:rPr sz="2000" spc="-150" dirty="0">
                  <a:solidFill>
                    <a:srgbClr val="373737"/>
                  </a:solidFill>
                  <a:latin typeface="+mn-lt"/>
                  <a:cs typeface="Trebuchet MS"/>
                </a:rPr>
                <a:t>zero</a:t>
              </a:r>
              <a:r>
                <a:rPr sz="2000" spc="-70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180" dirty="0">
                  <a:solidFill>
                    <a:srgbClr val="373737"/>
                  </a:solidFill>
                  <a:latin typeface="+mn-lt"/>
                  <a:cs typeface="Trebuchet MS"/>
                </a:rPr>
                <a:t>elements:</a:t>
              </a:r>
              <a:r>
                <a:rPr sz="2000" spc="-70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50" dirty="0">
                  <a:solidFill>
                    <a:srgbClr val="373737"/>
                  </a:solidFill>
                  <a:latin typeface="+mn-lt"/>
                  <a:cs typeface="Trebuchet MS"/>
                </a:rPr>
                <a:t>124,266</a:t>
              </a:r>
              <a:endParaRPr sz="2000" dirty="0">
                <a:latin typeface="+mn-lt"/>
                <a:cs typeface="Trebuchet MS"/>
              </a:endParaRPr>
            </a:p>
            <a:p>
              <a:pPr marL="690245" indent="-342900">
                <a:lnSpc>
                  <a:spcPct val="100000"/>
                </a:lnSpc>
                <a:spcBef>
                  <a:spcPts val="1240"/>
                </a:spcBef>
                <a:buFont typeface="Arial" panose="020B0604020202020204" pitchFamily="34" charset="0"/>
                <a:buChar char="•"/>
              </a:pPr>
              <a:r>
                <a:rPr sz="2000" spc="-160" dirty="0">
                  <a:solidFill>
                    <a:srgbClr val="373737"/>
                  </a:solidFill>
                  <a:latin typeface="+mn-lt"/>
                  <a:cs typeface="Trebuchet MS"/>
                </a:rPr>
                <a:t>Density:</a:t>
              </a:r>
              <a:r>
                <a:rPr sz="2000" spc="-60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10" dirty="0">
                  <a:solidFill>
                    <a:srgbClr val="373737"/>
                  </a:solidFill>
                  <a:latin typeface="+mn-lt"/>
                  <a:cs typeface="Trebuchet MS"/>
                </a:rPr>
                <a:t>~0.15%</a:t>
              </a:r>
              <a:endParaRPr sz="2000" dirty="0">
                <a:latin typeface="+mn-lt"/>
                <a:cs typeface="Trebuchet MS"/>
              </a:endParaRPr>
            </a:p>
            <a:p>
              <a:pPr marL="12700" marR="118110">
                <a:lnSpc>
                  <a:spcPct val="133200"/>
                </a:lnSpc>
                <a:spcBef>
                  <a:spcPts val="1470"/>
                </a:spcBef>
              </a:pPr>
              <a:r>
                <a:rPr sz="2000" spc="-135" dirty="0">
                  <a:solidFill>
                    <a:srgbClr val="373737"/>
                  </a:solidFill>
                  <a:latin typeface="+mn-lt"/>
                  <a:cs typeface="Trebuchet MS"/>
                </a:rPr>
                <a:t>TF-</a:t>
              </a:r>
              <a:r>
                <a:rPr sz="2000" spc="-195" dirty="0">
                  <a:solidFill>
                    <a:srgbClr val="373737"/>
                  </a:solidFill>
                  <a:latin typeface="+mn-lt"/>
                  <a:cs typeface="Trebuchet MS"/>
                </a:rPr>
                <a:t>IDF</a:t>
              </a:r>
              <a:r>
                <a:rPr sz="2000" spc="-75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185" dirty="0">
                  <a:solidFill>
                    <a:srgbClr val="373737"/>
                  </a:solidFill>
                  <a:latin typeface="+mn-lt"/>
                  <a:cs typeface="Trebuchet MS"/>
                </a:rPr>
                <a:t>weighting</a:t>
              </a:r>
              <a:r>
                <a:rPr sz="2000" spc="-75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160" dirty="0">
                  <a:solidFill>
                    <a:srgbClr val="373737"/>
                  </a:solidFill>
                  <a:latin typeface="+mn-lt"/>
                  <a:cs typeface="Trebuchet MS"/>
                </a:rPr>
                <a:t>captures</a:t>
              </a:r>
              <a:r>
                <a:rPr sz="2000" spc="-75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155" dirty="0">
                  <a:solidFill>
                    <a:srgbClr val="373737"/>
                  </a:solidFill>
                  <a:latin typeface="+mn-lt"/>
                  <a:cs typeface="Trebuchet MS"/>
                </a:rPr>
                <a:t>term</a:t>
              </a:r>
              <a:r>
                <a:rPr sz="2000" spc="-70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180" dirty="0">
                  <a:solidFill>
                    <a:srgbClr val="373737"/>
                  </a:solidFill>
                  <a:latin typeface="+mn-lt"/>
                  <a:cs typeface="Trebuchet MS"/>
                </a:rPr>
                <a:t>importance</a:t>
              </a:r>
              <a:r>
                <a:rPr sz="2000" spc="-75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125" dirty="0">
                  <a:solidFill>
                    <a:srgbClr val="373737"/>
                  </a:solidFill>
                  <a:latin typeface="+mn-lt"/>
                  <a:cs typeface="Trebuchet MS"/>
                </a:rPr>
                <a:t>across</a:t>
              </a:r>
              <a:r>
                <a:rPr sz="2000" spc="-75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165" dirty="0">
                  <a:solidFill>
                    <a:srgbClr val="373737"/>
                  </a:solidFill>
                  <a:latin typeface="+mn-lt"/>
                  <a:cs typeface="Trebuchet MS"/>
                </a:rPr>
                <a:t>movie </a:t>
              </a:r>
              <a:r>
                <a:rPr sz="2000" spc="-80" dirty="0">
                  <a:solidFill>
                    <a:srgbClr val="373737"/>
                  </a:solidFill>
                  <a:latin typeface="+mn-lt"/>
                  <a:cs typeface="Trebuchet MS"/>
                </a:rPr>
                <a:t>descriptions.</a:t>
              </a:r>
              <a:endParaRPr sz="2000" dirty="0">
                <a:latin typeface="+mn-lt"/>
                <a:cs typeface="Trebuchet MS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06350" y="253"/>
            <a:ext cx="5123649" cy="8991347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02813" y="464078"/>
            <a:ext cx="4426387" cy="784937"/>
          </a:xfrm>
          <a:prstGeom prst="rect">
            <a:avLst/>
          </a:prstGeom>
        </p:spPr>
        <p:txBody>
          <a:bodyPr vert="horz" wrap="square" lIns="0" tIns="167746" rIns="0" bIns="0" rtlCol="0">
            <a:spAutoFit/>
          </a:bodyPr>
          <a:lstStyle/>
          <a:p>
            <a:pPr marL="146685">
              <a:lnSpc>
                <a:spcPct val="100000"/>
              </a:lnSpc>
              <a:spcBef>
                <a:spcPts val="125"/>
              </a:spcBef>
            </a:pPr>
            <a:r>
              <a:rPr sz="4000" spc="-390" dirty="0">
                <a:latin typeface="+mn-lt"/>
              </a:rPr>
              <a:t>Model</a:t>
            </a:r>
            <a:r>
              <a:rPr sz="4000" spc="-240" dirty="0">
                <a:latin typeface="+mn-lt"/>
              </a:rPr>
              <a:t> </a:t>
            </a:r>
            <a:r>
              <a:rPr sz="4000" spc="-310" dirty="0">
                <a:latin typeface="+mn-lt"/>
              </a:rPr>
              <a:t>Architecture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457200" y="1457006"/>
            <a:ext cx="1447800" cy="5934394"/>
            <a:chOff x="745777" y="1488727"/>
            <a:chExt cx="1085215" cy="4324985"/>
          </a:xfrm>
        </p:grpSpPr>
        <p:sp>
          <p:nvSpPr>
            <p:cNvPr id="7" name="object 7"/>
            <p:cNvSpPr/>
            <p:nvPr/>
          </p:nvSpPr>
          <p:spPr>
            <a:xfrm>
              <a:off x="752475" y="1495424"/>
              <a:ext cx="1071880" cy="1511300"/>
            </a:xfrm>
            <a:custGeom>
              <a:avLst/>
              <a:gdLst/>
              <a:ahLst/>
              <a:cxnLst/>
              <a:rect l="l" t="t" r="r" b="b"/>
              <a:pathLst>
                <a:path w="1071880" h="1511300">
                  <a:moveTo>
                    <a:pt x="1071562" y="0"/>
                  </a:moveTo>
                  <a:lnTo>
                    <a:pt x="535787" y="214312"/>
                  </a:lnTo>
                  <a:lnTo>
                    <a:pt x="0" y="0"/>
                  </a:lnTo>
                  <a:lnTo>
                    <a:pt x="0" y="1296593"/>
                  </a:lnTo>
                  <a:lnTo>
                    <a:pt x="535787" y="1510906"/>
                  </a:lnTo>
                  <a:lnTo>
                    <a:pt x="1071562" y="1296593"/>
                  </a:lnTo>
                  <a:lnTo>
                    <a:pt x="1071562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752475" y="1495424"/>
              <a:ext cx="1071880" cy="1511300"/>
            </a:xfrm>
            <a:custGeom>
              <a:avLst/>
              <a:gdLst/>
              <a:ahLst/>
              <a:cxnLst/>
              <a:rect l="l" t="t" r="r" b="b"/>
              <a:pathLst>
                <a:path w="1071880" h="1511300">
                  <a:moveTo>
                    <a:pt x="0" y="1296593"/>
                  </a:moveTo>
                  <a:lnTo>
                    <a:pt x="535787" y="1510906"/>
                  </a:lnTo>
                  <a:lnTo>
                    <a:pt x="1071562" y="1296593"/>
                  </a:lnTo>
                  <a:lnTo>
                    <a:pt x="1071562" y="0"/>
                  </a:lnTo>
                  <a:lnTo>
                    <a:pt x="535787" y="214312"/>
                  </a:lnTo>
                  <a:lnTo>
                    <a:pt x="0" y="0"/>
                  </a:lnTo>
                  <a:lnTo>
                    <a:pt x="0" y="1296593"/>
                  </a:lnTo>
                  <a:close/>
                </a:path>
              </a:pathLst>
            </a:custGeom>
            <a:ln w="13394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48244" y="2079256"/>
              <a:ext cx="272974" cy="335305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155189" y="2085911"/>
              <a:ext cx="177800" cy="291465"/>
            </a:xfrm>
            <a:custGeom>
              <a:avLst/>
              <a:gdLst/>
              <a:ahLst/>
              <a:cxnLst/>
              <a:rect l="l" t="t" r="r" b="b"/>
              <a:pathLst>
                <a:path w="177800" h="291464">
                  <a:moveTo>
                    <a:pt x="167" y="291325"/>
                  </a:moveTo>
                  <a:lnTo>
                    <a:pt x="167" y="23698"/>
                  </a:lnTo>
                </a:path>
                <a:path w="177800" h="291464">
                  <a:moveTo>
                    <a:pt x="163" y="23698"/>
                  </a:moveTo>
                  <a:lnTo>
                    <a:pt x="0" y="21932"/>
                  </a:lnTo>
                  <a:lnTo>
                    <a:pt x="49" y="20167"/>
                  </a:lnTo>
                  <a:lnTo>
                    <a:pt x="317" y="18427"/>
                  </a:lnTo>
                  <a:lnTo>
                    <a:pt x="580" y="16675"/>
                  </a:lnTo>
                  <a:lnTo>
                    <a:pt x="1056" y="14986"/>
                  </a:lnTo>
                  <a:lnTo>
                    <a:pt x="1741" y="13347"/>
                  </a:lnTo>
                  <a:lnTo>
                    <a:pt x="2420" y="11709"/>
                  </a:lnTo>
                  <a:lnTo>
                    <a:pt x="20939" y="0"/>
                  </a:lnTo>
                  <a:lnTo>
                    <a:pt x="22710" y="88"/>
                  </a:lnTo>
                  <a:lnTo>
                    <a:pt x="24476" y="165"/>
                  </a:lnTo>
                  <a:lnTo>
                    <a:pt x="26207" y="469"/>
                  </a:lnTo>
                  <a:lnTo>
                    <a:pt x="27904" y="977"/>
                  </a:lnTo>
                </a:path>
                <a:path w="177800" h="291464">
                  <a:moveTo>
                    <a:pt x="28083" y="381"/>
                  </a:moveTo>
                  <a:lnTo>
                    <a:pt x="177612" y="444"/>
                  </a:lnTo>
                </a:path>
              </a:pathLst>
            </a:custGeom>
            <a:ln w="14224">
              <a:solidFill>
                <a:srgbClr val="373737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752475" y="3009899"/>
              <a:ext cx="1071880" cy="1285875"/>
            </a:xfrm>
            <a:custGeom>
              <a:avLst/>
              <a:gdLst/>
              <a:ahLst/>
              <a:cxnLst/>
              <a:rect l="l" t="t" r="r" b="b"/>
              <a:pathLst>
                <a:path w="1071880" h="1285875">
                  <a:moveTo>
                    <a:pt x="1071562" y="0"/>
                  </a:moveTo>
                  <a:lnTo>
                    <a:pt x="535787" y="214312"/>
                  </a:lnTo>
                  <a:lnTo>
                    <a:pt x="0" y="0"/>
                  </a:lnTo>
                  <a:lnTo>
                    <a:pt x="0" y="1071562"/>
                  </a:lnTo>
                  <a:lnTo>
                    <a:pt x="535787" y="1285875"/>
                  </a:lnTo>
                  <a:lnTo>
                    <a:pt x="1071562" y="1071562"/>
                  </a:lnTo>
                  <a:lnTo>
                    <a:pt x="1071562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752475" y="3009899"/>
              <a:ext cx="1071880" cy="1285875"/>
            </a:xfrm>
            <a:custGeom>
              <a:avLst/>
              <a:gdLst/>
              <a:ahLst/>
              <a:cxnLst/>
              <a:rect l="l" t="t" r="r" b="b"/>
              <a:pathLst>
                <a:path w="1071880" h="1285875">
                  <a:moveTo>
                    <a:pt x="0" y="1071562"/>
                  </a:moveTo>
                  <a:lnTo>
                    <a:pt x="535787" y="1285875"/>
                  </a:lnTo>
                  <a:lnTo>
                    <a:pt x="1071562" y="1071562"/>
                  </a:lnTo>
                  <a:lnTo>
                    <a:pt x="1071562" y="0"/>
                  </a:lnTo>
                  <a:lnTo>
                    <a:pt x="535787" y="214312"/>
                  </a:lnTo>
                  <a:lnTo>
                    <a:pt x="0" y="0"/>
                  </a:lnTo>
                  <a:lnTo>
                    <a:pt x="0" y="1071562"/>
                  </a:lnTo>
                  <a:close/>
                </a:path>
              </a:pathLst>
            </a:custGeom>
            <a:ln w="13394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43634" y="3478971"/>
              <a:ext cx="282159" cy="33606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752475" y="4295774"/>
              <a:ext cx="1071880" cy="1511300"/>
            </a:xfrm>
            <a:custGeom>
              <a:avLst/>
              <a:gdLst/>
              <a:ahLst/>
              <a:cxnLst/>
              <a:rect l="l" t="t" r="r" b="b"/>
              <a:pathLst>
                <a:path w="1071880" h="1511300">
                  <a:moveTo>
                    <a:pt x="1071562" y="0"/>
                  </a:moveTo>
                  <a:lnTo>
                    <a:pt x="535787" y="214312"/>
                  </a:lnTo>
                  <a:lnTo>
                    <a:pt x="0" y="0"/>
                  </a:lnTo>
                  <a:lnTo>
                    <a:pt x="0" y="1296591"/>
                  </a:lnTo>
                  <a:lnTo>
                    <a:pt x="535787" y="1510903"/>
                  </a:lnTo>
                  <a:lnTo>
                    <a:pt x="1071562" y="1296591"/>
                  </a:lnTo>
                  <a:lnTo>
                    <a:pt x="1071562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752475" y="4295774"/>
              <a:ext cx="1071880" cy="1511300"/>
            </a:xfrm>
            <a:custGeom>
              <a:avLst/>
              <a:gdLst/>
              <a:ahLst/>
              <a:cxnLst/>
              <a:rect l="l" t="t" r="r" b="b"/>
              <a:pathLst>
                <a:path w="1071880" h="1511300">
                  <a:moveTo>
                    <a:pt x="0" y="1296591"/>
                  </a:moveTo>
                  <a:lnTo>
                    <a:pt x="535787" y="1510903"/>
                  </a:lnTo>
                  <a:lnTo>
                    <a:pt x="1071562" y="1296591"/>
                  </a:lnTo>
                  <a:lnTo>
                    <a:pt x="1071562" y="0"/>
                  </a:lnTo>
                  <a:lnTo>
                    <a:pt x="535787" y="214312"/>
                  </a:lnTo>
                  <a:lnTo>
                    <a:pt x="0" y="0"/>
                  </a:lnTo>
                  <a:lnTo>
                    <a:pt x="0" y="1296591"/>
                  </a:lnTo>
                  <a:close/>
                </a:path>
              </a:pathLst>
            </a:custGeom>
            <a:ln w="13394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23970" y="4886324"/>
              <a:ext cx="328673" cy="328615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2391575" y="1338937"/>
            <a:ext cx="3018625" cy="5697842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000" spc="-145" dirty="0">
                <a:solidFill>
                  <a:srgbClr val="373737"/>
                </a:solidFill>
                <a:latin typeface="+mn-lt"/>
                <a:cs typeface="Trebuchet MS"/>
              </a:rPr>
              <a:t>Text</a:t>
            </a:r>
            <a:r>
              <a:rPr sz="2000" spc="-100" dirty="0">
                <a:solidFill>
                  <a:srgbClr val="373737"/>
                </a:solidFill>
                <a:latin typeface="+mn-lt"/>
                <a:cs typeface="Trebuchet MS"/>
              </a:rPr>
              <a:t> </a:t>
            </a:r>
            <a:r>
              <a:rPr sz="2000" spc="-50" dirty="0">
                <a:solidFill>
                  <a:srgbClr val="373737"/>
                </a:solidFill>
                <a:latin typeface="+mn-lt"/>
                <a:cs typeface="Trebuchet MS"/>
              </a:rPr>
              <a:t>Vectorization</a:t>
            </a:r>
            <a:endParaRPr sz="2000" dirty="0">
              <a:latin typeface="+mn-lt"/>
              <a:cs typeface="Trebuchet MS"/>
            </a:endParaRPr>
          </a:p>
          <a:p>
            <a:pPr marL="12700" marR="370840">
              <a:lnSpc>
                <a:spcPct val="136400"/>
              </a:lnSpc>
              <a:spcBef>
                <a:spcPts val="750"/>
              </a:spcBef>
            </a:pPr>
            <a:r>
              <a:rPr sz="2000" spc="-165" dirty="0">
                <a:solidFill>
                  <a:srgbClr val="373737"/>
                </a:solidFill>
                <a:latin typeface="+mn-lt"/>
                <a:cs typeface="Trebuchet MS"/>
              </a:rPr>
              <a:t>TF-</a:t>
            </a:r>
            <a:r>
              <a:rPr sz="2000" spc="-130" dirty="0">
                <a:solidFill>
                  <a:srgbClr val="373737"/>
                </a:solidFill>
                <a:latin typeface="+mn-lt"/>
                <a:cs typeface="Trebuchet MS"/>
              </a:rPr>
              <a:t>IDF</a:t>
            </a:r>
            <a:r>
              <a:rPr sz="2000" spc="-65" dirty="0">
                <a:solidFill>
                  <a:srgbClr val="373737"/>
                </a:solidFill>
                <a:latin typeface="+mn-lt"/>
                <a:cs typeface="Trebuchet MS"/>
              </a:rPr>
              <a:t> </a:t>
            </a:r>
            <a:r>
              <a:rPr sz="2000" spc="-125" dirty="0">
                <a:solidFill>
                  <a:srgbClr val="373737"/>
                </a:solidFill>
                <a:latin typeface="+mn-lt"/>
                <a:cs typeface="Trebuchet MS"/>
              </a:rPr>
              <a:t>converts</a:t>
            </a:r>
            <a:r>
              <a:rPr sz="2000" spc="-65" dirty="0">
                <a:solidFill>
                  <a:srgbClr val="373737"/>
                </a:solidFill>
                <a:latin typeface="+mn-lt"/>
                <a:cs typeface="Trebuchet MS"/>
              </a:rPr>
              <a:t> </a:t>
            </a:r>
            <a:r>
              <a:rPr sz="2000" spc="-190" dirty="0">
                <a:solidFill>
                  <a:srgbClr val="373737"/>
                </a:solidFill>
                <a:latin typeface="+mn-lt"/>
                <a:cs typeface="Trebuchet MS"/>
              </a:rPr>
              <a:t>movie</a:t>
            </a:r>
            <a:r>
              <a:rPr sz="2000" spc="-65" dirty="0">
                <a:solidFill>
                  <a:srgbClr val="373737"/>
                </a:solidFill>
                <a:latin typeface="+mn-lt"/>
                <a:cs typeface="Trebuchet MS"/>
              </a:rPr>
              <a:t> </a:t>
            </a:r>
            <a:r>
              <a:rPr sz="2000" spc="-135" dirty="0">
                <a:solidFill>
                  <a:srgbClr val="373737"/>
                </a:solidFill>
                <a:latin typeface="+mn-lt"/>
                <a:cs typeface="Trebuchet MS"/>
              </a:rPr>
              <a:t>descriptions</a:t>
            </a:r>
            <a:r>
              <a:rPr sz="2000" spc="-65" dirty="0">
                <a:solidFill>
                  <a:srgbClr val="373737"/>
                </a:solidFill>
                <a:latin typeface="+mn-lt"/>
                <a:cs typeface="Trebuchet MS"/>
              </a:rPr>
              <a:t> </a:t>
            </a:r>
            <a:r>
              <a:rPr sz="2000" spc="-135" dirty="0">
                <a:solidFill>
                  <a:srgbClr val="373737"/>
                </a:solidFill>
                <a:latin typeface="+mn-lt"/>
                <a:cs typeface="Trebuchet MS"/>
              </a:rPr>
              <a:t>into</a:t>
            </a:r>
            <a:r>
              <a:rPr sz="2000" spc="-65" dirty="0">
                <a:solidFill>
                  <a:srgbClr val="373737"/>
                </a:solidFill>
                <a:latin typeface="+mn-lt"/>
                <a:cs typeface="Trebuchet MS"/>
              </a:rPr>
              <a:t> </a:t>
            </a:r>
            <a:r>
              <a:rPr sz="2000" spc="-145" dirty="0">
                <a:solidFill>
                  <a:srgbClr val="373737"/>
                </a:solidFill>
                <a:latin typeface="+mn-lt"/>
                <a:cs typeface="Trebuchet MS"/>
              </a:rPr>
              <a:t>numerical </a:t>
            </a:r>
            <a:r>
              <a:rPr sz="2000" spc="-10" dirty="0">
                <a:solidFill>
                  <a:srgbClr val="373737"/>
                </a:solidFill>
                <a:latin typeface="+mn-lt"/>
                <a:cs typeface="Trebuchet MS"/>
              </a:rPr>
              <a:t>vectors</a:t>
            </a:r>
            <a:endParaRPr sz="2000" dirty="0">
              <a:latin typeface="+mn-lt"/>
              <a:cs typeface="Trebuchet MS"/>
            </a:endParaRPr>
          </a:p>
          <a:p>
            <a:pPr>
              <a:lnSpc>
                <a:spcPct val="100000"/>
              </a:lnSpc>
              <a:spcBef>
                <a:spcPts val="1880"/>
              </a:spcBef>
            </a:pPr>
            <a:endParaRPr sz="2000" dirty="0">
              <a:latin typeface="+mn-lt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2000" spc="-135" dirty="0">
                <a:solidFill>
                  <a:srgbClr val="373737"/>
                </a:solidFill>
                <a:latin typeface="+mn-lt"/>
                <a:cs typeface="Trebuchet MS"/>
              </a:rPr>
              <a:t>Cosine</a:t>
            </a:r>
            <a:r>
              <a:rPr sz="2000" spc="-70" dirty="0">
                <a:solidFill>
                  <a:srgbClr val="373737"/>
                </a:solidFill>
                <a:latin typeface="+mn-lt"/>
                <a:cs typeface="Trebuchet MS"/>
              </a:rPr>
              <a:t> </a:t>
            </a:r>
            <a:r>
              <a:rPr sz="2000" spc="-10" dirty="0">
                <a:solidFill>
                  <a:srgbClr val="373737"/>
                </a:solidFill>
                <a:latin typeface="+mn-lt"/>
                <a:cs typeface="Trebuchet MS"/>
              </a:rPr>
              <a:t>Similarity</a:t>
            </a:r>
            <a:endParaRPr sz="2000" dirty="0">
              <a:latin typeface="+mn-lt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470"/>
              </a:spcBef>
            </a:pPr>
            <a:r>
              <a:rPr sz="2000" spc="-160" dirty="0">
                <a:solidFill>
                  <a:srgbClr val="373737"/>
                </a:solidFill>
                <a:latin typeface="+mn-lt"/>
                <a:cs typeface="Trebuchet MS"/>
              </a:rPr>
              <a:t>Computes</a:t>
            </a:r>
            <a:r>
              <a:rPr sz="2000" spc="-75" dirty="0">
                <a:solidFill>
                  <a:srgbClr val="373737"/>
                </a:solidFill>
                <a:latin typeface="+mn-lt"/>
                <a:cs typeface="Trebuchet MS"/>
              </a:rPr>
              <a:t> </a:t>
            </a:r>
            <a:r>
              <a:rPr sz="2000" spc="-165" dirty="0">
                <a:solidFill>
                  <a:srgbClr val="373737"/>
                </a:solidFill>
                <a:latin typeface="+mn-lt"/>
                <a:cs typeface="Trebuchet MS"/>
              </a:rPr>
              <a:t>pairwise</a:t>
            </a:r>
            <a:r>
              <a:rPr sz="2000" spc="-75" dirty="0">
                <a:solidFill>
                  <a:srgbClr val="373737"/>
                </a:solidFill>
                <a:latin typeface="+mn-lt"/>
                <a:cs typeface="Trebuchet MS"/>
              </a:rPr>
              <a:t> </a:t>
            </a:r>
            <a:r>
              <a:rPr sz="2000" spc="-105" dirty="0">
                <a:solidFill>
                  <a:srgbClr val="373737"/>
                </a:solidFill>
                <a:latin typeface="+mn-lt"/>
                <a:cs typeface="Trebuchet MS"/>
              </a:rPr>
              <a:t>similarity</a:t>
            </a:r>
            <a:r>
              <a:rPr sz="2000" spc="-75" dirty="0">
                <a:solidFill>
                  <a:srgbClr val="373737"/>
                </a:solidFill>
                <a:latin typeface="+mn-lt"/>
                <a:cs typeface="Trebuchet MS"/>
              </a:rPr>
              <a:t> </a:t>
            </a:r>
            <a:r>
              <a:rPr sz="2000" spc="-120" dirty="0">
                <a:solidFill>
                  <a:srgbClr val="373737"/>
                </a:solidFill>
                <a:latin typeface="+mn-lt"/>
                <a:cs typeface="Trebuchet MS"/>
              </a:rPr>
              <a:t>matrix</a:t>
            </a:r>
            <a:r>
              <a:rPr sz="2000" spc="-75" dirty="0">
                <a:solidFill>
                  <a:srgbClr val="373737"/>
                </a:solidFill>
                <a:latin typeface="+mn-lt"/>
                <a:cs typeface="Trebuchet MS"/>
              </a:rPr>
              <a:t> </a:t>
            </a:r>
            <a:r>
              <a:rPr sz="2000" spc="-150" dirty="0">
                <a:solidFill>
                  <a:srgbClr val="373737"/>
                </a:solidFill>
                <a:latin typeface="+mn-lt"/>
                <a:cs typeface="Trebuchet MS"/>
              </a:rPr>
              <a:t>(4,803</a:t>
            </a:r>
            <a:r>
              <a:rPr sz="2000" spc="-70" dirty="0">
                <a:solidFill>
                  <a:srgbClr val="373737"/>
                </a:solidFill>
                <a:latin typeface="+mn-lt"/>
                <a:cs typeface="Trebuchet MS"/>
              </a:rPr>
              <a:t> </a:t>
            </a:r>
            <a:r>
              <a:rPr sz="2000" spc="-50" dirty="0">
                <a:solidFill>
                  <a:srgbClr val="373737"/>
                </a:solidFill>
                <a:latin typeface="+mn-lt"/>
                <a:cs typeface="Trebuchet MS"/>
              </a:rPr>
              <a:t>×</a:t>
            </a:r>
            <a:r>
              <a:rPr sz="2000" spc="-75" dirty="0">
                <a:solidFill>
                  <a:srgbClr val="373737"/>
                </a:solidFill>
                <a:latin typeface="+mn-lt"/>
                <a:cs typeface="Trebuchet MS"/>
              </a:rPr>
              <a:t> </a:t>
            </a:r>
            <a:r>
              <a:rPr sz="2000" spc="-10" dirty="0">
                <a:solidFill>
                  <a:srgbClr val="373737"/>
                </a:solidFill>
                <a:latin typeface="+mn-lt"/>
                <a:cs typeface="Trebuchet MS"/>
              </a:rPr>
              <a:t>4,803)</a:t>
            </a:r>
            <a:endParaRPr sz="2000" dirty="0">
              <a:latin typeface="+mn-lt"/>
              <a:cs typeface="Trebuchet MS"/>
            </a:endParaRPr>
          </a:p>
          <a:p>
            <a:pPr>
              <a:lnSpc>
                <a:spcPct val="100000"/>
              </a:lnSpc>
            </a:pPr>
            <a:endParaRPr sz="2000" dirty="0">
              <a:latin typeface="+mn-lt"/>
              <a:cs typeface="Trebuchet MS"/>
            </a:endParaRPr>
          </a:p>
          <a:p>
            <a:pPr>
              <a:lnSpc>
                <a:spcPct val="100000"/>
              </a:lnSpc>
              <a:spcBef>
                <a:spcPts val="860"/>
              </a:spcBef>
            </a:pPr>
            <a:endParaRPr sz="2000" dirty="0">
              <a:latin typeface="+mn-lt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spc="-110" dirty="0">
                <a:solidFill>
                  <a:srgbClr val="373737"/>
                </a:solidFill>
                <a:latin typeface="+mn-lt"/>
                <a:cs typeface="Trebuchet MS"/>
              </a:rPr>
              <a:t>Efficient</a:t>
            </a:r>
            <a:r>
              <a:rPr sz="2000" spc="-70" dirty="0">
                <a:solidFill>
                  <a:srgbClr val="373737"/>
                </a:solidFill>
                <a:latin typeface="+mn-lt"/>
                <a:cs typeface="Trebuchet MS"/>
              </a:rPr>
              <a:t> </a:t>
            </a:r>
            <a:r>
              <a:rPr sz="2000" spc="-35" dirty="0">
                <a:solidFill>
                  <a:srgbClr val="373737"/>
                </a:solidFill>
                <a:latin typeface="+mn-lt"/>
                <a:cs typeface="Trebuchet MS"/>
              </a:rPr>
              <a:t>Retrieval</a:t>
            </a:r>
            <a:endParaRPr sz="2000" dirty="0">
              <a:latin typeface="+mn-lt"/>
              <a:cs typeface="Trebuchet MS"/>
            </a:endParaRPr>
          </a:p>
          <a:p>
            <a:pPr marL="12700" marR="5080">
              <a:lnSpc>
                <a:spcPct val="136400"/>
              </a:lnSpc>
              <a:spcBef>
                <a:spcPts val="745"/>
              </a:spcBef>
            </a:pPr>
            <a:r>
              <a:rPr sz="2000" spc="-155" dirty="0">
                <a:solidFill>
                  <a:srgbClr val="373737"/>
                </a:solidFill>
                <a:latin typeface="+mn-lt"/>
                <a:cs typeface="Trebuchet MS"/>
              </a:rPr>
              <a:t>Diagonal</a:t>
            </a:r>
            <a:r>
              <a:rPr sz="2000" spc="-65" dirty="0">
                <a:solidFill>
                  <a:srgbClr val="373737"/>
                </a:solidFill>
                <a:latin typeface="+mn-lt"/>
                <a:cs typeface="Trebuchet MS"/>
              </a:rPr>
              <a:t> </a:t>
            </a:r>
            <a:r>
              <a:rPr sz="2000" spc="-160" dirty="0">
                <a:solidFill>
                  <a:srgbClr val="373737"/>
                </a:solidFill>
                <a:latin typeface="+mn-lt"/>
                <a:cs typeface="Trebuchet MS"/>
              </a:rPr>
              <a:t>elements</a:t>
            </a:r>
            <a:r>
              <a:rPr sz="2000" spc="-65" dirty="0">
                <a:solidFill>
                  <a:srgbClr val="373737"/>
                </a:solidFill>
                <a:latin typeface="+mn-lt"/>
                <a:cs typeface="Trebuchet MS"/>
              </a:rPr>
              <a:t> </a:t>
            </a:r>
            <a:r>
              <a:rPr sz="2000" spc="90" dirty="0">
                <a:solidFill>
                  <a:srgbClr val="373737"/>
                </a:solidFill>
                <a:latin typeface="+mn-lt"/>
                <a:cs typeface="Trebuchet MS"/>
              </a:rPr>
              <a:t>=</a:t>
            </a:r>
            <a:r>
              <a:rPr sz="2000" spc="-60" dirty="0">
                <a:solidFill>
                  <a:srgbClr val="373737"/>
                </a:solidFill>
                <a:latin typeface="+mn-lt"/>
                <a:cs typeface="Trebuchet MS"/>
              </a:rPr>
              <a:t> </a:t>
            </a:r>
            <a:r>
              <a:rPr sz="2000" spc="-204" dirty="0">
                <a:solidFill>
                  <a:srgbClr val="373737"/>
                </a:solidFill>
                <a:latin typeface="+mn-lt"/>
                <a:cs typeface="Trebuchet MS"/>
              </a:rPr>
              <a:t>1.0</a:t>
            </a:r>
            <a:r>
              <a:rPr sz="2000" spc="-65" dirty="0">
                <a:solidFill>
                  <a:srgbClr val="373737"/>
                </a:solidFill>
                <a:latin typeface="+mn-lt"/>
                <a:cs typeface="Trebuchet MS"/>
              </a:rPr>
              <a:t> </a:t>
            </a:r>
            <a:r>
              <a:rPr sz="2000" spc="-85" dirty="0">
                <a:solidFill>
                  <a:srgbClr val="373737"/>
                </a:solidFill>
                <a:latin typeface="+mn-lt"/>
                <a:cs typeface="Trebuchet MS"/>
              </a:rPr>
              <a:t>(self-similarity),</a:t>
            </a:r>
            <a:r>
              <a:rPr sz="2000" spc="-60" dirty="0">
                <a:solidFill>
                  <a:srgbClr val="373737"/>
                </a:solidFill>
                <a:latin typeface="+mn-lt"/>
                <a:cs typeface="Trebuchet MS"/>
              </a:rPr>
              <a:t> </a:t>
            </a:r>
            <a:r>
              <a:rPr sz="2000" spc="-114" dirty="0">
                <a:solidFill>
                  <a:srgbClr val="373737"/>
                </a:solidFill>
                <a:latin typeface="+mn-lt"/>
                <a:cs typeface="Trebuchet MS"/>
              </a:rPr>
              <a:t>off-diagonal </a:t>
            </a:r>
            <a:r>
              <a:rPr sz="2000" spc="-150" dirty="0">
                <a:solidFill>
                  <a:srgbClr val="373737"/>
                </a:solidFill>
                <a:latin typeface="+mn-lt"/>
                <a:cs typeface="Trebuchet MS"/>
              </a:rPr>
              <a:t>values</a:t>
            </a:r>
            <a:r>
              <a:rPr sz="2000" spc="-70" dirty="0">
                <a:solidFill>
                  <a:srgbClr val="373737"/>
                </a:solidFill>
                <a:latin typeface="+mn-lt"/>
                <a:cs typeface="Trebuchet MS"/>
              </a:rPr>
              <a:t> </a:t>
            </a:r>
            <a:r>
              <a:rPr sz="2000" spc="-165" dirty="0">
                <a:solidFill>
                  <a:srgbClr val="373737"/>
                </a:solidFill>
                <a:latin typeface="+mn-lt"/>
                <a:cs typeface="Trebuchet MS"/>
              </a:rPr>
              <a:t>indicate</a:t>
            </a:r>
            <a:r>
              <a:rPr sz="2000" spc="-70" dirty="0">
                <a:solidFill>
                  <a:srgbClr val="373737"/>
                </a:solidFill>
                <a:latin typeface="+mn-lt"/>
                <a:cs typeface="Trebuchet MS"/>
              </a:rPr>
              <a:t> </a:t>
            </a:r>
            <a:r>
              <a:rPr sz="2000" spc="-20" dirty="0">
                <a:solidFill>
                  <a:srgbClr val="373737"/>
                </a:solidFill>
                <a:latin typeface="+mn-lt"/>
                <a:cs typeface="Trebuchet MS"/>
              </a:rPr>
              <a:t>matches</a:t>
            </a:r>
            <a:endParaRPr sz="2000" dirty="0">
              <a:latin typeface="+mn-lt"/>
              <a:cs typeface="Trebuchet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4446" rIns="0" bIns="0" rtlCol="0">
            <a:spAutoFit/>
          </a:bodyPr>
          <a:lstStyle/>
          <a:p>
            <a:pPr marL="4432935">
              <a:lnSpc>
                <a:spcPct val="100000"/>
              </a:lnSpc>
              <a:spcBef>
                <a:spcPts val="125"/>
              </a:spcBef>
            </a:pPr>
            <a:r>
              <a:rPr spc="-220" dirty="0">
                <a:latin typeface="+mn-lt"/>
              </a:rPr>
              <a:t>Similarity</a:t>
            </a:r>
            <a:r>
              <a:rPr spc="-200" dirty="0">
                <a:latin typeface="+mn-lt"/>
              </a:rPr>
              <a:t> </a:t>
            </a:r>
            <a:r>
              <a:rPr spc="-240" dirty="0">
                <a:latin typeface="+mn-lt"/>
              </a:rPr>
              <a:t>Matrix</a:t>
            </a:r>
            <a:r>
              <a:rPr spc="-185" dirty="0">
                <a:latin typeface="+mn-lt"/>
              </a:rPr>
              <a:t> </a:t>
            </a:r>
            <a:r>
              <a:rPr spc="-190" dirty="0">
                <a:latin typeface="+mn-lt"/>
              </a:rPr>
              <a:t>Analysis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D76432D-83BC-6BEC-D633-70FA00199546}"/>
              </a:ext>
            </a:extLst>
          </p:cNvPr>
          <p:cNvSpPr/>
          <p:nvPr/>
        </p:nvSpPr>
        <p:spPr>
          <a:xfrm>
            <a:off x="-1" y="-253"/>
            <a:ext cx="11430000" cy="89916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5A087BE-4547-24A2-9006-3732B74B7526}"/>
              </a:ext>
            </a:extLst>
          </p:cNvPr>
          <p:cNvGrpSpPr/>
          <p:nvPr/>
        </p:nvGrpSpPr>
        <p:grpSpPr>
          <a:xfrm>
            <a:off x="5045375" y="1756568"/>
            <a:ext cx="5555198" cy="5186907"/>
            <a:chOff x="5045375" y="1756568"/>
            <a:chExt cx="5555198" cy="5186907"/>
          </a:xfrm>
        </p:grpSpPr>
        <p:sp>
          <p:nvSpPr>
            <p:cNvPr id="4" name="object 4"/>
            <p:cNvSpPr txBox="1"/>
            <p:nvPr/>
          </p:nvSpPr>
          <p:spPr>
            <a:xfrm>
              <a:off x="5045375" y="1756568"/>
              <a:ext cx="1684655" cy="3511601"/>
            </a:xfrm>
            <a:prstGeom prst="rect">
              <a:avLst/>
            </a:prstGeom>
          </p:spPr>
          <p:txBody>
            <a:bodyPr vert="horz" wrap="square" lIns="0" tIns="14604" rIns="0" bIns="0" rtlCol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114"/>
                </a:spcBef>
              </a:pPr>
              <a:r>
                <a:rPr sz="6000" spc="-640" dirty="0">
                  <a:solidFill>
                    <a:srgbClr val="373737"/>
                  </a:solidFill>
                  <a:latin typeface="+mn-lt"/>
                  <a:cs typeface="Trebuchet MS"/>
                </a:rPr>
                <a:t>4,803</a:t>
              </a:r>
              <a:endParaRPr sz="6000" dirty="0">
                <a:latin typeface="+mn-lt"/>
                <a:cs typeface="Trebuchet MS"/>
              </a:endParaRPr>
            </a:p>
            <a:p>
              <a:pPr algn="ctr">
                <a:lnSpc>
                  <a:spcPct val="100000"/>
                </a:lnSpc>
                <a:spcBef>
                  <a:spcPts val="1739"/>
                </a:spcBef>
              </a:pPr>
              <a:r>
                <a:rPr sz="2000" spc="-105" dirty="0">
                  <a:solidFill>
                    <a:srgbClr val="373737"/>
                  </a:solidFill>
                  <a:latin typeface="+mn-lt"/>
                  <a:cs typeface="Trebuchet MS"/>
                </a:rPr>
                <a:t>Matrix</a:t>
              </a:r>
              <a:r>
                <a:rPr sz="2000" spc="-85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50" dirty="0">
                  <a:solidFill>
                    <a:srgbClr val="373737"/>
                  </a:solidFill>
                  <a:latin typeface="+mn-lt"/>
                  <a:cs typeface="Trebuchet MS"/>
                </a:rPr>
                <a:t>Dimension</a:t>
              </a:r>
              <a:endParaRPr sz="2000" dirty="0">
                <a:latin typeface="+mn-lt"/>
                <a:cs typeface="Trebuchet MS"/>
              </a:endParaRPr>
            </a:p>
            <a:p>
              <a:pPr marL="12700" marR="5080" indent="-635" algn="ctr">
                <a:lnSpc>
                  <a:spcPct val="136400"/>
                </a:lnSpc>
                <a:spcBef>
                  <a:spcPts val="750"/>
                </a:spcBef>
              </a:pPr>
              <a:r>
                <a:rPr sz="2000" spc="-140" dirty="0">
                  <a:solidFill>
                    <a:srgbClr val="373737"/>
                  </a:solidFill>
                  <a:latin typeface="+mn-lt"/>
                  <a:cs typeface="Trebuchet MS"/>
                </a:rPr>
                <a:t>Square</a:t>
              </a:r>
              <a:r>
                <a:rPr sz="2000" spc="-75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10" dirty="0">
                  <a:solidFill>
                    <a:srgbClr val="373737"/>
                  </a:solidFill>
                  <a:latin typeface="+mn-lt"/>
                  <a:cs typeface="Trebuchet MS"/>
                </a:rPr>
                <a:t>matrix </a:t>
              </a:r>
              <a:r>
                <a:rPr sz="2000" spc="-140" dirty="0">
                  <a:solidFill>
                    <a:srgbClr val="373737"/>
                  </a:solidFill>
                  <a:latin typeface="+mn-lt"/>
                  <a:cs typeface="Trebuchet MS"/>
                </a:rPr>
                <a:t>capturing</a:t>
              </a:r>
              <a:r>
                <a:rPr sz="2000" spc="-75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100" dirty="0">
                  <a:solidFill>
                    <a:srgbClr val="373737"/>
                  </a:solidFill>
                  <a:latin typeface="+mn-lt"/>
                  <a:cs typeface="Trebuchet MS"/>
                </a:rPr>
                <a:t>all</a:t>
              </a:r>
              <a:r>
                <a:rPr sz="2000" spc="-70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165" dirty="0">
                  <a:solidFill>
                    <a:srgbClr val="373737"/>
                  </a:solidFill>
                  <a:latin typeface="+mn-lt"/>
                  <a:cs typeface="Trebuchet MS"/>
                </a:rPr>
                <a:t>pairwise </a:t>
              </a:r>
              <a:r>
                <a:rPr sz="2000" spc="-190" dirty="0">
                  <a:solidFill>
                    <a:srgbClr val="373737"/>
                  </a:solidFill>
                  <a:latin typeface="+mn-lt"/>
                  <a:cs typeface="Trebuchet MS"/>
                </a:rPr>
                <a:t>movie</a:t>
              </a:r>
              <a:r>
                <a:rPr sz="2000" spc="-95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45" dirty="0">
                  <a:solidFill>
                    <a:srgbClr val="373737"/>
                  </a:solidFill>
                  <a:latin typeface="+mn-lt"/>
                  <a:cs typeface="Trebuchet MS"/>
                </a:rPr>
                <a:t>relationships</a:t>
              </a:r>
              <a:endParaRPr sz="2000" dirty="0">
                <a:latin typeface="+mn-lt"/>
                <a:cs typeface="Trebuchet MS"/>
              </a:endParaRPr>
            </a:p>
          </p:txBody>
        </p:sp>
        <p:sp>
          <p:nvSpPr>
            <p:cNvPr id="5" name="object 5"/>
            <p:cNvSpPr txBox="1"/>
            <p:nvPr/>
          </p:nvSpPr>
          <p:spPr>
            <a:xfrm>
              <a:off x="7107976" y="1756568"/>
              <a:ext cx="1500505" cy="3622401"/>
            </a:xfrm>
            <a:prstGeom prst="rect">
              <a:avLst/>
            </a:prstGeom>
          </p:spPr>
          <p:txBody>
            <a:bodyPr vert="horz" wrap="square" lIns="0" tIns="14604" rIns="0" bIns="0" rtlCol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114"/>
                </a:spcBef>
              </a:pPr>
              <a:r>
                <a:rPr sz="6000" spc="-760" dirty="0">
                  <a:solidFill>
                    <a:srgbClr val="373737"/>
                  </a:solidFill>
                  <a:latin typeface="+mn-lt"/>
                  <a:cs typeface="Trebuchet MS"/>
                </a:rPr>
                <a:t>1.0</a:t>
              </a:r>
              <a:endParaRPr sz="6000" dirty="0">
                <a:latin typeface="+mn-lt"/>
                <a:cs typeface="Trebuchet MS"/>
              </a:endParaRPr>
            </a:p>
            <a:p>
              <a:pPr algn="ctr">
                <a:lnSpc>
                  <a:spcPct val="100000"/>
                </a:lnSpc>
                <a:spcBef>
                  <a:spcPts val="1739"/>
                </a:spcBef>
              </a:pPr>
              <a:r>
                <a:rPr sz="2000" spc="-80" dirty="0">
                  <a:solidFill>
                    <a:srgbClr val="373737"/>
                  </a:solidFill>
                  <a:latin typeface="+mn-lt"/>
                  <a:cs typeface="Trebuchet MS"/>
                </a:rPr>
                <a:t>Self-</a:t>
              </a:r>
              <a:r>
                <a:rPr sz="2000" spc="-10" dirty="0">
                  <a:solidFill>
                    <a:srgbClr val="373737"/>
                  </a:solidFill>
                  <a:latin typeface="+mn-lt"/>
                  <a:cs typeface="Trebuchet MS"/>
                </a:rPr>
                <a:t>Similarity</a:t>
              </a:r>
              <a:endParaRPr sz="2000" dirty="0">
                <a:latin typeface="+mn-lt"/>
                <a:cs typeface="Trebuchet MS"/>
              </a:endParaRPr>
            </a:p>
            <a:p>
              <a:pPr marL="12700" marR="5080" indent="-635" algn="ctr">
                <a:lnSpc>
                  <a:spcPct val="136400"/>
                </a:lnSpc>
                <a:spcBef>
                  <a:spcPts val="750"/>
                </a:spcBef>
              </a:pPr>
              <a:r>
                <a:rPr sz="2000" spc="-155" dirty="0">
                  <a:solidFill>
                    <a:srgbClr val="373737"/>
                  </a:solidFill>
                  <a:latin typeface="+mn-lt"/>
                  <a:cs typeface="Trebuchet MS"/>
                </a:rPr>
                <a:t>Diagonal</a:t>
              </a:r>
              <a:r>
                <a:rPr sz="2000" spc="-70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95" dirty="0">
                  <a:solidFill>
                    <a:srgbClr val="373737"/>
                  </a:solidFill>
                  <a:latin typeface="+mn-lt"/>
                  <a:cs typeface="Trebuchet MS"/>
                </a:rPr>
                <a:t>elements </a:t>
              </a:r>
              <a:r>
                <a:rPr sz="2000" spc="-130" dirty="0">
                  <a:solidFill>
                    <a:srgbClr val="373737"/>
                  </a:solidFill>
                  <a:latin typeface="+mn-lt"/>
                  <a:cs typeface="Trebuchet MS"/>
                </a:rPr>
                <a:t>represent</a:t>
              </a:r>
              <a:r>
                <a:rPr sz="2000" spc="-80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150" dirty="0">
                  <a:solidFill>
                    <a:srgbClr val="373737"/>
                  </a:solidFill>
                  <a:latin typeface="+mn-lt"/>
                  <a:cs typeface="Trebuchet MS"/>
                </a:rPr>
                <a:t>identical </a:t>
              </a:r>
              <a:r>
                <a:rPr sz="2000" spc="-190" dirty="0">
                  <a:solidFill>
                    <a:srgbClr val="373737"/>
                  </a:solidFill>
                  <a:latin typeface="+mn-lt"/>
                  <a:cs typeface="Trebuchet MS"/>
                </a:rPr>
                <a:t>movie</a:t>
              </a:r>
              <a:r>
                <a:rPr sz="2000" spc="-95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20" dirty="0">
                  <a:solidFill>
                    <a:srgbClr val="373737"/>
                  </a:solidFill>
                  <a:latin typeface="+mn-lt"/>
                  <a:cs typeface="Trebuchet MS"/>
                </a:rPr>
                <a:t>matches</a:t>
              </a:r>
              <a:endParaRPr sz="2000" dirty="0">
                <a:latin typeface="+mn-lt"/>
                <a:cs typeface="Trebuchet MS"/>
              </a:endParaRPr>
            </a:p>
          </p:txBody>
        </p:sp>
        <p:sp>
          <p:nvSpPr>
            <p:cNvPr id="6" name="object 6"/>
            <p:cNvSpPr txBox="1"/>
            <p:nvPr/>
          </p:nvSpPr>
          <p:spPr>
            <a:xfrm>
              <a:off x="9056888" y="1756568"/>
              <a:ext cx="1543685" cy="3203825"/>
            </a:xfrm>
            <a:prstGeom prst="rect">
              <a:avLst/>
            </a:prstGeom>
          </p:spPr>
          <p:txBody>
            <a:bodyPr vert="horz" wrap="square" lIns="0" tIns="14604" rIns="0" bIns="0" rtlCol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114"/>
                </a:spcBef>
              </a:pPr>
              <a:r>
                <a:rPr lang="en-IN" sz="6000" spc="-450" dirty="0">
                  <a:solidFill>
                    <a:srgbClr val="373737"/>
                  </a:solidFill>
                  <a:latin typeface="+mn-lt"/>
                  <a:cs typeface="Trebuchet MS"/>
                </a:rPr>
                <a:t>0.072</a:t>
              </a:r>
              <a:endParaRPr sz="6000" dirty="0">
                <a:latin typeface="+mn-lt"/>
                <a:cs typeface="Trebuchet MS"/>
              </a:endParaRPr>
            </a:p>
            <a:p>
              <a:pPr algn="ctr">
                <a:lnSpc>
                  <a:spcPct val="100000"/>
                </a:lnSpc>
                <a:spcBef>
                  <a:spcPts val="1739"/>
                </a:spcBef>
              </a:pPr>
              <a:r>
                <a:rPr sz="2000" spc="-114" dirty="0">
                  <a:solidFill>
                    <a:srgbClr val="373737"/>
                  </a:solidFill>
                  <a:latin typeface="+mn-lt"/>
                  <a:cs typeface="Trebuchet MS"/>
                </a:rPr>
                <a:t>Avatar-</a:t>
              </a:r>
              <a:r>
                <a:rPr sz="2000" spc="-10" dirty="0">
                  <a:solidFill>
                    <a:srgbClr val="373737"/>
                  </a:solidFill>
                  <a:latin typeface="+mn-lt"/>
                  <a:cs typeface="Trebuchet MS"/>
                </a:rPr>
                <a:t>Pirates</a:t>
              </a:r>
              <a:endParaRPr sz="2000" dirty="0">
                <a:latin typeface="+mn-lt"/>
                <a:cs typeface="Trebuchet MS"/>
              </a:endParaRPr>
            </a:p>
            <a:p>
              <a:pPr marL="12700" marR="5080" algn="ctr">
                <a:lnSpc>
                  <a:spcPct val="136400"/>
                </a:lnSpc>
                <a:spcBef>
                  <a:spcPts val="750"/>
                </a:spcBef>
              </a:pPr>
              <a:r>
                <a:rPr sz="2000" spc="-180" dirty="0">
                  <a:solidFill>
                    <a:srgbClr val="373737"/>
                  </a:solidFill>
                  <a:latin typeface="+mn-lt"/>
                  <a:cs typeface="Trebuchet MS"/>
                </a:rPr>
                <a:t>Moderate</a:t>
              </a:r>
              <a:r>
                <a:rPr sz="2000" spc="-60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100" dirty="0">
                  <a:solidFill>
                    <a:srgbClr val="373737"/>
                  </a:solidFill>
                  <a:latin typeface="+mn-lt"/>
                  <a:cs typeface="Trebuchet MS"/>
                </a:rPr>
                <a:t>similarity </a:t>
              </a:r>
              <a:r>
                <a:rPr sz="2000" spc="-130" dirty="0">
                  <a:solidFill>
                    <a:srgbClr val="373737"/>
                  </a:solidFill>
                  <a:latin typeface="+mn-lt"/>
                  <a:cs typeface="Trebuchet MS"/>
                </a:rPr>
                <a:t>score</a:t>
              </a:r>
              <a:r>
                <a:rPr sz="2000" spc="-85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10" dirty="0">
                  <a:solidFill>
                    <a:srgbClr val="373737"/>
                  </a:solidFill>
                  <a:latin typeface="+mn-lt"/>
                  <a:cs typeface="Trebuchet MS"/>
                </a:rPr>
                <a:t>reflecting </a:t>
              </a:r>
              <a:r>
                <a:rPr sz="2000" spc="-140" dirty="0">
                  <a:solidFill>
                    <a:srgbClr val="373737"/>
                  </a:solidFill>
                  <a:latin typeface="+mn-lt"/>
                  <a:cs typeface="Trebuchet MS"/>
                </a:rPr>
                <a:t>genre</a:t>
              </a:r>
              <a:r>
                <a:rPr sz="2000" spc="-80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10" dirty="0">
                  <a:solidFill>
                    <a:srgbClr val="373737"/>
                  </a:solidFill>
                  <a:latin typeface="+mn-lt"/>
                  <a:cs typeface="Trebuchet MS"/>
                </a:rPr>
                <a:t>overlap</a:t>
              </a:r>
              <a:endParaRPr sz="2000" dirty="0">
                <a:latin typeface="+mn-lt"/>
                <a:cs typeface="Trebuchet MS"/>
              </a:endParaRPr>
            </a:p>
          </p:txBody>
        </p:sp>
        <p:sp>
          <p:nvSpPr>
            <p:cNvPr id="7" name="object 7"/>
            <p:cNvSpPr txBox="1"/>
            <p:nvPr/>
          </p:nvSpPr>
          <p:spPr>
            <a:xfrm>
              <a:off x="5148569" y="5713138"/>
              <a:ext cx="5197475" cy="1230337"/>
            </a:xfrm>
            <a:prstGeom prst="rect">
              <a:avLst/>
            </a:prstGeom>
          </p:spPr>
          <p:txBody>
            <a:bodyPr vert="horz" wrap="square" lIns="0" tIns="11430" rIns="0" bIns="0" rtlCol="0">
              <a:spAutoFit/>
            </a:bodyPr>
            <a:lstStyle/>
            <a:p>
              <a:pPr marL="12700" marR="5080">
                <a:lnSpc>
                  <a:spcPct val="136400"/>
                </a:lnSpc>
                <a:spcBef>
                  <a:spcPts val="90"/>
                </a:spcBef>
              </a:pPr>
              <a:r>
                <a:rPr sz="2000" spc="-204" dirty="0">
                  <a:solidFill>
                    <a:srgbClr val="373737"/>
                  </a:solidFill>
                  <a:latin typeface="+mn-lt"/>
                  <a:cs typeface="Trebuchet MS"/>
                </a:rPr>
                <a:t>The</a:t>
              </a:r>
              <a:r>
                <a:rPr sz="2000" spc="-70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105" dirty="0">
                  <a:solidFill>
                    <a:srgbClr val="373737"/>
                  </a:solidFill>
                  <a:latin typeface="+mn-lt"/>
                  <a:cs typeface="Trebuchet MS"/>
                </a:rPr>
                <a:t>similarity</a:t>
              </a:r>
              <a:r>
                <a:rPr sz="2000" spc="-65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120" dirty="0">
                  <a:solidFill>
                    <a:srgbClr val="373737"/>
                  </a:solidFill>
                  <a:latin typeface="+mn-lt"/>
                  <a:cs typeface="Trebuchet MS"/>
                </a:rPr>
                <a:t>matrix</a:t>
              </a:r>
              <a:r>
                <a:rPr sz="2000" spc="-65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165" dirty="0">
                  <a:solidFill>
                    <a:srgbClr val="373737"/>
                  </a:solidFill>
                  <a:latin typeface="+mn-lt"/>
                  <a:cs typeface="Trebuchet MS"/>
                </a:rPr>
                <a:t>enables</a:t>
              </a:r>
              <a:r>
                <a:rPr sz="2000" spc="-65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125" dirty="0">
                  <a:solidFill>
                    <a:srgbClr val="373737"/>
                  </a:solidFill>
                  <a:latin typeface="+mn-lt"/>
                  <a:cs typeface="Trebuchet MS"/>
                </a:rPr>
                <a:t>efficient</a:t>
              </a:r>
              <a:r>
                <a:rPr sz="2000" spc="-65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114" dirty="0">
                  <a:solidFill>
                    <a:srgbClr val="373737"/>
                  </a:solidFill>
                  <a:latin typeface="+mn-lt"/>
                  <a:cs typeface="Trebuchet MS"/>
                </a:rPr>
                <a:t>top-</a:t>
              </a:r>
              <a:r>
                <a:rPr sz="2000" spc="-155" dirty="0">
                  <a:solidFill>
                    <a:srgbClr val="373737"/>
                  </a:solidFill>
                  <a:latin typeface="+mn-lt"/>
                  <a:cs typeface="Trebuchet MS"/>
                </a:rPr>
                <a:t>N</a:t>
              </a:r>
              <a:r>
                <a:rPr sz="2000" spc="-65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120" dirty="0">
                  <a:solidFill>
                    <a:srgbClr val="373737"/>
                  </a:solidFill>
                  <a:latin typeface="+mn-lt"/>
                  <a:cs typeface="Trebuchet MS"/>
                </a:rPr>
                <a:t>retrieval</a:t>
              </a:r>
              <a:r>
                <a:rPr sz="2000" spc="-65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25" dirty="0">
                  <a:solidFill>
                    <a:srgbClr val="373737"/>
                  </a:solidFill>
                  <a:latin typeface="+mn-lt"/>
                  <a:cs typeface="Trebuchet MS"/>
                </a:rPr>
                <a:t>without </a:t>
              </a:r>
              <a:r>
                <a:rPr sz="2000" spc="-150" dirty="0">
                  <a:solidFill>
                    <a:srgbClr val="373737"/>
                  </a:solidFill>
                  <a:latin typeface="+mn-lt"/>
                  <a:cs typeface="Trebuchet MS"/>
                </a:rPr>
                <a:t>collaborative</a:t>
              </a:r>
              <a:r>
                <a:rPr sz="2000" spc="-80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90" dirty="0">
                  <a:solidFill>
                    <a:srgbClr val="373737"/>
                  </a:solidFill>
                  <a:latin typeface="+mn-lt"/>
                  <a:cs typeface="Trebuchet MS"/>
                </a:rPr>
                <a:t>filtering</a:t>
              </a:r>
              <a:r>
                <a:rPr sz="2000" spc="-75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100" dirty="0">
                  <a:solidFill>
                    <a:srgbClr val="373737"/>
                  </a:solidFill>
                  <a:latin typeface="+mn-lt"/>
                  <a:cs typeface="Trebuchet MS"/>
                </a:rPr>
                <a:t>or</a:t>
              </a:r>
              <a:r>
                <a:rPr sz="2000" spc="-75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120" dirty="0">
                  <a:solidFill>
                    <a:srgbClr val="373737"/>
                  </a:solidFill>
                  <a:latin typeface="+mn-lt"/>
                  <a:cs typeface="Trebuchet MS"/>
                </a:rPr>
                <a:t>user</a:t>
              </a:r>
              <a:r>
                <a:rPr sz="2000" spc="-75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110" dirty="0">
                  <a:solidFill>
                    <a:srgbClr val="373737"/>
                  </a:solidFill>
                  <a:latin typeface="+mn-lt"/>
                  <a:cs typeface="Trebuchet MS"/>
                </a:rPr>
                <a:t>ratings,</a:t>
              </a:r>
              <a:r>
                <a:rPr sz="2000" spc="-80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155" dirty="0">
                  <a:solidFill>
                    <a:srgbClr val="373737"/>
                  </a:solidFill>
                  <a:latin typeface="+mn-lt"/>
                  <a:cs typeface="Trebuchet MS"/>
                </a:rPr>
                <a:t>making</a:t>
              </a:r>
              <a:r>
                <a:rPr sz="2000" spc="-75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85" dirty="0">
                  <a:solidFill>
                    <a:srgbClr val="373737"/>
                  </a:solidFill>
                  <a:latin typeface="+mn-lt"/>
                  <a:cs typeface="Trebuchet MS"/>
                </a:rPr>
                <a:t>it</a:t>
              </a:r>
              <a:r>
                <a:rPr sz="2000" spc="-75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150" dirty="0">
                  <a:solidFill>
                    <a:srgbClr val="373737"/>
                  </a:solidFill>
                  <a:latin typeface="+mn-lt"/>
                  <a:cs typeface="Trebuchet MS"/>
                </a:rPr>
                <a:t>scalable</a:t>
              </a:r>
              <a:r>
                <a:rPr sz="2000" spc="-75" dirty="0">
                  <a:solidFill>
                    <a:srgbClr val="373737"/>
                  </a:solidFill>
                  <a:latin typeface="+mn-lt"/>
                  <a:cs typeface="Trebuchet MS"/>
                </a:rPr>
                <a:t> for</a:t>
              </a:r>
              <a:r>
                <a:rPr sz="2000" spc="-80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90" dirty="0">
                  <a:solidFill>
                    <a:srgbClr val="373737"/>
                  </a:solidFill>
                  <a:latin typeface="+mn-lt"/>
                  <a:cs typeface="Trebuchet MS"/>
                </a:rPr>
                <a:t>large </a:t>
              </a:r>
              <a:r>
                <a:rPr sz="2000" spc="-35" dirty="0">
                  <a:solidFill>
                    <a:srgbClr val="373737"/>
                  </a:solidFill>
                  <a:latin typeface="+mn-lt"/>
                  <a:cs typeface="Trebuchet MS"/>
                </a:rPr>
                <a:t>catalogs.</a:t>
              </a:r>
              <a:endParaRPr sz="2000" dirty="0">
                <a:latin typeface="+mn-lt"/>
                <a:cs typeface="Trebuchet MS"/>
              </a:endParaRPr>
            </a:p>
          </p:txBody>
        </p:sp>
      </p:grp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1" y="253"/>
            <a:ext cx="4667429" cy="899134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89916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29999" y="6438899"/>
                </a:moveTo>
                <a:lnTo>
                  <a:pt x="0" y="6438899"/>
                </a:lnTo>
                <a:lnTo>
                  <a:pt x="0" y="0"/>
                </a:lnTo>
                <a:lnTo>
                  <a:pt x="11429999" y="0"/>
                </a:lnTo>
                <a:lnTo>
                  <a:pt x="11429999" y="6438899"/>
                </a:lnTo>
                <a:close/>
              </a:path>
            </a:pathLst>
          </a:custGeom>
          <a:solidFill>
            <a:srgbClr val="F6F6F6"/>
          </a:solidFill>
        </p:spPr>
        <p:txBody>
          <a:bodyPr wrap="square" lIns="0" tIns="0" rIns="0" bIns="0" rtlCol="0"/>
          <a:lstStyle/>
          <a:p>
            <a:endParaRPr sz="2000">
              <a:latin typeface="+mn-l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02813" y="464078"/>
            <a:ext cx="5825668" cy="784937"/>
          </a:xfrm>
          <a:prstGeom prst="rect">
            <a:avLst/>
          </a:prstGeom>
        </p:spPr>
        <p:txBody>
          <a:bodyPr vert="horz" wrap="square" lIns="0" tIns="167746" rIns="0" bIns="0" rtlCol="0">
            <a:spAutoFit/>
          </a:bodyPr>
          <a:lstStyle/>
          <a:p>
            <a:pPr marL="146685">
              <a:lnSpc>
                <a:spcPct val="100000"/>
              </a:lnSpc>
              <a:spcBef>
                <a:spcPts val="125"/>
              </a:spcBef>
            </a:pPr>
            <a:r>
              <a:rPr sz="4000" spc="-409" dirty="0">
                <a:latin typeface="+mn-lt"/>
              </a:rPr>
              <a:t>Recommendation</a:t>
            </a:r>
            <a:r>
              <a:rPr sz="4000" spc="-175" dirty="0">
                <a:latin typeface="+mn-lt"/>
              </a:rPr>
              <a:t> </a:t>
            </a:r>
            <a:r>
              <a:rPr sz="4000" spc="-355" dirty="0">
                <a:latin typeface="+mn-lt"/>
              </a:rPr>
              <a:t>Logic</a:t>
            </a:r>
          </a:p>
        </p:txBody>
      </p:sp>
      <p:sp>
        <p:nvSpPr>
          <p:cNvPr id="4" name="object 4"/>
          <p:cNvSpPr/>
          <p:nvPr/>
        </p:nvSpPr>
        <p:spPr>
          <a:xfrm>
            <a:off x="1085849" y="2971799"/>
            <a:ext cx="590550" cy="295275"/>
          </a:xfrm>
          <a:custGeom>
            <a:avLst/>
            <a:gdLst/>
            <a:ahLst/>
            <a:cxnLst/>
            <a:rect l="l" t="t" r="r" b="b"/>
            <a:pathLst>
              <a:path w="590550" h="295275">
                <a:moveTo>
                  <a:pt x="567313" y="295274"/>
                </a:moveTo>
                <a:lnTo>
                  <a:pt x="23236" y="295274"/>
                </a:lnTo>
                <a:lnTo>
                  <a:pt x="19819" y="294594"/>
                </a:lnTo>
                <a:lnTo>
                  <a:pt x="0" y="272037"/>
                </a:lnTo>
                <a:lnTo>
                  <a:pt x="0" y="268485"/>
                </a:lnTo>
                <a:lnTo>
                  <a:pt x="0" y="23236"/>
                </a:lnTo>
                <a:lnTo>
                  <a:pt x="23236" y="0"/>
                </a:lnTo>
                <a:lnTo>
                  <a:pt x="567313" y="0"/>
                </a:lnTo>
                <a:lnTo>
                  <a:pt x="590549" y="23236"/>
                </a:lnTo>
                <a:lnTo>
                  <a:pt x="590549" y="272037"/>
                </a:lnTo>
                <a:lnTo>
                  <a:pt x="570730" y="294594"/>
                </a:lnTo>
                <a:lnTo>
                  <a:pt x="567313" y="295274"/>
                </a:lnTo>
                <a:close/>
              </a:path>
            </a:pathLst>
          </a:custGeom>
          <a:solidFill>
            <a:srgbClr val="E9E9E9"/>
          </a:solidFill>
        </p:spPr>
        <p:txBody>
          <a:bodyPr wrap="square" lIns="0" tIns="0" rIns="0" bIns="0" rtlCol="0"/>
          <a:lstStyle/>
          <a:p>
            <a:endParaRPr sz="2000">
              <a:latin typeface="+mn-l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sz="half" idx="2"/>
          </p:nvPr>
        </p:nvSpPr>
        <p:spPr>
          <a:xfrm>
            <a:off x="591897" y="2438400"/>
            <a:ext cx="4248785" cy="4769383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000" spc="-120" dirty="0">
                <a:latin typeface="+mn-lt"/>
              </a:rPr>
              <a:t>Query</a:t>
            </a:r>
            <a:r>
              <a:rPr sz="3000" spc="-80" dirty="0">
                <a:latin typeface="+mn-lt"/>
              </a:rPr>
              <a:t> </a:t>
            </a:r>
            <a:r>
              <a:rPr sz="3000" spc="-10" dirty="0">
                <a:latin typeface="+mn-lt"/>
              </a:rPr>
              <a:t>Processing</a:t>
            </a:r>
          </a:p>
          <a:p>
            <a:pPr marL="354965" marR="5080" indent="-342900">
              <a:lnSpc>
                <a:spcPct val="136400"/>
              </a:lnSpc>
              <a:spcBef>
                <a:spcPts val="1425"/>
              </a:spcBef>
              <a:buAutoNum type="arabicPeriod"/>
              <a:tabLst>
                <a:tab pos="354965" algn="l"/>
              </a:tabLst>
            </a:pPr>
            <a:r>
              <a:rPr sz="2000" spc="-100" dirty="0">
                <a:latin typeface="+mn-lt"/>
              </a:rPr>
              <a:t>User</a:t>
            </a:r>
            <a:r>
              <a:rPr sz="2000" spc="-90" dirty="0">
                <a:latin typeface="+mn-lt"/>
              </a:rPr>
              <a:t> </a:t>
            </a:r>
            <a:r>
              <a:rPr sz="2000" spc="-130" dirty="0">
                <a:latin typeface="+mn-lt"/>
              </a:rPr>
              <a:t>inputs</a:t>
            </a:r>
            <a:r>
              <a:rPr sz="2000" spc="-85" dirty="0">
                <a:latin typeface="+mn-lt"/>
              </a:rPr>
              <a:t> </a:t>
            </a:r>
            <a:r>
              <a:rPr sz="2000" spc="-125" dirty="0">
                <a:latin typeface="+mn-lt"/>
              </a:rPr>
              <a:t>favorite</a:t>
            </a:r>
            <a:r>
              <a:rPr sz="2000" spc="-90" dirty="0">
                <a:latin typeface="+mn-lt"/>
              </a:rPr>
              <a:t> </a:t>
            </a:r>
            <a:r>
              <a:rPr sz="2000" spc="-190" dirty="0">
                <a:latin typeface="+mn-lt"/>
              </a:rPr>
              <a:t>movie</a:t>
            </a:r>
            <a:r>
              <a:rPr sz="2000" spc="-85" dirty="0">
                <a:latin typeface="+mn-lt"/>
              </a:rPr>
              <a:t> </a:t>
            </a:r>
            <a:r>
              <a:rPr sz="2000" spc="-185" dirty="0">
                <a:latin typeface="+mn-lt"/>
              </a:rPr>
              <a:t>(e.g.,</a:t>
            </a:r>
            <a:r>
              <a:rPr sz="2000" spc="-90" dirty="0">
                <a:latin typeface="+mn-lt"/>
              </a:rPr>
              <a:t> </a:t>
            </a:r>
            <a:r>
              <a:rPr sz="2000" spc="-155" dirty="0">
                <a:latin typeface="+mn-lt"/>
              </a:rPr>
              <a:t>"Guardians</a:t>
            </a:r>
            <a:r>
              <a:rPr sz="2000" spc="-85" dirty="0">
                <a:latin typeface="+mn-lt"/>
              </a:rPr>
              <a:t> </a:t>
            </a:r>
            <a:r>
              <a:rPr sz="2000" spc="-114" dirty="0">
                <a:latin typeface="+mn-lt"/>
              </a:rPr>
              <a:t>of</a:t>
            </a:r>
            <a:r>
              <a:rPr sz="2000" spc="-90" dirty="0">
                <a:latin typeface="+mn-lt"/>
              </a:rPr>
              <a:t> </a:t>
            </a:r>
            <a:r>
              <a:rPr sz="2000" spc="-130" dirty="0">
                <a:latin typeface="+mn-lt"/>
              </a:rPr>
              <a:t>the </a:t>
            </a:r>
            <a:r>
              <a:rPr sz="2000" spc="-10" dirty="0">
                <a:latin typeface="+mn-lt"/>
              </a:rPr>
              <a:t>Galaxy")</a:t>
            </a:r>
          </a:p>
          <a:p>
            <a:pPr marL="354965" marR="234950" indent="-342900">
              <a:lnSpc>
                <a:spcPct val="136400"/>
              </a:lnSpc>
              <a:spcBef>
                <a:spcPts val="600"/>
              </a:spcBef>
              <a:buFont typeface="Trebuchet MS"/>
              <a:buAutoNum type="arabicPeriod"/>
              <a:tabLst>
                <a:tab pos="354965" algn="l"/>
              </a:tabLst>
            </a:pPr>
            <a:r>
              <a:rPr sz="2000" spc="-50" dirty="0">
                <a:latin typeface="+mn-lt"/>
                <a:cs typeface="Lucida Sans Unicode"/>
              </a:rPr>
              <a:t>difflib</a:t>
            </a:r>
            <a:r>
              <a:rPr sz="2000" spc="-105" dirty="0">
                <a:latin typeface="+mn-lt"/>
                <a:cs typeface="Lucida Sans Unicode"/>
              </a:rPr>
              <a:t> </a:t>
            </a:r>
            <a:r>
              <a:rPr sz="2000" spc="-165" dirty="0">
                <a:latin typeface="+mn-lt"/>
              </a:rPr>
              <a:t>matches</a:t>
            </a:r>
            <a:r>
              <a:rPr sz="2000" spc="-75" dirty="0">
                <a:latin typeface="+mn-lt"/>
              </a:rPr>
              <a:t> </a:t>
            </a:r>
            <a:r>
              <a:rPr sz="2000" spc="-120" dirty="0">
                <a:latin typeface="+mn-lt"/>
              </a:rPr>
              <a:t>against</a:t>
            </a:r>
            <a:r>
              <a:rPr sz="2000" spc="-80" dirty="0">
                <a:latin typeface="+mn-lt"/>
              </a:rPr>
              <a:t> </a:t>
            </a:r>
            <a:r>
              <a:rPr sz="2000" spc="-175" dirty="0">
                <a:latin typeface="+mn-lt"/>
              </a:rPr>
              <a:t>4,803</a:t>
            </a:r>
            <a:r>
              <a:rPr sz="2000" spc="-75" dirty="0">
                <a:latin typeface="+mn-lt"/>
              </a:rPr>
              <a:t> </a:t>
            </a:r>
            <a:r>
              <a:rPr sz="2000" spc="-95" dirty="0">
                <a:latin typeface="+mn-lt"/>
              </a:rPr>
              <a:t>titles</a:t>
            </a:r>
            <a:r>
              <a:rPr sz="2000" spc="-75" dirty="0">
                <a:latin typeface="+mn-lt"/>
              </a:rPr>
              <a:t> </a:t>
            </a:r>
            <a:r>
              <a:rPr sz="2000" spc="-210" dirty="0">
                <a:latin typeface="+mn-lt"/>
              </a:rPr>
              <a:t>with</a:t>
            </a:r>
            <a:r>
              <a:rPr sz="2000" spc="-80" dirty="0">
                <a:latin typeface="+mn-lt"/>
              </a:rPr>
              <a:t> </a:t>
            </a:r>
            <a:r>
              <a:rPr sz="2000" spc="-75" dirty="0">
                <a:latin typeface="+mn-lt"/>
              </a:rPr>
              <a:t>fuzzy </a:t>
            </a:r>
            <a:r>
              <a:rPr sz="2000" spc="-35" dirty="0">
                <a:latin typeface="+mn-lt"/>
              </a:rPr>
              <a:t>matching</a:t>
            </a:r>
          </a:p>
          <a:p>
            <a:pPr marL="354965" indent="-342265">
              <a:lnSpc>
                <a:spcPct val="100000"/>
              </a:lnSpc>
              <a:spcBef>
                <a:spcPts val="1320"/>
              </a:spcBef>
              <a:buAutoNum type="arabicPeriod"/>
              <a:tabLst>
                <a:tab pos="354965" algn="l"/>
              </a:tabLst>
            </a:pPr>
            <a:r>
              <a:rPr sz="2000" spc="-140" dirty="0">
                <a:latin typeface="+mn-lt"/>
              </a:rPr>
              <a:t>Retrieves</a:t>
            </a:r>
            <a:r>
              <a:rPr sz="2000" spc="-85" dirty="0">
                <a:latin typeface="+mn-lt"/>
              </a:rPr>
              <a:t> </a:t>
            </a:r>
            <a:r>
              <a:rPr sz="2000" spc="-190" dirty="0">
                <a:latin typeface="+mn-lt"/>
              </a:rPr>
              <a:t>movie</a:t>
            </a:r>
            <a:r>
              <a:rPr sz="2000" spc="-85" dirty="0">
                <a:latin typeface="+mn-lt"/>
              </a:rPr>
              <a:t> </a:t>
            </a:r>
            <a:r>
              <a:rPr sz="2000" spc="-170" dirty="0">
                <a:latin typeface="+mn-lt"/>
              </a:rPr>
              <a:t>index</a:t>
            </a:r>
            <a:r>
              <a:rPr sz="2000" spc="-80" dirty="0">
                <a:latin typeface="+mn-lt"/>
              </a:rPr>
              <a:t> </a:t>
            </a:r>
            <a:r>
              <a:rPr sz="2000" spc="-114" dirty="0">
                <a:latin typeface="+mn-lt"/>
              </a:rPr>
              <a:t>from</a:t>
            </a:r>
            <a:r>
              <a:rPr sz="2000" spc="-85" dirty="0">
                <a:latin typeface="+mn-lt"/>
              </a:rPr>
              <a:t> </a:t>
            </a:r>
            <a:r>
              <a:rPr sz="2000" spc="-10" dirty="0">
                <a:latin typeface="+mn-lt"/>
              </a:rPr>
              <a:t>dataset</a:t>
            </a:r>
          </a:p>
          <a:p>
            <a:pPr marL="354965" indent="-342265">
              <a:lnSpc>
                <a:spcPct val="100000"/>
              </a:lnSpc>
              <a:spcBef>
                <a:spcPts val="1320"/>
              </a:spcBef>
              <a:buAutoNum type="arabicPeriod"/>
              <a:tabLst>
                <a:tab pos="354965" algn="l"/>
              </a:tabLst>
            </a:pPr>
            <a:r>
              <a:rPr sz="2000" spc="-100" dirty="0">
                <a:latin typeface="+mn-lt"/>
              </a:rPr>
              <a:t>Extracts</a:t>
            </a:r>
            <a:r>
              <a:rPr sz="2000" spc="-60" dirty="0">
                <a:latin typeface="+mn-lt"/>
              </a:rPr>
              <a:t> </a:t>
            </a:r>
            <a:r>
              <a:rPr sz="2000" spc="-140" dirty="0">
                <a:latin typeface="+mn-lt"/>
              </a:rPr>
              <a:t>corresponding</a:t>
            </a:r>
            <a:r>
              <a:rPr sz="2000" spc="-55" dirty="0">
                <a:latin typeface="+mn-lt"/>
              </a:rPr>
              <a:t> </a:t>
            </a:r>
            <a:r>
              <a:rPr sz="2000" spc="-100" dirty="0">
                <a:latin typeface="+mn-lt"/>
              </a:rPr>
              <a:t>similarity</a:t>
            </a:r>
            <a:r>
              <a:rPr sz="2000" spc="-55" dirty="0">
                <a:latin typeface="+mn-lt"/>
              </a:rPr>
              <a:t> </a:t>
            </a:r>
            <a:r>
              <a:rPr sz="2000" spc="-25" dirty="0">
                <a:latin typeface="+mn-lt"/>
              </a:rPr>
              <a:t>row</a:t>
            </a:r>
          </a:p>
          <a:p>
            <a:pPr marL="354965" indent="-342265">
              <a:lnSpc>
                <a:spcPct val="100000"/>
              </a:lnSpc>
              <a:spcBef>
                <a:spcPts val="1320"/>
              </a:spcBef>
              <a:buAutoNum type="arabicPeriod"/>
              <a:tabLst>
                <a:tab pos="354965" algn="l"/>
              </a:tabLst>
            </a:pPr>
            <a:r>
              <a:rPr sz="2000" spc="-65" dirty="0">
                <a:latin typeface="+mn-lt"/>
              </a:rPr>
              <a:t>Sorts</a:t>
            </a:r>
            <a:r>
              <a:rPr sz="2000" spc="-90" dirty="0">
                <a:latin typeface="+mn-lt"/>
              </a:rPr>
              <a:t> </a:t>
            </a:r>
            <a:r>
              <a:rPr sz="2000" spc="-150" dirty="0">
                <a:latin typeface="+mn-lt"/>
              </a:rPr>
              <a:t>indices</a:t>
            </a:r>
            <a:r>
              <a:rPr sz="2000" spc="-85" dirty="0">
                <a:latin typeface="+mn-lt"/>
              </a:rPr>
              <a:t> </a:t>
            </a:r>
            <a:r>
              <a:rPr sz="2000" spc="-170" dirty="0">
                <a:latin typeface="+mn-lt"/>
              </a:rPr>
              <a:t>by</a:t>
            </a:r>
            <a:r>
              <a:rPr sz="2000" spc="-90" dirty="0">
                <a:latin typeface="+mn-lt"/>
              </a:rPr>
              <a:t> </a:t>
            </a:r>
            <a:r>
              <a:rPr sz="2000" spc="-150" dirty="0">
                <a:latin typeface="+mn-lt"/>
              </a:rPr>
              <a:t>cosine</a:t>
            </a:r>
            <a:r>
              <a:rPr sz="2000" spc="-85" dirty="0">
                <a:latin typeface="+mn-lt"/>
              </a:rPr>
              <a:t> </a:t>
            </a:r>
            <a:r>
              <a:rPr sz="2000" spc="-110" dirty="0">
                <a:latin typeface="+mn-lt"/>
              </a:rPr>
              <a:t>scores</a:t>
            </a:r>
            <a:r>
              <a:rPr sz="2000" spc="-90" dirty="0">
                <a:latin typeface="+mn-lt"/>
              </a:rPr>
              <a:t> </a:t>
            </a:r>
            <a:r>
              <a:rPr sz="2000" spc="-55" dirty="0">
                <a:latin typeface="+mn-lt"/>
              </a:rPr>
              <a:t>(descending)</a:t>
            </a:r>
          </a:p>
          <a:p>
            <a:pPr marL="354965" indent="-342265">
              <a:lnSpc>
                <a:spcPct val="100000"/>
              </a:lnSpc>
              <a:spcBef>
                <a:spcPts val="1245"/>
              </a:spcBef>
              <a:buAutoNum type="arabicPeriod"/>
              <a:tabLst>
                <a:tab pos="354965" algn="l"/>
              </a:tabLst>
            </a:pPr>
            <a:r>
              <a:rPr sz="2000" spc="-114" dirty="0">
                <a:latin typeface="+mn-lt"/>
              </a:rPr>
              <a:t>Selects</a:t>
            </a:r>
            <a:r>
              <a:rPr sz="2000" spc="-85" dirty="0">
                <a:latin typeface="+mn-lt"/>
              </a:rPr>
              <a:t> </a:t>
            </a:r>
            <a:r>
              <a:rPr sz="2000" spc="-165" dirty="0">
                <a:latin typeface="+mn-lt"/>
              </a:rPr>
              <a:t>top</a:t>
            </a:r>
            <a:r>
              <a:rPr sz="2000" spc="-80" dirty="0">
                <a:latin typeface="+mn-lt"/>
              </a:rPr>
              <a:t> </a:t>
            </a:r>
            <a:r>
              <a:rPr sz="2000" spc="-165" dirty="0">
                <a:latin typeface="+mn-lt"/>
              </a:rPr>
              <a:t>5</a:t>
            </a:r>
            <a:r>
              <a:rPr sz="2000" spc="-85" dirty="0">
                <a:latin typeface="+mn-lt"/>
              </a:rPr>
              <a:t> </a:t>
            </a:r>
            <a:r>
              <a:rPr sz="2000" spc="-114" dirty="0">
                <a:latin typeface="+mn-lt"/>
              </a:rPr>
              <a:t>non-</a:t>
            </a:r>
            <a:r>
              <a:rPr sz="2000" spc="-80" dirty="0">
                <a:latin typeface="+mn-lt"/>
              </a:rPr>
              <a:t>self </a:t>
            </a:r>
            <a:r>
              <a:rPr sz="2000" spc="-10" dirty="0">
                <a:latin typeface="+mn-lt"/>
              </a:rPr>
              <a:t>matches</a:t>
            </a:r>
          </a:p>
          <a:p>
            <a:pPr marL="354965" indent="-342265">
              <a:lnSpc>
                <a:spcPct val="100000"/>
              </a:lnSpc>
              <a:spcBef>
                <a:spcPts val="1320"/>
              </a:spcBef>
              <a:buAutoNum type="arabicPeriod"/>
              <a:tabLst>
                <a:tab pos="354965" algn="l"/>
              </a:tabLst>
            </a:pPr>
            <a:r>
              <a:rPr sz="2000" spc="-130" dirty="0">
                <a:latin typeface="+mn-lt"/>
              </a:rPr>
              <a:t>Returns</a:t>
            </a:r>
            <a:r>
              <a:rPr sz="2000" spc="-85" dirty="0">
                <a:latin typeface="+mn-lt"/>
              </a:rPr>
              <a:t> </a:t>
            </a:r>
            <a:r>
              <a:rPr sz="2000" spc="-190" dirty="0">
                <a:latin typeface="+mn-lt"/>
              </a:rPr>
              <a:t>movie</a:t>
            </a:r>
            <a:r>
              <a:rPr sz="2000" spc="-80" dirty="0">
                <a:latin typeface="+mn-lt"/>
              </a:rPr>
              <a:t> </a:t>
            </a:r>
            <a:r>
              <a:rPr sz="2000" spc="-95" dirty="0">
                <a:latin typeface="+mn-lt"/>
              </a:rPr>
              <a:t>titles</a:t>
            </a:r>
            <a:r>
              <a:rPr sz="2000" spc="-80" dirty="0">
                <a:latin typeface="+mn-lt"/>
              </a:rPr>
              <a:t> </a:t>
            </a:r>
            <a:r>
              <a:rPr sz="2000" spc="-120" dirty="0">
                <a:latin typeface="+mn-lt"/>
              </a:rPr>
              <a:t>as</a:t>
            </a:r>
            <a:r>
              <a:rPr sz="2000" spc="-80" dirty="0">
                <a:latin typeface="+mn-lt"/>
              </a:rPr>
              <a:t> </a:t>
            </a:r>
            <a:r>
              <a:rPr sz="2000" spc="-100" dirty="0">
                <a:latin typeface="+mn-lt"/>
              </a:rPr>
              <a:t>recommendations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BC9C52A-2BC6-FDD3-72C5-E7D2B0D4A335}"/>
              </a:ext>
            </a:extLst>
          </p:cNvPr>
          <p:cNvGrpSpPr/>
          <p:nvPr/>
        </p:nvGrpSpPr>
        <p:grpSpPr>
          <a:xfrm>
            <a:off x="6428481" y="2438400"/>
            <a:ext cx="4339234" cy="4158959"/>
            <a:chOff x="5795366" y="1687512"/>
            <a:chExt cx="4705350" cy="4158959"/>
          </a:xfrm>
        </p:grpSpPr>
        <p:grpSp>
          <p:nvGrpSpPr>
            <p:cNvPr id="6" name="object 6"/>
            <p:cNvGrpSpPr/>
            <p:nvPr/>
          </p:nvGrpSpPr>
          <p:grpSpPr>
            <a:xfrm>
              <a:off x="5795366" y="2643186"/>
              <a:ext cx="4705350" cy="1247775"/>
              <a:chOff x="5981698" y="2219324"/>
              <a:chExt cx="4705350" cy="1247775"/>
            </a:xfrm>
          </p:grpSpPr>
          <p:sp>
            <p:nvSpPr>
              <p:cNvPr id="7" name="object 7"/>
              <p:cNvSpPr/>
              <p:nvPr/>
            </p:nvSpPr>
            <p:spPr>
              <a:xfrm>
                <a:off x="5981698" y="2219324"/>
                <a:ext cx="4705350" cy="1247775"/>
              </a:xfrm>
              <a:custGeom>
                <a:avLst/>
                <a:gdLst/>
                <a:ahLst/>
                <a:cxnLst/>
                <a:rect l="l" t="t" r="r" b="b"/>
                <a:pathLst>
                  <a:path w="4705350" h="1247775">
                    <a:moveTo>
                      <a:pt x="4635264" y="1247774"/>
                    </a:moveTo>
                    <a:lnTo>
                      <a:pt x="70084" y="1247774"/>
                    </a:lnTo>
                    <a:lnTo>
                      <a:pt x="65206" y="1247294"/>
                    </a:lnTo>
                    <a:lnTo>
                      <a:pt x="29241" y="1232397"/>
                    </a:lnTo>
                    <a:lnTo>
                      <a:pt x="3824" y="1196919"/>
                    </a:lnTo>
                    <a:lnTo>
                      <a:pt x="0" y="1177690"/>
                    </a:lnTo>
                    <a:lnTo>
                      <a:pt x="0" y="1172765"/>
                    </a:lnTo>
                    <a:lnTo>
                      <a:pt x="0" y="70084"/>
                    </a:lnTo>
                    <a:lnTo>
                      <a:pt x="15376" y="29240"/>
                    </a:lnTo>
                    <a:lnTo>
                      <a:pt x="50854" y="3824"/>
                    </a:lnTo>
                    <a:lnTo>
                      <a:pt x="70084" y="0"/>
                    </a:lnTo>
                    <a:lnTo>
                      <a:pt x="4635264" y="0"/>
                    </a:lnTo>
                    <a:lnTo>
                      <a:pt x="4676106" y="15377"/>
                    </a:lnTo>
                    <a:lnTo>
                      <a:pt x="4701523" y="50854"/>
                    </a:lnTo>
                    <a:lnTo>
                      <a:pt x="4705349" y="70084"/>
                    </a:lnTo>
                    <a:lnTo>
                      <a:pt x="4705349" y="1177690"/>
                    </a:lnTo>
                    <a:lnTo>
                      <a:pt x="4689972" y="1218532"/>
                    </a:lnTo>
                    <a:lnTo>
                      <a:pt x="4654494" y="1243949"/>
                    </a:lnTo>
                    <a:lnTo>
                      <a:pt x="4640142" y="1247294"/>
                    </a:lnTo>
                    <a:lnTo>
                      <a:pt x="4635264" y="1247774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  <p:txBody>
              <a:bodyPr wrap="square" lIns="0" tIns="0" rIns="0" bIns="0" rtlCol="0"/>
              <a:lstStyle/>
              <a:p>
                <a:endParaRPr sz="2000">
                  <a:latin typeface="+mn-lt"/>
                </a:endParaRPr>
              </a:p>
            </p:txBody>
          </p:sp>
          <p:pic>
            <p:nvPicPr>
              <p:cNvPr id="8" name="object 8"/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6240958" y="2556569"/>
                <a:ext cx="187523" cy="187523"/>
              </a:xfrm>
              <a:prstGeom prst="rect">
                <a:avLst/>
              </a:prstGeom>
            </p:spPr>
          </p:pic>
        </p:grpSp>
        <p:sp>
          <p:nvSpPr>
            <p:cNvPr id="9" name="object 9"/>
            <p:cNvSpPr txBox="1"/>
            <p:nvPr/>
          </p:nvSpPr>
          <p:spPr>
            <a:xfrm>
              <a:off x="5973166" y="1687512"/>
              <a:ext cx="4349750" cy="4158959"/>
            </a:xfrm>
            <a:prstGeom prst="rect">
              <a:avLst/>
            </a:prstGeom>
          </p:spPr>
          <p:txBody>
            <a:bodyPr vert="horz" wrap="square" lIns="0" tIns="1714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sz="3000" spc="-165" dirty="0">
                  <a:solidFill>
                    <a:srgbClr val="373737"/>
                  </a:solidFill>
                  <a:latin typeface="+mn-lt"/>
                  <a:cs typeface="Trebuchet MS"/>
                </a:rPr>
                <a:t>Implementation</a:t>
              </a:r>
              <a:r>
                <a:rPr sz="3000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3000" spc="-10" dirty="0">
                  <a:solidFill>
                    <a:srgbClr val="373737"/>
                  </a:solidFill>
                  <a:latin typeface="+mn-lt"/>
                  <a:cs typeface="Trebuchet MS"/>
                </a:rPr>
                <a:t>Notes</a:t>
              </a:r>
              <a:endParaRPr sz="3000" dirty="0">
                <a:latin typeface="+mn-lt"/>
                <a:cs typeface="Trebuchet MS"/>
              </a:endParaRPr>
            </a:p>
            <a:p>
              <a:pPr>
                <a:lnSpc>
                  <a:spcPct val="100000"/>
                </a:lnSpc>
                <a:spcBef>
                  <a:spcPts val="1835"/>
                </a:spcBef>
              </a:pPr>
              <a:endParaRPr sz="2000" dirty="0">
                <a:latin typeface="+mn-lt"/>
                <a:cs typeface="Trebuchet MS"/>
              </a:endParaRPr>
            </a:p>
            <a:p>
              <a:pPr marL="708660" marR="50165">
                <a:lnSpc>
                  <a:spcPct val="136400"/>
                </a:lnSpc>
              </a:pPr>
              <a:r>
                <a:rPr sz="2000" spc="-114" dirty="0">
                  <a:latin typeface="+mn-lt"/>
                  <a:cs typeface="Trebuchet MS"/>
                </a:rPr>
                <a:t>System</a:t>
              </a:r>
              <a:r>
                <a:rPr sz="2000" spc="-100" dirty="0">
                  <a:latin typeface="+mn-lt"/>
                  <a:cs typeface="Trebuchet MS"/>
                </a:rPr>
                <a:t> </a:t>
              </a:r>
              <a:r>
                <a:rPr sz="2000" spc="-175" dirty="0">
                  <a:latin typeface="+mn-lt"/>
                  <a:cs typeface="Trebuchet MS"/>
                </a:rPr>
                <a:t>can</a:t>
              </a:r>
              <a:r>
                <a:rPr sz="2000" spc="-95" dirty="0">
                  <a:latin typeface="+mn-lt"/>
                  <a:cs typeface="Trebuchet MS"/>
                </a:rPr>
                <a:t> </a:t>
              </a:r>
              <a:r>
                <a:rPr sz="2000" spc="-114" dirty="0">
                  <a:latin typeface="+mn-lt"/>
                  <a:cs typeface="Trebuchet MS"/>
                </a:rPr>
                <a:t>return</a:t>
              </a:r>
              <a:r>
                <a:rPr sz="2000" spc="-95" dirty="0">
                  <a:latin typeface="+mn-lt"/>
                  <a:cs typeface="Trebuchet MS"/>
                </a:rPr>
                <a:t> </a:t>
              </a:r>
              <a:r>
                <a:rPr sz="2000" spc="-215" dirty="0">
                  <a:latin typeface="+mn-lt"/>
                  <a:cs typeface="Trebuchet MS"/>
                </a:rPr>
                <a:t>up</a:t>
              </a:r>
              <a:r>
                <a:rPr sz="2000" spc="-95" dirty="0">
                  <a:latin typeface="+mn-lt"/>
                  <a:cs typeface="Trebuchet MS"/>
                </a:rPr>
                <a:t> </a:t>
              </a:r>
              <a:r>
                <a:rPr sz="2000" spc="-150" dirty="0">
                  <a:latin typeface="+mn-lt"/>
                  <a:cs typeface="Trebuchet MS"/>
                </a:rPr>
                <a:t>to</a:t>
              </a:r>
              <a:r>
                <a:rPr sz="2000" spc="-95" dirty="0">
                  <a:latin typeface="+mn-lt"/>
                  <a:cs typeface="Trebuchet MS"/>
                </a:rPr>
                <a:t> </a:t>
              </a:r>
              <a:r>
                <a:rPr sz="2000" spc="-120" dirty="0">
                  <a:latin typeface="+mn-lt"/>
                  <a:cs typeface="Trebuchet MS"/>
                </a:rPr>
                <a:t>30</a:t>
              </a:r>
              <a:r>
                <a:rPr sz="2000" spc="-95" dirty="0">
                  <a:latin typeface="+mn-lt"/>
                  <a:cs typeface="Trebuchet MS"/>
                </a:rPr>
                <a:t> </a:t>
              </a:r>
              <a:r>
                <a:rPr sz="2000" spc="-170" dirty="0">
                  <a:latin typeface="+mn-lt"/>
                  <a:cs typeface="Trebuchet MS"/>
                </a:rPr>
                <a:t>recommendations, </a:t>
              </a:r>
              <a:r>
                <a:rPr sz="2000" spc="-155" dirty="0">
                  <a:latin typeface="+mn-lt"/>
                  <a:cs typeface="Trebuchet MS"/>
                </a:rPr>
                <a:t>excluding</a:t>
              </a:r>
              <a:r>
                <a:rPr sz="2000" spc="-80" dirty="0">
                  <a:latin typeface="+mn-lt"/>
                  <a:cs typeface="Trebuchet MS"/>
                </a:rPr>
                <a:t> </a:t>
              </a:r>
              <a:r>
                <a:rPr sz="2000" spc="-170" dirty="0">
                  <a:latin typeface="+mn-lt"/>
                  <a:cs typeface="Trebuchet MS"/>
                </a:rPr>
                <a:t>the</a:t>
              </a:r>
              <a:r>
                <a:rPr sz="2000" spc="-80" dirty="0">
                  <a:latin typeface="+mn-lt"/>
                  <a:cs typeface="Trebuchet MS"/>
                </a:rPr>
                <a:t> </a:t>
              </a:r>
              <a:r>
                <a:rPr sz="2000" spc="-155" dirty="0">
                  <a:latin typeface="+mn-lt"/>
                  <a:cs typeface="Trebuchet MS"/>
                </a:rPr>
                <a:t>input</a:t>
              </a:r>
              <a:r>
                <a:rPr sz="2000" spc="-75" dirty="0">
                  <a:latin typeface="+mn-lt"/>
                  <a:cs typeface="Trebuchet MS"/>
                </a:rPr>
                <a:t> </a:t>
              </a:r>
              <a:r>
                <a:rPr sz="2000" spc="-190" dirty="0">
                  <a:latin typeface="+mn-lt"/>
                  <a:cs typeface="Trebuchet MS"/>
                </a:rPr>
                <a:t>movie</a:t>
              </a:r>
              <a:r>
                <a:rPr sz="2000" spc="-80" dirty="0">
                  <a:latin typeface="+mn-lt"/>
                  <a:cs typeface="Trebuchet MS"/>
                </a:rPr>
                <a:t> </a:t>
              </a:r>
              <a:r>
                <a:rPr sz="2000" spc="-85" dirty="0">
                  <a:latin typeface="+mn-lt"/>
                  <a:cs typeface="Trebuchet MS"/>
                </a:rPr>
                <a:t>itself</a:t>
              </a:r>
              <a:r>
                <a:rPr sz="2000" spc="-80" dirty="0">
                  <a:latin typeface="+mn-lt"/>
                  <a:cs typeface="Trebuchet MS"/>
                </a:rPr>
                <a:t> </a:t>
              </a:r>
              <a:r>
                <a:rPr sz="2000" spc="-114" dirty="0">
                  <a:latin typeface="+mn-lt"/>
                  <a:cs typeface="Trebuchet MS"/>
                </a:rPr>
                <a:t>from</a:t>
              </a:r>
              <a:r>
                <a:rPr sz="2000" spc="-75" dirty="0">
                  <a:latin typeface="+mn-lt"/>
                  <a:cs typeface="Trebuchet MS"/>
                </a:rPr>
                <a:t> </a:t>
              </a:r>
              <a:r>
                <a:rPr sz="2000" spc="-50" dirty="0">
                  <a:latin typeface="+mn-lt"/>
                  <a:cs typeface="Trebuchet MS"/>
                </a:rPr>
                <a:t>results.</a:t>
              </a:r>
              <a:endParaRPr sz="2000" dirty="0">
                <a:latin typeface="+mn-lt"/>
                <a:cs typeface="Trebuchet MS"/>
              </a:endParaRPr>
            </a:p>
            <a:p>
              <a:pPr>
                <a:lnSpc>
                  <a:spcPct val="100000"/>
                </a:lnSpc>
              </a:pPr>
              <a:endParaRPr sz="2000" dirty="0">
                <a:latin typeface="+mn-lt"/>
                <a:cs typeface="Trebuchet MS"/>
              </a:endParaRPr>
            </a:p>
            <a:p>
              <a:pPr>
                <a:lnSpc>
                  <a:spcPct val="100000"/>
                </a:lnSpc>
                <a:spcBef>
                  <a:spcPts val="440"/>
                </a:spcBef>
              </a:pPr>
              <a:endParaRPr sz="2000" dirty="0">
                <a:latin typeface="+mn-lt"/>
                <a:cs typeface="Trebuchet MS"/>
              </a:endParaRPr>
            </a:p>
            <a:p>
              <a:pPr marL="12700" marR="5080">
                <a:lnSpc>
                  <a:spcPct val="136400"/>
                </a:lnSpc>
              </a:pPr>
              <a:r>
                <a:rPr sz="2000" spc="-204" dirty="0">
                  <a:solidFill>
                    <a:srgbClr val="373737"/>
                  </a:solidFill>
                  <a:latin typeface="+mn-lt"/>
                  <a:cs typeface="Trebuchet MS"/>
                </a:rPr>
                <a:t>The</a:t>
              </a:r>
              <a:r>
                <a:rPr sz="2000" spc="-65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140" dirty="0">
                  <a:solidFill>
                    <a:srgbClr val="373737"/>
                  </a:solidFill>
                  <a:latin typeface="+mn-lt"/>
                  <a:cs typeface="Trebuchet MS"/>
                </a:rPr>
                <a:t>interactive</a:t>
              </a:r>
              <a:r>
                <a:rPr sz="2000" spc="-65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170" dirty="0">
                  <a:solidFill>
                    <a:srgbClr val="373737"/>
                  </a:solidFill>
                  <a:latin typeface="+mn-lt"/>
                  <a:cs typeface="Trebuchet MS"/>
                </a:rPr>
                <a:t>loop</a:t>
              </a:r>
              <a:r>
                <a:rPr sz="2000" spc="-60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125" dirty="0">
                  <a:solidFill>
                    <a:srgbClr val="373737"/>
                  </a:solidFill>
                  <a:latin typeface="+mn-lt"/>
                  <a:cs typeface="Trebuchet MS"/>
                </a:rPr>
                <a:t>supports</a:t>
              </a:r>
              <a:r>
                <a:rPr sz="2000" spc="-65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150" dirty="0">
                  <a:solidFill>
                    <a:srgbClr val="373737"/>
                  </a:solidFill>
                  <a:latin typeface="+mn-lt"/>
                  <a:cs typeface="Trebuchet MS"/>
                </a:rPr>
                <a:t>multiple</a:t>
              </a:r>
              <a:r>
                <a:rPr sz="2000" spc="-60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160" dirty="0">
                  <a:solidFill>
                    <a:srgbClr val="373737"/>
                  </a:solidFill>
                  <a:latin typeface="+mn-lt"/>
                  <a:cs typeface="Trebuchet MS"/>
                </a:rPr>
                <a:t>queries,</a:t>
              </a:r>
              <a:r>
                <a:rPr sz="2000" spc="-65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140" dirty="0">
                  <a:solidFill>
                    <a:srgbClr val="373737"/>
                  </a:solidFill>
                  <a:latin typeface="+mn-lt"/>
                  <a:cs typeface="Trebuchet MS"/>
                </a:rPr>
                <a:t>enabling </a:t>
              </a:r>
              <a:r>
                <a:rPr sz="2000" spc="-100" dirty="0">
                  <a:solidFill>
                    <a:srgbClr val="373737"/>
                  </a:solidFill>
                  <a:latin typeface="+mn-lt"/>
                  <a:cs typeface="Trebuchet MS"/>
                </a:rPr>
                <a:t>users</a:t>
              </a:r>
              <a:r>
                <a:rPr sz="2000" spc="-80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150" dirty="0">
                  <a:solidFill>
                    <a:srgbClr val="373737"/>
                  </a:solidFill>
                  <a:latin typeface="+mn-lt"/>
                  <a:cs typeface="Trebuchet MS"/>
                </a:rPr>
                <a:t>to</a:t>
              </a:r>
              <a:r>
                <a:rPr sz="2000" spc="-80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145" dirty="0">
                  <a:solidFill>
                    <a:srgbClr val="373737"/>
                  </a:solidFill>
                  <a:latin typeface="+mn-lt"/>
                  <a:cs typeface="Trebuchet MS"/>
                </a:rPr>
                <a:t>explore</a:t>
              </a:r>
              <a:r>
                <a:rPr sz="2000" spc="-75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125" dirty="0">
                  <a:solidFill>
                    <a:srgbClr val="373737"/>
                  </a:solidFill>
                  <a:latin typeface="+mn-lt"/>
                  <a:cs typeface="Trebuchet MS"/>
                </a:rPr>
                <a:t>different</a:t>
              </a:r>
              <a:r>
                <a:rPr sz="2000" spc="-80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90" dirty="0">
                  <a:solidFill>
                    <a:srgbClr val="373737"/>
                  </a:solidFill>
                  <a:latin typeface="+mn-lt"/>
                  <a:cs typeface="Trebuchet MS"/>
                </a:rPr>
                <a:t>starting</a:t>
              </a:r>
              <a:r>
                <a:rPr sz="2000" spc="-75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10" dirty="0">
                  <a:solidFill>
                    <a:srgbClr val="373737"/>
                  </a:solidFill>
                  <a:latin typeface="+mn-lt"/>
                  <a:cs typeface="Trebuchet MS"/>
                </a:rPr>
                <a:t>points.</a:t>
              </a:r>
              <a:endParaRPr sz="2000" dirty="0">
                <a:latin typeface="+mn-lt"/>
                <a:cs typeface="Trebuchet MS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2813" y="464078"/>
            <a:ext cx="7093387" cy="1025388"/>
          </a:xfrm>
          <a:prstGeom prst="rect">
            <a:avLst/>
          </a:prstGeom>
        </p:spPr>
        <p:txBody>
          <a:bodyPr vert="horz" wrap="square" lIns="0" tIns="405871" rIns="0" bIns="0" rtlCol="0">
            <a:spAutoFit/>
          </a:bodyPr>
          <a:lstStyle/>
          <a:p>
            <a:pPr marL="146685">
              <a:lnSpc>
                <a:spcPct val="100000"/>
              </a:lnSpc>
              <a:spcBef>
                <a:spcPts val="125"/>
              </a:spcBef>
            </a:pPr>
            <a:r>
              <a:rPr sz="4000" spc="-345" dirty="0">
                <a:latin typeface="+mn-lt"/>
              </a:rPr>
              <a:t>Sample</a:t>
            </a:r>
            <a:r>
              <a:rPr sz="4000" spc="-220" dirty="0">
                <a:latin typeface="+mn-lt"/>
              </a:rPr>
              <a:t> </a:t>
            </a:r>
            <a:r>
              <a:rPr sz="4000" spc="-370" dirty="0">
                <a:latin typeface="+mn-lt"/>
              </a:rPr>
              <a:t>Output:</a:t>
            </a:r>
            <a:r>
              <a:rPr sz="4000" spc="-220" dirty="0">
                <a:latin typeface="+mn-lt"/>
              </a:rPr>
              <a:t> </a:t>
            </a:r>
            <a:r>
              <a:rPr sz="4000" spc="-350" dirty="0">
                <a:latin typeface="+mn-lt"/>
              </a:rPr>
              <a:t>Guardians</a:t>
            </a:r>
            <a:r>
              <a:rPr sz="4000" spc="-220" dirty="0">
                <a:latin typeface="+mn-lt"/>
              </a:rPr>
              <a:t> </a:t>
            </a:r>
            <a:r>
              <a:rPr sz="4000" spc="-250" dirty="0">
                <a:latin typeface="+mn-lt"/>
              </a:rPr>
              <a:t>of</a:t>
            </a:r>
            <a:r>
              <a:rPr sz="4000" spc="-220" dirty="0">
                <a:latin typeface="+mn-lt"/>
              </a:rPr>
              <a:t> </a:t>
            </a:r>
            <a:r>
              <a:rPr sz="4000" spc="-365" dirty="0">
                <a:latin typeface="+mn-lt"/>
              </a:rPr>
              <a:t>the</a:t>
            </a:r>
            <a:r>
              <a:rPr sz="4000" spc="-220" dirty="0">
                <a:latin typeface="+mn-lt"/>
              </a:rPr>
              <a:t> </a:t>
            </a:r>
            <a:r>
              <a:rPr sz="4000" spc="-350" dirty="0">
                <a:latin typeface="+mn-lt"/>
              </a:rPr>
              <a:t>Galaxy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DE94E59-4342-7D90-E069-615FF69CB1DA}"/>
              </a:ext>
            </a:extLst>
          </p:cNvPr>
          <p:cNvGrpSpPr/>
          <p:nvPr/>
        </p:nvGrpSpPr>
        <p:grpSpPr>
          <a:xfrm>
            <a:off x="723900" y="1838324"/>
            <a:ext cx="9982200" cy="4867276"/>
            <a:chOff x="723900" y="1838324"/>
            <a:chExt cx="9982200" cy="4867276"/>
          </a:xfrm>
        </p:grpSpPr>
        <p:sp>
          <p:nvSpPr>
            <p:cNvPr id="3" name="object 3"/>
            <p:cNvSpPr/>
            <p:nvPr/>
          </p:nvSpPr>
          <p:spPr>
            <a:xfrm>
              <a:off x="723900" y="1838324"/>
              <a:ext cx="3190875" cy="57150"/>
            </a:xfrm>
            <a:custGeom>
              <a:avLst/>
              <a:gdLst/>
              <a:ahLst/>
              <a:cxnLst/>
              <a:rect l="l" t="t" r="r" b="b"/>
              <a:pathLst>
                <a:path w="3190875" h="57150">
                  <a:moveTo>
                    <a:pt x="3190875" y="0"/>
                  </a:moveTo>
                  <a:lnTo>
                    <a:pt x="0" y="0"/>
                  </a:lnTo>
                  <a:lnTo>
                    <a:pt x="0" y="57150"/>
                  </a:lnTo>
                  <a:lnTo>
                    <a:pt x="3190875" y="57150"/>
                  </a:lnTo>
                  <a:lnTo>
                    <a:pt x="3190875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 sz="2000">
                <a:latin typeface="+mn-lt"/>
              </a:endParaRPr>
            </a:p>
          </p:txBody>
        </p:sp>
        <p:sp>
          <p:nvSpPr>
            <p:cNvPr id="4" name="object 4"/>
            <p:cNvSpPr txBox="1"/>
            <p:nvPr/>
          </p:nvSpPr>
          <p:spPr>
            <a:xfrm>
              <a:off x="737393" y="2252548"/>
              <a:ext cx="3028950" cy="1215076"/>
            </a:xfrm>
            <a:prstGeom prst="rect">
              <a:avLst/>
            </a:prstGeom>
          </p:spPr>
          <p:txBody>
            <a:bodyPr vert="horz" wrap="square" lIns="0" tIns="1714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sz="2000" spc="-250" dirty="0">
                  <a:solidFill>
                    <a:srgbClr val="373737"/>
                  </a:solidFill>
                  <a:latin typeface="+mn-lt"/>
                  <a:cs typeface="Trebuchet MS"/>
                </a:rPr>
                <a:t>1.</a:t>
              </a:r>
              <a:r>
                <a:rPr sz="2000" spc="-110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10" dirty="0">
                  <a:solidFill>
                    <a:srgbClr val="373737"/>
                  </a:solidFill>
                  <a:latin typeface="+mn-lt"/>
                  <a:cs typeface="Trebuchet MS"/>
                </a:rPr>
                <a:t>Avatar</a:t>
              </a:r>
              <a:endParaRPr sz="2000" dirty="0">
                <a:latin typeface="+mn-lt"/>
                <a:cs typeface="Trebuchet MS"/>
              </a:endParaRPr>
            </a:p>
            <a:p>
              <a:pPr marL="12700" marR="5080">
                <a:lnSpc>
                  <a:spcPct val="136400"/>
                </a:lnSpc>
                <a:spcBef>
                  <a:spcPts val="675"/>
                </a:spcBef>
              </a:pPr>
              <a:r>
                <a:rPr sz="2000" spc="-170" dirty="0">
                  <a:solidFill>
                    <a:srgbClr val="373737"/>
                  </a:solidFill>
                  <a:latin typeface="+mn-lt"/>
                  <a:cs typeface="Trebuchet MS"/>
                </a:rPr>
                <a:t>High</a:t>
              </a:r>
              <a:r>
                <a:rPr sz="2000" spc="-60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105" dirty="0">
                  <a:solidFill>
                    <a:srgbClr val="373737"/>
                  </a:solidFill>
                  <a:latin typeface="+mn-lt"/>
                  <a:cs typeface="Trebuchet MS"/>
                </a:rPr>
                <a:t>similarity</a:t>
              </a:r>
              <a:r>
                <a:rPr sz="2000" spc="-60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130" dirty="0">
                  <a:solidFill>
                    <a:srgbClr val="373737"/>
                  </a:solidFill>
                  <a:latin typeface="+mn-lt"/>
                  <a:cs typeface="Trebuchet MS"/>
                </a:rPr>
                <a:t>score</a:t>
              </a:r>
              <a:r>
                <a:rPr sz="2000" spc="-60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114" dirty="0">
                  <a:solidFill>
                    <a:srgbClr val="373737"/>
                  </a:solidFill>
                  <a:latin typeface="+mn-lt"/>
                  <a:cs typeface="Trebuchet MS"/>
                </a:rPr>
                <a:t>reflecting</a:t>
              </a:r>
              <a:r>
                <a:rPr sz="2000" spc="-60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140" dirty="0">
                  <a:solidFill>
                    <a:srgbClr val="373737"/>
                  </a:solidFill>
                  <a:latin typeface="+mn-lt"/>
                  <a:cs typeface="Trebuchet MS"/>
                </a:rPr>
                <a:t>shared </a:t>
              </a:r>
              <a:r>
                <a:rPr sz="2000" spc="-60" dirty="0">
                  <a:solidFill>
                    <a:srgbClr val="373737"/>
                  </a:solidFill>
                  <a:latin typeface="+mn-lt"/>
                  <a:cs typeface="Trebuchet MS"/>
                </a:rPr>
                <a:t>sci-</a:t>
              </a:r>
              <a:r>
                <a:rPr sz="2000" spc="-45" dirty="0">
                  <a:solidFill>
                    <a:srgbClr val="373737"/>
                  </a:solidFill>
                  <a:latin typeface="+mn-lt"/>
                  <a:cs typeface="Trebuchet MS"/>
                </a:rPr>
                <a:t>fi</a:t>
              </a:r>
              <a:r>
                <a:rPr sz="2000" spc="-85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210" dirty="0">
                  <a:solidFill>
                    <a:srgbClr val="373737"/>
                  </a:solidFill>
                  <a:latin typeface="+mn-lt"/>
                  <a:cs typeface="Trebuchet MS"/>
                </a:rPr>
                <a:t>and</a:t>
              </a:r>
              <a:r>
                <a:rPr sz="2000" spc="-85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150" dirty="0">
                  <a:solidFill>
                    <a:srgbClr val="373737"/>
                  </a:solidFill>
                  <a:latin typeface="+mn-lt"/>
                  <a:cs typeface="Trebuchet MS"/>
                </a:rPr>
                <a:t>action</a:t>
              </a:r>
              <a:r>
                <a:rPr sz="2000" spc="-85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35" dirty="0">
                  <a:solidFill>
                    <a:srgbClr val="373737"/>
                  </a:solidFill>
                  <a:latin typeface="+mn-lt"/>
                  <a:cs typeface="Trebuchet MS"/>
                </a:rPr>
                <a:t>elements</a:t>
              </a:r>
              <a:endParaRPr sz="2000" dirty="0">
                <a:latin typeface="+mn-lt"/>
                <a:cs typeface="Trebuchet MS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4124325" y="1838324"/>
              <a:ext cx="3181350" cy="57150"/>
            </a:xfrm>
            <a:custGeom>
              <a:avLst/>
              <a:gdLst/>
              <a:ahLst/>
              <a:cxnLst/>
              <a:rect l="l" t="t" r="r" b="b"/>
              <a:pathLst>
                <a:path w="3181350" h="57150">
                  <a:moveTo>
                    <a:pt x="3181350" y="0"/>
                  </a:moveTo>
                  <a:lnTo>
                    <a:pt x="0" y="0"/>
                  </a:lnTo>
                  <a:lnTo>
                    <a:pt x="0" y="57150"/>
                  </a:lnTo>
                  <a:lnTo>
                    <a:pt x="3181350" y="57150"/>
                  </a:lnTo>
                  <a:lnTo>
                    <a:pt x="3181350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 sz="2000">
                <a:latin typeface="+mn-lt"/>
              </a:endParaRPr>
            </a:p>
          </p:txBody>
        </p:sp>
        <p:sp>
          <p:nvSpPr>
            <p:cNvPr id="6" name="object 6"/>
            <p:cNvSpPr txBox="1"/>
            <p:nvPr/>
          </p:nvSpPr>
          <p:spPr>
            <a:xfrm>
              <a:off x="4136631" y="2252548"/>
              <a:ext cx="2489200" cy="1633652"/>
            </a:xfrm>
            <a:prstGeom prst="rect">
              <a:avLst/>
            </a:prstGeom>
          </p:spPr>
          <p:txBody>
            <a:bodyPr vert="horz" wrap="square" lIns="0" tIns="1714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sz="2000" spc="-170" dirty="0">
                  <a:solidFill>
                    <a:srgbClr val="373737"/>
                  </a:solidFill>
                  <a:latin typeface="+mn-lt"/>
                  <a:cs typeface="Trebuchet MS"/>
                </a:rPr>
                <a:t>2.</a:t>
              </a:r>
              <a:r>
                <a:rPr sz="2000" spc="-90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204" dirty="0">
                  <a:solidFill>
                    <a:srgbClr val="373737"/>
                  </a:solidFill>
                  <a:latin typeface="+mn-lt"/>
                  <a:cs typeface="Trebuchet MS"/>
                </a:rPr>
                <a:t>The</a:t>
              </a:r>
              <a:r>
                <a:rPr sz="2000" spc="-90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120" dirty="0">
                  <a:solidFill>
                    <a:srgbClr val="373737"/>
                  </a:solidFill>
                  <a:latin typeface="+mn-lt"/>
                  <a:cs typeface="Trebuchet MS"/>
                </a:rPr>
                <a:t>Chronicles</a:t>
              </a:r>
              <a:r>
                <a:rPr sz="2000" spc="-90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114" dirty="0">
                  <a:solidFill>
                    <a:srgbClr val="373737"/>
                  </a:solidFill>
                  <a:latin typeface="+mn-lt"/>
                  <a:cs typeface="Trebuchet MS"/>
                </a:rPr>
                <a:t>of</a:t>
              </a:r>
              <a:r>
                <a:rPr sz="2000" spc="-90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35" dirty="0">
                  <a:solidFill>
                    <a:srgbClr val="373737"/>
                  </a:solidFill>
                  <a:latin typeface="+mn-lt"/>
                  <a:cs typeface="Trebuchet MS"/>
                </a:rPr>
                <a:t>Riddick</a:t>
              </a:r>
              <a:endParaRPr sz="2000">
                <a:latin typeface="+mn-lt"/>
                <a:cs typeface="Trebuchet MS"/>
              </a:endParaRPr>
            </a:p>
            <a:p>
              <a:pPr marL="12700" marR="5080">
                <a:lnSpc>
                  <a:spcPct val="136400"/>
                </a:lnSpc>
                <a:spcBef>
                  <a:spcPts val="675"/>
                </a:spcBef>
              </a:pPr>
              <a:r>
                <a:rPr sz="2000" spc="-165" dirty="0">
                  <a:solidFill>
                    <a:srgbClr val="373737"/>
                  </a:solidFill>
                  <a:latin typeface="+mn-lt"/>
                  <a:cs typeface="Trebuchet MS"/>
                </a:rPr>
                <a:t>Space</a:t>
              </a:r>
              <a:r>
                <a:rPr sz="2000" spc="-90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175" dirty="0">
                  <a:solidFill>
                    <a:srgbClr val="373737"/>
                  </a:solidFill>
                  <a:latin typeface="+mn-lt"/>
                  <a:cs typeface="Trebuchet MS"/>
                </a:rPr>
                <a:t>opera</a:t>
              </a:r>
              <a:r>
                <a:rPr sz="2000" spc="-90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204" dirty="0">
                  <a:solidFill>
                    <a:srgbClr val="373737"/>
                  </a:solidFill>
                  <a:latin typeface="+mn-lt"/>
                  <a:cs typeface="Trebuchet MS"/>
                </a:rPr>
                <a:t>with</a:t>
              </a:r>
              <a:r>
                <a:rPr sz="2000" spc="-85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105" dirty="0">
                  <a:solidFill>
                    <a:srgbClr val="373737"/>
                  </a:solidFill>
                  <a:latin typeface="+mn-lt"/>
                  <a:cs typeface="Trebuchet MS"/>
                </a:rPr>
                <a:t>similar</a:t>
              </a:r>
              <a:r>
                <a:rPr sz="2000" spc="-90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10" dirty="0">
                  <a:solidFill>
                    <a:srgbClr val="373737"/>
                  </a:solidFill>
                  <a:latin typeface="+mn-lt"/>
                  <a:cs typeface="Trebuchet MS"/>
                </a:rPr>
                <a:t>visual </a:t>
              </a:r>
              <a:r>
                <a:rPr sz="2000" spc="-155" dirty="0">
                  <a:solidFill>
                    <a:srgbClr val="373737"/>
                  </a:solidFill>
                  <a:latin typeface="+mn-lt"/>
                  <a:cs typeface="Trebuchet MS"/>
                </a:rPr>
                <a:t>spectacle</a:t>
              </a:r>
              <a:r>
                <a:rPr sz="2000" spc="-75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210" dirty="0">
                  <a:solidFill>
                    <a:srgbClr val="373737"/>
                  </a:solidFill>
                  <a:latin typeface="+mn-lt"/>
                  <a:cs typeface="Trebuchet MS"/>
                </a:rPr>
                <a:t>and</a:t>
              </a:r>
              <a:r>
                <a:rPr sz="2000" spc="-75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170" dirty="0">
                  <a:solidFill>
                    <a:srgbClr val="373737"/>
                  </a:solidFill>
                  <a:latin typeface="+mn-lt"/>
                  <a:cs typeface="Trebuchet MS"/>
                </a:rPr>
                <a:t>adventure</a:t>
              </a:r>
              <a:r>
                <a:rPr sz="2000" spc="-75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165" dirty="0">
                  <a:solidFill>
                    <a:srgbClr val="373737"/>
                  </a:solidFill>
                  <a:latin typeface="+mn-lt"/>
                  <a:cs typeface="Trebuchet MS"/>
                </a:rPr>
                <a:t>themes</a:t>
              </a:r>
              <a:endParaRPr sz="2000">
                <a:latin typeface="+mn-lt"/>
                <a:cs typeface="Trebuchet MS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7524750" y="1838324"/>
              <a:ext cx="3181350" cy="57150"/>
            </a:xfrm>
            <a:custGeom>
              <a:avLst/>
              <a:gdLst/>
              <a:ahLst/>
              <a:cxnLst/>
              <a:rect l="l" t="t" r="r" b="b"/>
              <a:pathLst>
                <a:path w="3181350" h="57150">
                  <a:moveTo>
                    <a:pt x="3181350" y="0"/>
                  </a:moveTo>
                  <a:lnTo>
                    <a:pt x="0" y="0"/>
                  </a:lnTo>
                  <a:lnTo>
                    <a:pt x="0" y="57150"/>
                  </a:lnTo>
                  <a:lnTo>
                    <a:pt x="3181350" y="57150"/>
                  </a:lnTo>
                  <a:lnTo>
                    <a:pt x="3181350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 sz="2000">
                <a:latin typeface="+mn-lt"/>
              </a:endParaRPr>
            </a:p>
          </p:txBody>
        </p:sp>
        <p:sp>
          <p:nvSpPr>
            <p:cNvPr id="8" name="object 8"/>
            <p:cNvSpPr txBox="1"/>
            <p:nvPr/>
          </p:nvSpPr>
          <p:spPr>
            <a:xfrm>
              <a:off x="7535647" y="2252548"/>
              <a:ext cx="3005455" cy="1215076"/>
            </a:xfrm>
            <a:prstGeom prst="rect">
              <a:avLst/>
            </a:prstGeom>
          </p:spPr>
          <p:txBody>
            <a:bodyPr vert="horz" wrap="square" lIns="0" tIns="1714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sz="2000" spc="-185" dirty="0">
                  <a:solidFill>
                    <a:srgbClr val="373737"/>
                  </a:solidFill>
                  <a:latin typeface="+mn-lt"/>
                  <a:cs typeface="Trebuchet MS"/>
                </a:rPr>
                <a:t>3.</a:t>
              </a:r>
              <a:r>
                <a:rPr sz="2000" spc="-100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75" dirty="0">
                  <a:solidFill>
                    <a:srgbClr val="373737"/>
                  </a:solidFill>
                  <a:latin typeface="+mn-lt"/>
                  <a:cs typeface="Trebuchet MS"/>
                </a:rPr>
                <a:t>Star</a:t>
              </a:r>
              <a:r>
                <a:rPr sz="2000" spc="-100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135" dirty="0">
                  <a:solidFill>
                    <a:srgbClr val="373737"/>
                  </a:solidFill>
                  <a:latin typeface="+mn-lt"/>
                  <a:cs typeface="Trebuchet MS"/>
                </a:rPr>
                <a:t>Trek</a:t>
              </a:r>
              <a:r>
                <a:rPr sz="2000" spc="-100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10" dirty="0">
                  <a:solidFill>
                    <a:srgbClr val="373737"/>
                  </a:solidFill>
                  <a:latin typeface="+mn-lt"/>
                  <a:cs typeface="Trebuchet MS"/>
                </a:rPr>
                <a:t>Beyond</a:t>
              </a:r>
              <a:endParaRPr sz="2000">
                <a:latin typeface="+mn-lt"/>
                <a:cs typeface="Trebuchet MS"/>
              </a:endParaRPr>
            </a:p>
            <a:p>
              <a:pPr marL="12700" marR="5080" indent="-635">
                <a:lnSpc>
                  <a:spcPct val="136400"/>
                </a:lnSpc>
                <a:spcBef>
                  <a:spcPts val="675"/>
                </a:spcBef>
              </a:pPr>
              <a:r>
                <a:rPr sz="2000" spc="-150" dirty="0">
                  <a:solidFill>
                    <a:srgbClr val="373737"/>
                  </a:solidFill>
                  <a:latin typeface="+mn-lt"/>
                  <a:cs typeface="Trebuchet MS"/>
                </a:rPr>
                <a:t>Franchise</a:t>
              </a:r>
              <a:r>
                <a:rPr sz="2000" spc="-80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155" dirty="0">
                  <a:solidFill>
                    <a:srgbClr val="373737"/>
                  </a:solidFill>
                  <a:latin typeface="+mn-lt"/>
                  <a:cs typeface="Trebuchet MS"/>
                </a:rPr>
                <a:t>sequel</a:t>
              </a:r>
              <a:r>
                <a:rPr sz="2000" spc="-75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204" dirty="0">
                  <a:solidFill>
                    <a:srgbClr val="373737"/>
                  </a:solidFill>
                  <a:latin typeface="+mn-lt"/>
                  <a:cs typeface="Trebuchet MS"/>
                </a:rPr>
                <a:t>with</a:t>
              </a:r>
              <a:r>
                <a:rPr sz="2000" spc="-75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175" dirty="0">
                  <a:solidFill>
                    <a:srgbClr val="373737"/>
                  </a:solidFill>
                  <a:latin typeface="+mn-lt"/>
                  <a:cs typeface="Trebuchet MS"/>
                </a:rPr>
                <a:t>ensemble</a:t>
              </a:r>
              <a:r>
                <a:rPr sz="2000" spc="-75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114" dirty="0">
                  <a:solidFill>
                    <a:srgbClr val="373737"/>
                  </a:solidFill>
                  <a:latin typeface="+mn-lt"/>
                  <a:cs typeface="Trebuchet MS"/>
                </a:rPr>
                <a:t>cast</a:t>
              </a:r>
              <a:r>
                <a:rPr sz="2000" spc="-75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100" dirty="0">
                  <a:solidFill>
                    <a:srgbClr val="373737"/>
                  </a:solidFill>
                  <a:latin typeface="+mn-lt"/>
                  <a:cs typeface="Trebuchet MS"/>
                </a:rPr>
                <a:t>in </a:t>
              </a:r>
              <a:r>
                <a:rPr sz="2000" spc="-170" dirty="0">
                  <a:solidFill>
                    <a:srgbClr val="373737"/>
                  </a:solidFill>
                  <a:latin typeface="+mn-lt"/>
                  <a:cs typeface="Trebuchet MS"/>
                </a:rPr>
                <a:t>space</a:t>
              </a:r>
              <a:r>
                <a:rPr sz="2000" spc="-95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170" dirty="0">
                  <a:solidFill>
                    <a:srgbClr val="373737"/>
                  </a:solidFill>
                  <a:latin typeface="+mn-lt"/>
                  <a:cs typeface="Trebuchet MS"/>
                </a:rPr>
                <a:t>adventure</a:t>
              </a:r>
              <a:r>
                <a:rPr sz="2000" spc="-85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10" dirty="0">
                  <a:solidFill>
                    <a:srgbClr val="373737"/>
                  </a:solidFill>
                  <a:latin typeface="+mn-lt"/>
                  <a:cs typeface="Trebuchet MS"/>
                </a:rPr>
                <a:t>setting</a:t>
              </a:r>
              <a:endParaRPr sz="2000">
                <a:latin typeface="+mn-lt"/>
                <a:cs typeface="Trebuchet MS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723900" y="4451897"/>
              <a:ext cx="4886325" cy="57150"/>
            </a:xfrm>
            <a:custGeom>
              <a:avLst/>
              <a:gdLst/>
              <a:ahLst/>
              <a:cxnLst/>
              <a:rect l="l" t="t" r="r" b="b"/>
              <a:pathLst>
                <a:path w="4886325" h="57150">
                  <a:moveTo>
                    <a:pt x="4886325" y="0"/>
                  </a:moveTo>
                  <a:lnTo>
                    <a:pt x="0" y="0"/>
                  </a:lnTo>
                  <a:lnTo>
                    <a:pt x="0" y="57150"/>
                  </a:lnTo>
                  <a:lnTo>
                    <a:pt x="4886325" y="57150"/>
                  </a:lnTo>
                  <a:lnTo>
                    <a:pt x="4886325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 sz="2000">
                <a:latin typeface="+mn-lt"/>
              </a:endParaRPr>
            </a:p>
          </p:txBody>
        </p:sp>
        <p:sp>
          <p:nvSpPr>
            <p:cNvPr id="10" name="object 10"/>
            <p:cNvSpPr txBox="1"/>
            <p:nvPr/>
          </p:nvSpPr>
          <p:spPr>
            <a:xfrm>
              <a:off x="737393" y="4710659"/>
              <a:ext cx="4429760" cy="1227900"/>
            </a:xfrm>
            <a:prstGeom prst="rect">
              <a:avLst/>
            </a:prstGeom>
          </p:spPr>
          <p:txBody>
            <a:bodyPr vert="horz" wrap="square" lIns="0" tIns="1714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sz="2000" spc="-250" dirty="0">
                  <a:solidFill>
                    <a:srgbClr val="373737"/>
                  </a:solidFill>
                  <a:latin typeface="+mn-lt"/>
                  <a:cs typeface="Trebuchet MS"/>
                </a:rPr>
                <a:t>4.</a:t>
              </a:r>
              <a:r>
                <a:rPr sz="2000" spc="-105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75" dirty="0">
                  <a:solidFill>
                    <a:srgbClr val="373737"/>
                  </a:solidFill>
                  <a:latin typeface="+mn-lt"/>
                  <a:cs typeface="Trebuchet MS"/>
                </a:rPr>
                <a:t>Star</a:t>
              </a:r>
              <a:r>
                <a:rPr sz="2000" spc="-100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135" dirty="0">
                  <a:solidFill>
                    <a:srgbClr val="373737"/>
                  </a:solidFill>
                  <a:latin typeface="+mn-lt"/>
                  <a:cs typeface="Trebuchet MS"/>
                </a:rPr>
                <a:t>Trek</a:t>
              </a:r>
              <a:r>
                <a:rPr sz="2000" spc="-100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125" dirty="0">
                  <a:solidFill>
                    <a:srgbClr val="373737"/>
                  </a:solidFill>
                  <a:latin typeface="+mn-lt"/>
                  <a:cs typeface="Trebuchet MS"/>
                </a:rPr>
                <a:t>Into</a:t>
              </a:r>
              <a:r>
                <a:rPr sz="2000" spc="-100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10" dirty="0">
                  <a:solidFill>
                    <a:srgbClr val="373737"/>
                  </a:solidFill>
                  <a:latin typeface="+mn-lt"/>
                  <a:cs typeface="Trebuchet MS"/>
                </a:rPr>
                <a:t>Darkness</a:t>
              </a:r>
              <a:endParaRPr sz="2000" dirty="0">
                <a:latin typeface="+mn-lt"/>
                <a:cs typeface="Trebuchet MS"/>
              </a:endParaRPr>
            </a:p>
            <a:p>
              <a:pPr marL="12700" marR="5080">
                <a:lnSpc>
                  <a:spcPct val="136400"/>
                </a:lnSpc>
                <a:spcBef>
                  <a:spcPts val="750"/>
                </a:spcBef>
              </a:pPr>
              <a:r>
                <a:rPr sz="2000" spc="-150" dirty="0">
                  <a:solidFill>
                    <a:srgbClr val="373737"/>
                  </a:solidFill>
                  <a:latin typeface="+mn-lt"/>
                  <a:cs typeface="Trebuchet MS"/>
                </a:rPr>
                <a:t>Continuation</a:t>
              </a:r>
              <a:r>
                <a:rPr sz="2000" spc="-70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114" dirty="0">
                  <a:solidFill>
                    <a:srgbClr val="373737"/>
                  </a:solidFill>
                  <a:latin typeface="+mn-lt"/>
                  <a:cs typeface="Trebuchet MS"/>
                </a:rPr>
                <a:t>of</a:t>
              </a:r>
              <a:r>
                <a:rPr sz="2000" spc="-70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185" dirty="0">
                  <a:solidFill>
                    <a:srgbClr val="373737"/>
                  </a:solidFill>
                  <a:latin typeface="+mn-lt"/>
                  <a:cs typeface="Trebuchet MS"/>
                </a:rPr>
                <a:t>modern</a:t>
              </a:r>
              <a:r>
                <a:rPr sz="2000" spc="-70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135" dirty="0">
                  <a:solidFill>
                    <a:srgbClr val="373737"/>
                  </a:solidFill>
                  <a:latin typeface="+mn-lt"/>
                  <a:cs typeface="Trebuchet MS"/>
                </a:rPr>
                <a:t>Trek</a:t>
              </a:r>
              <a:r>
                <a:rPr sz="2000" spc="-70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170" dirty="0">
                  <a:solidFill>
                    <a:srgbClr val="373737"/>
                  </a:solidFill>
                  <a:latin typeface="+mn-lt"/>
                  <a:cs typeface="Trebuchet MS"/>
                </a:rPr>
                <a:t>reboot</a:t>
              </a:r>
              <a:r>
                <a:rPr sz="2000" spc="-70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204" dirty="0">
                  <a:solidFill>
                    <a:srgbClr val="373737"/>
                  </a:solidFill>
                  <a:latin typeface="+mn-lt"/>
                  <a:cs typeface="Trebuchet MS"/>
                </a:rPr>
                <a:t>with</a:t>
              </a:r>
              <a:r>
                <a:rPr sz="2000" spc="-70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140" dirty="0">
                  <a:solidFill>
                    <a:srgbClr val="373737"/>
                  </a:solidFill>
                  <a:latin typeface="+mn-lt"/>
                  <a:cs typeface="Trebuchet MS"/>
                </a:rPr>
                <a:t>action-</a:t>
              </a:r>
              <a:r>
                <a:rPr sz="2000" spc="-130" dirty="0">
                  <a:solidFill>
                    <a:srgbClr val="373737"/>
                  </a:solidFill>
                  <a:latin typeface="+mn-lt"/>
                  <a:cs typeface="Trebuchet MS"/>
                </a:rPr>
                <a:t>oriented </a:t>
              </a:r>
              <a:r>
                <a:rPr sz="2000" spc="-10" dirty="0">
                  <a:solidFill>
                    <a:srgbClr val="373737"/>
                  </a:solidFill>
                  <a:latin typeface="+mn-lt"/>
                  <a:cs typeface="Trebuchet MS"/>
                </a:rPr>
                <a:t>storytelling</a:t>
              </a:r>
              <a:endParaRPr sz="2000" dirty="0">
                <a:latin typeface="+mn-lt"/>
                <a:cs typeface="Trebuchet MS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5819775" y="4451897"/>
              <a:ext cx="4886325" cy="57150"/>
            </a:xfrm>
            <a:custGeom>
              <a:avLst/>
              <a:gdLst/>
              <a:ahLst/>
              <a:cxnLst/>
              <a:rect l="l" t="t" r="r" b="b"/>
              <a:pathLst>
                <a:path w="4886325" h="57150">
                  <a:moveTo>
                    <a:pt x="4886325" y="0"/>
                  </a:moveTo>
                  <a:lnTo>
                    <a:pt x="0" y="0"/>
                  </a:lnTo>
                  <a:lnTo>
                    <a:pt x="0" y="57150"/>
                  </a:lnTo>
                  <a:lnTo>
                    <a:pt x="4886325" y="57150"/>
                  </a:lnTo>
                  <a:lnTo>
                    <a:pt x="4886325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 sz="2000">
                <a:latin typeface="+mn-lt"/>
              </a:endParaRPr>
            </a:p>
          </p:txBody>
        </p:sp>
        <p:sp>
          <p:nvSpPr>
            <p:cNvPr id="12" name="object 12"/>
            <p:cNvSpPr txBox="1"/>
            <p:nvPr/>
          </p:nvSpPr>
          <p:spPr>
            <a:xfrm>
              <a:off x="5836246" y="4710659"/>
              <a:ext cx="4304030" cy="1227900"/>
            </a:xfrm>
            <a:prstGeom prst="rect">
              <a:avLst/>
            </a:prstGeom>
          </p:spPr>
          <p:txBody>
            <a:bodyPr vert="horz" wrap="square" lIns="0" tIns="1714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sz="2000" spc="-204" dirty="0">
                  <a:solidFill>
                    <a:srgbClr val="373737"/>
                  </a:solidFill>
                  <a:latin typeface="+mn-lt"/>
                  <a:cs typeface="Trebuchet MS"/>
                </a:rPr>
                <a:t>5.</a:t>
              </a:r>
              <a:r>
                <a:rPr sz="2000" spc="-95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40" dirty="0">
                  <a:solidFill>
                    <a:srgbClr val="373737"/>
                  </a:solidFill>
                  <a:latin typeface="+mn-lt"/>
                  <a:cs typeface="Trebuchet MS"/>
                </a:rPr>
                <a:t>Moonraker</a:t>
              </a:r>
              <a:endParaRPr sz="2000">
                <a:latin typeface="+mn-lt"/>
                <a:cs typeface="Trebuchet MS"/>
              </a:endParaRPr>
            </a:p>
            <a:p>
              <a:pPr marL="12700" marR="5080">
                <a:lnSpc>
                  <a:spcPct val="136400"/>
                </a:lnSpc>
                <a:spcBef>
                  <a:spcPts val="750"/>
                </a:spcBef>
              </a:pPr>
              <a:r>
                <a:rPr sz="2000" spc="-90" dirty="0">
                  <a:solidFill>
                    <a:srgbClr val="373737"/>
                  </a:solidFill>
                  <a:latin typeface="+mn-lt"/>
                  <a:cs typeface="Trebuchet MS"/>
                </a:rPr>
                <a:t>Classic</a:t>
              </a:r>
              <a:r>
                <a:rPr sz="2000" spc="-75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160" dirty="0">
                  <a:solidFill>
                    <a:srgbClr val="373737"/>
                  </a:solidFill>
                  <a:latin typeface="+mn-lt"/>
                  <a:cs typeface="Trebuchet MS"/>
                </a:rPr>
                <a:t>space-</a:t>
              </a:r>
              <a:r>
                <a:rPr sz="2000" spc="-185" dirty="0">
                  <a:solidFill>
                    <a:srgbClr val="373737"/>
                  </a:solidFill>
                  <a:latin typeface="+mn-lt"/>
                  <a:cs typeface="Trebuchet MS"/>
                </a:rPr>
                <a:t>themed</a:t>
              </a:r>
              <a:r>
                <a:rPr sz="2000" spc="-70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180" dirty="0">
                  <a:solidFill>
                    <a:srgbClr val="373737"/>
                  </a:solidFill>
                  <a:latin typeface="+mn-lt"/>
                  <a:cs typeface="Trebuchet MS"/>
                </a:rPr>
                <a:t>James</a:t>
              </a:r>
              <a:r>
                <a:rPr sz="2000" spc="-70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175" dirty="0">
                  <a:solidFill>
                    <a:srgbClr val="373737"/>
                  </a:solidFill>
                  <a:latin typeface="+mn-lt"/>
                  <a:cs typeface="Trebuchet MS"/>
                </a:rPr>
                <a:t>Bond</a:t>
              </a:r>
              <a:r>
                <a:rPr sz="2000" spc="-70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170" dirty="0">
                  <a:solidFill>
                    <a:srgbClr val="373737"/>
                  </a:solidFill>
                  <a:latin typeface="+mn-lt"/>
                  <a:cs typeface="Trebuchet MS"/>
                </a:rPr>
                <a:t>adventure</a:t>
              </a:r>
              <a:r>
                <a:rPr sz="2000" spc="-70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204" dirty="0">
                  <a:solidFill>
                    <a:srgbClr val="373737"/>
                  </a:solidFill>
                  <a:latin typeface="+mn-lt"/>
                  <a:cs typeface="Trebuchet MS"/>
                </a:rPr>
                <a:t>with</a:t>
              </a:r>
              <a:r>
                <a:rPr sz="2000" spc="-70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60" dirty="0">
                  <a:solidFill>
                    <a:srgbClr val="373737"/>
                  </a:solidFill>
                  <a:latin typeface="+mn-lt"/>
                  <a:cs typeface="Trebuchet MS"/>
                </a:rPr>
                <a:t>sci-</a:t>
              </a:r>
              <a:r>
                <a:rPr sz="2000" spc="-25" dirty="0">
                  <a:solidFill>
                    <a:srgbClr val="373737"/>
                  </a:solidFill>
                  <a:latin typeface="+mn-lt"/>
                  <a:cs typeface="Trebuchet MS"/>
                </a:rPr>
                <a:t>fi </a:t>
              </a:r>
              <a:r>
                <a:rPr sz="2000" spc="-35" dirty="0">
                  <a:solidFill>
                    <a:srgbClr val="373737"/>
                  </a:solidFill>
                  <a:latin typeface="+mn-lt"/>
                  <a:cs typeface="Trebuchet MS"/>
                </a:rPr>
                <a:t>elements</a:t>
              </a:r>
              <a:endParaRPr sz="2000">
                <a:latin typeface="+mn-lt"/>
                <a:cs typeface="Trebuchet MS"/>
              </a:endParaRPr>
            </a:p>
          </p:txBody>
        </p:sp>
        <p:sp>
          <p:nvSpPr>
            <p:cNvPr id="13" name="object 13"/>
            <p:cNvSpPr txBox="1"/>
            <p:nvPr/>
          </p:nvSpPr>
          <p:spPr>
            <a:xfrm>
              <a:off x="737400" y="6072734"/>
              <a:ext cx="9106535" cy="632866"/>
            </a:xfrm>
            <a:prstGeom prst="rect">
              <a:avLst/>
            </a:prstGeom>
          </p:spPr>
          <p:txBody>
            <a:bodyPr vert="horz" wrap="square" lIns="0" tIns="1714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sz="2000" spc="-185" dirty="0">
                  <a:solidFill>
                    <a:srgbClr val="373737"/>
                  </a:solidFill>
                  <a:latin typeface="+mn-lt"/>
                  <a:cs typeface="Trebuchet MS"/>
                </a:rPr>
                <a:t>Recommendations</a:t>
              </a:r>
              <a:r>
                <a:rPr sz="2000" spc="-75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114" dirty="0">
                  <a:solidFill>
                    <a:srgbClr val="373737"/>
                  </a:solidFill>
                  <a:latin typeface="+mn-lt"/>
                  <a:cs typeface="Trebuchet MS"/>
                </a:rPr>
                <a:t>prioritize</a:t>
              </a:r>
              <a:r>
                <a:rPr sz="2000" spc="-70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135" dirty="0">
                  <a:solidFill>
                    <a:srgbClr val="373737"/>
                  </a:solidFill>
                  <a:latin typeface="+mn-lt"/>
                  <a:cs typeface="Trebuchet MS"/>
                </a:rPr>
                <a:t>highest</a:t>
              </a:r>
              <a:r>
                <a:rPr sz="2000" spc="-75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150" dirty="0">
                  <a:solidFill>
                    <a:srgbClr val="373737"/>
                  </a:solidFill>
                  <a:latin typeface="+mn-lt"/>
                  <a:cs typeface="Trebuchet MS"/>
                </a:rPr>
                <a:t>cosine</a:t>
              </a:r>
              <a:r>
                <a:rPr sz="2000" spc="-70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105" dirty="0">
                  <a:solidFill>
                    <a:srgbClr val="373737"/>
                  </a:solidFill>
                  <a:latin typeface="+mn-lt"/>
                  <a:cs typeface="Trebuchet MS"/>
                </a:rPr>
                <a:t>similarity</a:t>
              </a:r>
              <a:r>
                <a:rPr sz="2000" spc="-75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130" dirty="0">
                  <a:solidFill>
                    <a:srgbClr val="373737"/>
                  </a:solidFill>
                  <a:latin typeface="+mn-lt"/>
                  <a:cs typeface="Trebuchet MS"/>
                </a:rPr>
                <a:t>scores,</a:t>
              </a:r>
              <a:r>
                <a:rPr sz="2000" spc="-70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155" dirty="0">
                  <a:solidFill>
                    <a:srgbClr val="373737"/>
                  </a:solidFill>
                  <a:latin typeface="+mn-lt"/>
                  <a:cs typeface="Trebuchet MS"/>
                </a:rPr>
                <a:t>balancing</a:t>
              </a:r>
              <a:r>
                <a:rPr sz="2000" spc="-75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140" dirty="0">
                  <a:solidFill>
                    <a:srgbClr val="373737"/>
                  </a:solidFill>
                  <a:latin typeface="+mn-lt"/>
                  <a:cs typeface="Trebuchet MS"/>
                </a:rPr>
                <a:t>genre</a:t>
              </a:r>
              <a:r>
                <a:rPr sz="2000" spc="-70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150" dirty="0">
                  <a:solidFill>
                    <a:srgbClr val="373737"/>
                  </a:solidFill>
                  <a:latin typeface="+mn-lt"/>
                  <a:cs typeface="Trebuchet MS"/>
                </a:rPr>
                <a:t>matching</a:t>
              </a:r>
              <a:r>
                <a:rPr sz="2000" spc="-70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204" dirty="0">
                  <a:solidFill>
                    <a:srgbClr val="373737"/>
                  </a:solidFill>
                  <a:latin typeface="+mn-lt"/>
                  <a:cs typeface="Trebuchet MS"/>
                </a:rPr>
                <a:t>with</a:t>
              </a:r>
              <a:r>
                <a:rPr sz="2000" spc="-75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114" dirty="0">
                  <a:solidFill>
                    <a:srgbClr val="373737"/>
                  </a:solidFill>
                  <a:latin typeface="+mn-lt"/>
                  <a:cs typeface="Trebuchet MS"/>
                </a:rPr>
                <a:t>cast</a:t>
              </a:r>
              <a:r>
                <a:rPr sz="2000" spc="-70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210" dirty="0">
                  <a:solidFill>
                    <a:srgbClr val="373737"/>
                  </a:solidFill>
                  <a:latin typeface="+mn-lt"/>
                  <a:cs typeface="Trebuchet MS"/>
                </a:rPr>
                <a:t>and</a:t>
              </a:r>
              <a:r>
                <a:rPr sz="2000" spc="-75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210" dirty="0">
                  <a:solidFill>
                    <a:srgbClr val="373737"/>
                  </a:solidFill>
                  <a:latin typeface="+mn-lt"/>
                  <a:cs typeface="Trebuchet MS"/>
                </a:rPr>
                <a:t>crew</a:t>
              </a:r>
              <a:r>
                <a:rPr sz="2000" spc="-70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100" dirty="0">
                  <a:solidFill>
                    <a:srgbClr val="373737"/>
                  </a:solidFill>
                  <a:latin typeface="+mn-lt"/>
                  <a:cs typeface="Trebuchet MS"/>
                </a:rPr>
                <a:t>attributes.</a:t>
              </a:r>
              <a:endParaRPr sz="2000" dirty="0">
                <a:latin typeface="+mn-lt"/>
                <a:cs typeface="Trebuchet MS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953000" y="7543800"/>
            <a:ext cx="6172200" cy="1074467"/>
          </a:xfrm>
          <a:custGeom>
            <a:avLst/>
            <a:gdLst/>
            <a:ahLst/>
            <a:cxnLst/>
            <a:rect l="l" t="t" r="r" b="b"/>
            <a:pathLst>
              <a:path w="11430000" h="8991600">
                <a:moveTo>
                  <a:pt x="11430000" y="0"/>
                </a:moveTo>
                <a:lnTo>
                  <a:pt x="0" y="0"/>
                </a:lnTo>
                <a:lnTo>
                  <a:pt x="0" y="8991600"/>
                </a:lnTo>
                <a:lnTo>
                  <a:pt x="11430000" y="89916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F7F7F7"/>
          </a:solidFill>
        </p:spPr>
        <p:txBody>
          <a:bodyPr wrap="square" lIns="0" tIns="0" rIns="0" bIns="0" rtlCol="0"/>
          <a:lstStyle/>
          <a:p>
            <a:pPr marL="12700" marR="5080">
              <a:lnSpc>
                <a:spcPct val="136400"/>
              </a:lnSpc>
            </a:pPr>
            <a:r>
              <a:rPr lang="en-US" sz="1800" spc="-125" dirty="0">
                <a:solidFill>
                  <a:srgbClr val="373737"/>
                </a:solidFill>
                <a:latin typeface="+mn-lt"/>
                <a:cs typeface="Trebuchet MS"/>
              </a:rPr>
              <a:t>This</a:t>
            </a:r>
            <a:r>
              <a:rPr lang="en-US" sz="1800" spc="-60" dirty="0">
                <a:solidFill>
                  <a:srgbClr val="373737"/>
                </a:solidFill>
                <a:latin typeface="+mn-lt"/>
                <a:cs typeface="Trebuchet MS"/>
              </a:rPr>
              <a:t> </a:t>
            </a:r>
            <a:r>
              <a:rPr lang="en-US" sz="1800" spc="-114" dirty="0">
                <a:solidFill>
                  <a:srgbClr val="373737"/>
                </a:solidFill>
                <a:latin typeface="+mn-lt"/>
                <a:cs typeface="Trebuchet MS"/>
              </a:rPr>
              <a:t>system</a:t>
            </a:r>
            <a:r>
              <a:rPr lang="en-US" sz="1800" spc="-60" dirty="0">
                <a:solidFill>
                  <a:srgbClr val="373737"/>
                </a:solidFill>
                <a:latin typeface="+mn-lt"/>
                <a:cs typeface="Trebuchet MS"/>
              </a:rPr>
              <a:t> </a:t>
            </a:r>
            <a:r>
              <a:rPr lang="en-US" sz="1800" spc="-150" dirty="0">
                <a:solidFill>
                  <a:srgbClr val="373737"/>
                </a:solidFill>
                <a:latin typeface="+mn-lt"/>
                <a:cs typeface="Trebuchet MS"/>
              </a:rPr>
              <a:t>demonstrates</a:t>
            </a:r>
            <a:r>
              <a:rPr lang="en-US" sz="1800" spc="-60" dirty="0">
                <a:solidFill>
                  <a:srgbClr val="373737"/>
                </a:solidFill>
                <a:latin typeface="+mn-lt"/>
                <a:cs typeface="Trebuchet MS"/>
              </a:rPr>
              <a:t> </a:t>
            </a:r>
            <a:r>
              <a:rPr lang="en-US" sz="1800" spc="-140" dirty="0">
                <a:solidFill>
                  <a:srgbClr val="373737"/>
                </a:solidFill>
                <a:latin typeface="+mn-lt"/>
                <a:cs typeface="Trebuchet MS"/>
              </a:rPr>
              <a:t>effective</a:t>
            </a:r>
            <a:r>
              <a:rPr lang="en-US" sz="1800" spc="-60" dirty="0">
                <a:solidFill>
                  <a:srgbClr val="373737"/>
                </a:solidFill>
                <a:latin typeface="+mn-lt"/>
                <a:cs typeface="Trebuchet MS"/>
              </a:rPr>
              <a:t> </a:t>
            </a:r>
            <a:r>
              <a:rPr lang="en-US" sz="1800" spc="-150" dirty="0">
                <a:solidFill>
                  <a:srgbClr val="373737"/>
                </a:solidFill>
                <a:latin typeface="+mn-lt"/>
                <a:cs typeface="Trebuchet MS"/>
              </a:rPr>
              <a:t>content-</a:t>
            </a:r>
            <a:r>
              <a:rPr lang="en-US" sz="1800" spc="-160" dirty="0">
                <a:solidFill>
                  <a:srgbClr val="373737"/>
                </a:solidFill>
                <a:latin typeface="+mn-lt"/>
                <a:cs typeface="Trebuchet MS"/>
              </a:rPr>
              <a:t>based</a:t>
            </a:r>
            <a:r>
              <a:rPr lang="en-US" sz="1800" spc="-60" dirty="0">
                <a:solidFill>
                  <a:srgbClr val="373737"/>
                </a:solidFill>
                <a:latin typeface="+mn-lt"/>
                <a:cs typeface="Trebuchet MS"/>
              </a:rPr>
              <a:t> </a:t>
            </a:r>
            <a:r>
              <a:rPr lang="en-US" sz="1800" spc="-90" dirty="0">
                <a:solidFill>
                  <a:srgbClr val="373737"/>
                </a:solidFill>
                <a:latin typeface="+mn-lt"/>
                <a:cs typeface="Trebuchet MS"/>
              </a:rPr>
              <a:t>filtering</a:t>
            </a:r>
            <a:r>
              <a:rPr lang="en-US" sz="1800" spc="-60" dirty="0">
                <a:solidFill>
                  <a:srgbClr val="373737"/>
                </a:solidFill>
                <a:latin typeface="+mn-lt"/>
                <a:cs typeface="Trebuchet MS"/>
              </a:rPr>
              <a:t> </a:t>
            </a:r>
            <a:r>
              <a:rPr lang="en-US" sz="1800" spc="-114" dirty="0">
                <a:solidFill>
                  <a:srgbClr val="373737"/>
                </a:solidFill>
                <a:latin typeface="+mn-lt"/>
                <a:cs typeface="Trebuchet MS"/>
              </a:rPr>
              <a:t>using</a:t>
            </a:r>
            <a:r>
              <a:rPr lang="en-US" sz="1800" spc="-60" dirty="0">
                <a:solidFill>
                  <a:srgbClr val="373737"/>
                </a:solidFill>
                <a:latin typeface="+mn-lt"/>
                <a:cs typeface="Trebuchet MS"/>
              </a:rPr>
              <a:t> </a:t>
            </a:r>
            <a:r>
              <a:rPr lang="en-US" sz="1800" spc="-65" dirty="0">
                <a:solidFill>
                  <a:srgbClr val="373737"/>
                </a:solidFill>
                <a:latin typeface="+mn-lt"/>
                <a:cs typeface="Trebuchet MS"/>
              </a:rPr>
              <a:t>TF- </a:t>
            </a:r>
            <a:r>
              <a:rPr lang="en-US" sz="1800" spc="-175" dirty="0">
                <a:solidFill>
                  <a:srgbClr val="373737"/>
                </a:solidFill>
                <a:latin typeface="+mn-lt"/>
                <a:cs typeface="Trebuchet MS"/>
              </a:rPr>
              <a:t>IDF</a:t>
            </a:r>
            <a:r>
              <a:rPr lang="en-US" sz="1800" spc="-80" dirty="0">
                <a:solidFill>
                  <a:srgbClr val="373737"/>
                </a:solidFill>
                <a:latin typeface="+mn-lt"/>
                <a:cs typeface="Trebuchet MS"/>
              </a:rPr>
              <a:t> </a:t>
            </a:r>
            <a:r>
              <a:rPr lang="en-US" sz="1800" spc="-210" dirty="0">
                <a:solidFill>
                  <a:srgbClr val="373737"/>
                </a:solidFill>
                <a:latin typeface="+mn-lt"/>
                <a:cs typeface="Trebuchet MS"/>
              </a:rPr>
              <a:t>and</a:t>
            </a:r>
            <a:r>
              <a:rPr lang="en-US" sz="1800" spc="-85" dirty="0">
                <a:solidFill>
                  <a:srgbClr val="373737"/>
                </a:solidFill>
                <a:latin typeface="+mn-lt"/>
                <a:cs typeface="Trebuchet MS"/>
              </a:rPr>
              <a:t> </a:t>
            </a:r>
            <a:r>
              <a:rPr lang="en-US" sz="1800" spc="-150" dirty="0">
                <a:solidFill>
                  <a:srgbClr val="373737"/>
                </a:solidFill>
                <a:latin typeface="+mn-lt"/>
                <a:cs typeface="Trebuchet MS"/>
              </a:rPr>
              <a:t>cosine</a:t>
            </a:r>
            <a:r>
              <a:rPr lang="en-US" sz="1800" spc="-80" dirty="0">
                <a:solidFill>
                  <a:srgbClr val="373737"/>
                </a:solidFill>
                <a:latin typeface="+mn-lt"/>
                <a:cs typeface="Trebuchet MS"/>
              </a:rPr>
              <a:t> </a:t>
            </a:r>
            <a:r>
              <a:rPr lang="en-US" sz="1800" spc="-114" dirty="0">
                <a:solidFill>
                  <a:srgbClr val="373737"/>
                </a:solidFill>
                <a:latin typeface="+mn-lt"/>
                <a:cs typeface="Trebuchet MS"/>
              </a:rPr>
              <a:t>similarity,</a:t>
            </a:r>
            <a:r>
              <a:rPr lang="en-US" sz="1800" spc="-80" dirty="0">
                <a:solidFill>
                  <a:srgbClr val="373737"/>
                </a:solidFill>
                <a:latin typeface="+mn-lt"/>
                <a:cs typeface="Trebuchet MS"/>
              </a:rPr>
              <a:t> </a:t>
            </a:r>
            <a:r>
              <a:rPr lang="en-US" sz="1800" spc="-145" dirty="0">
                <a:solidFill>
                  <a:srgbClr val="373737"/>
                </a:solidFill>
                <a:latin typeface="+mn-lt"/>
                <a:cs typeface="Trebuchet MS"/>
              </a:rPr>
              <a:t>providing</a:t>
            </a:r>
            <a:r>
              <a:rPr lang="en-US" sz="1800" spc="-80" dirty="0">
                <a:solidFill>
                  <a:srgbClr val="373737"/>
                </a:solidFill>
                <a:latin typeface="+mn-lt"/>
                <a:cs typeface="Trebuchet MS"/>
              </a:rPr>
              <a:t> </a:t>
            </a:r>
            <a:r>
              <a:rPr lang="en-US" sz="1800" spc="-215" dirty="0">
                <a:solidFill>
                  <a:srgbClr val="373737"/>
                </a:solidFill>
                <a:latin typeface="+mn-lt"/>
                <a:cs typeface="Trebuchet MS"/>
              </a:rPr>
              <a:t>a</a:t>
            </a:r>
            <a:r>
              <a:rPr lang="en-US" sz="1800" spc="-80" dirty="0">
                <a:solidFill>
                  <a:srgbClr val="373737"/>
                </a:solidFill>
                <a:latin typeface="+mn-lt"/>
                <a:cs typeface="Trebuchet MS"/>
              </a:rPr>
              <a:t> </a:t>
            </a:r>
            <a:r>
              <a:rPr lang="en-US" sz="1800" spc="-165" dirty="0">
                <a:solidFill>
                  <a:srgbClr val="373737"/>
                </a:solidFill>
                <a:latin typeface="+mn-lt"/>
                <a:cs typeface="Trebuchet MS"/>
              </a:rPr>
              <a:t>foundation</a:t>
            </a:r>
            <a:r>
              <a:rPr lang="en-US" sz="1800" spc="-80" dirty="0">
                <a:solidFill>
                  <a:srgbClr val="373737"/>
                </a:solidFill>
                <a:latin typeface="+mn-lt"/>
                <a:cs typeface="Trebuchet MS"/>
              </a:rPr>
              <a:t> </a:t>
            </a:r>
            <a:r>
              <a:rPr lang="en-US" sz="1800" spc="-75" dirty="0">
                <a:solidFill>
                  <a:srgbClr val="373737"/>
                </a:solidFill>
                <a:latin typeface="+mn-lt"/>
                <a:cs typeface="Trebuchet MS"/>
              </a:rPr>
              <a:t>for</a:t>
            </a:r>
            <a:r>
              <a:rPr lang="en-US" sz="1800" spc="-80" dirty="0">
                <a:solidFill>
                  <a:srgbClr val="373737"/>
                </a:solidFill>
                <a:latin typeface="+mn-lt"/>
                <a:cs typeface="Trebuchet MS"/>
              </a:rPr>
              <a:t> </a:t>
            </a:r>
            <a:r>
              <a:rPr lang="en-US" sz="1800" spc="-10" dirty="0">
                <a:solidFill>
                  <a:srgbClr val="373737"/>
                </a:solidFill>
                <a:latin typeface="+mn-lt"/>
                <a:cs typeface="Trebuchet MS"/>
              </a:rPr>
              <a:t>hybrid </a:t>
            </a:r>
            <a:r>
              <a:rPr lang="en-US" sz="1800" spc="-185" dirty="0">
                <a:solidFill>
                  <a:srgbClr val="373737"/>
                </a:solidFill>
                <a:latin typeface="+mn-lt"/>
                <a:cs typeface="Trebuchet MS"/>
              </a:rPr>
              <a:t>recommendation</a:t>
            </a:r>
            <a:r>
              <a:rPr lang="en-US" sz="1800" spc="-45" dirty="0">
                <a:solidFill>
                  <a:srgbClr val="373737"/>
                </a:solidFill>
                <a:latin typeface="+mn-lt"/>
                <a:cs typeface="Trebuchet MS"/>
              </a:rPr>
              <a:t> </a:t>
            </a:r>
            <a:r>
              <a:rPr lang="en-US" sz="1800" spc="-175" dirty="0">
                <a:solidFill>
                  <a:srgbClr val="373737"/>
                </a:solidFill>
                <a:latin typeface="+mn-lt"/>
                <a:cs typeface="Trebuchet MS"/>
              </a:rPr>
              <a:t>approaches</a:t>
            </a:r>
            <a:r>
              <a:rPr lang="en-US" sz="1800" spc="-40" dirty="0">
                <a:solidFill>
                  <a:srgbClr val="373737"/>
                </a:solidFill>
                <a:latin typeface="+mn-lt"/>
                <a:cs typeface="Trebuchet MS"/>
              </a:rPr>
              <a:t> </a:t>
            </a:r>
            <a:r>
              <a:rPr lang="en-US" sz="1800" spc="-165" dirty="0">
                <a:solidFill>
                  <a:srgbClr val="373737"/>
                </a:solidFill>
                <a:latin typeface="+mn-lt"/>
                <a:cs typeface="Trebuchet MS"/>
              </a:rPr>
              <a:t>combining</a:t>
            </a:r>
            <a:r>
              <a:rPr lang="en-US" sz="1800" spc="-40" dirty="0">
                <a:solidFill>
                  <a:srgbClr val="373737"/>
                </a:solidFill>
                <a:latin typeface="+mn-lt"/>
                <a:cs typeface="Trebuchet MS"/>
              </a:rPr>
              <a:t> </a:t>
            </a:r>
            <a:r>
              <a:rPr lang="en-US" sz="1800" spc="-155" dirty="0">
                <a:solidFill>
                  <a:srgbClr val="373737"/>
                </a:solidFill>
                <a:latin typeface="+mn-lt"/>
                <a:cs typeface="Trebuchet MS"/>
              </a:rPr>
              <a:t>multiple</a:t>
            </a:r>
            <a:r>
              <a:rPr lang="en-US" sz="1800" spc="-40" dirty="0">
                <a:solidFill>
                  <a:srgbClr val="373737"/>
                </a:solidFill>
                <a:latin typeface="+mn-lt"/>
                <a:cs typeface="Trebuchet MS"/>
              </a:rPr>
              <a:t> </a:t>
            </a:r>
            <a:r>
              <a:rPr lang="en-US" sz="1800" spc="-10" dirty="0">
                <a:solidFill>
                  <a:srgbClr val="373737"/>
                </a:solidFill>
                <a:latin typeface="+mn-lt"/>
                <a:cs typeface="Trebuchet MS"/>
              </a:rPr>
              <a:t>signals.</a:t>
            </a:r>
            <a:endParaRPr lang="en-US" sz="1800" dirty="0">
              <a:latin typeface="+mn-lt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716944" cy="899159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023649" y="568325"/>
            <a:ext cx="3830320" cy="5397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290" dirty="0">
                <a:latin typeface="+mn-lt"/>
              </a:rPr>
              <a:t>Conclusion</a:t>
            </a:r>
            <a:r>
              <a:rPr spc="-225" dirty="0">
                <a:latin typeface="+mn-lt"/>
              </a:rPr>
              <a:t> </a:t>
            </a:r>
            <a:r>
              <a:rPr spc="-595" dirty="0">
                <a:latin typeface="+mn-lt"/>
              </a:rPr>
              <a:t>&amp;</a:t>
            </a:r>
            <a:r>
              <a:rPr spc="-220" dirty="0">
                <a:latin typeface="+mn-lt"/>
              </a:rPr>
              <a:t> </a:t>
            </a:r>
            <a:r>
              <a:rPr spc="-300" dirty="0">
                <a:latin typeface="+mn-lt"/>
              </a:rPr>
              <a:t>Next</a:t>
            </a:r>
            <a:r>
              <a:rPr spc="-225" dirty="0">
                <a:latin typeface="+mn-lt"/>
              </a:rPr>
              <a:t> </a:t>
            </a:r>
            <a:r>
              <a:rPr spc="-204" dirty="0">
                <a:latin typeface="+mn-lt"/>
              </a:rPr>
              <a:t>Steps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47FF25A-1040-0076-FD74-4BE62F149972}"/>
              </a:ext>
            </a:extLst>
          </p:cNvPr>
          <p:cNvGrpSpPr/>
          <p:nvPr/>
        </p:nvGrpSpPr>
        <p:grpSpPr>
          <a:xfrm>
            <a:off x="5043487" y="1452561"/>
            <a:ext cx="5679757" cy="6180072"/>
            <a:chOff x="5043487" y="1452561"/>
            <a:chExt cx="5679757" cy="6180072"/>
          </a:xfrm>
        </p:grpSpPr>
        <p:grpSp>
          <p:nvGrpSpPr>
            <p:cNvPr id="5" name="object 5"/>
            <p:cNvGrpSpPr/>
            <p:nvPr/>
          </p:nvGrpSpPr>
          <p:grpSpPr>
            <a:xfrm>
              <a:off x="5043487" y="1452561"/>
              <a:ext cx="2705100" cy="3912756"/>
              <a:chOff x="5043487" y="1452561"/>
              <a:chExt cx="2705100" cy="3912756"/>
            </a:xfrm>
          </p:grpSpPr>
          <p:sp>
            <p:nvSpPr>
              <p:cNvPr id="6" name="object 6"/>
              <p:cNvSpPr/>
              <p:nvPr/>
            </p:nvSpPr>
            <p:spPr>
              <a:xfrm>
                <a:off x="5043487" y="1452561"/>
                <a:ext cx="2705100" cy="3912756"/>
              </a:xfrm>
              <a:custGeom>
                <a:avLst/>
                <a:gdLst/>
                <a:ahLst/>
                <a:cxnLst/>
                <a:rect l="l" t="t" r="r" b="b"/>
                <a:pathLst>
                  <a:path w="2705100" h="3067050">
                    <a:moveTo>
                      <a:pt x="2639466" y="0"/>
                    </a:moveTo>
                    <a:lnTo>
                      <a:pt x="65633" y="0"/>
                    </a:lnTo>
                    <a:lnTo>
                      <a:pt x="61061" y="457"/>
                    </a:lnTo>
                    <a:lnTo>
                      <a:pt x="23837" y="17310"/>
                    </a:lnTo>
                    <a:lnTo>
                      <a:pt x="2247" y="52019"/>
                    </a:lnTo>
                    <a:lnTo>
                      <a:pt x="0" y="65633"/>
                    </a:lnTo>
                    <a:lnTo>
                      <a:pt x="0" y="2996806"/>
                    </a:lnTo>
                    <a:lnTo>
                      <a:pt x="0" y="3001416"/>
                    </a:lnTo>
                    <a:lnTo>
                      <a:pt x="14401" y="3039668"/>
                    </a:lnTo>
                    <a:lnTo>
                      <a:pt x="47625" y="3063468"/>
                    </a:lnTo>
                    <a:lnTo>
                      <a:pt x="65633" y="3067050"/>
                    </a:lnTo>
                    <a:lnTo>
                      <a:pt x="2639466" y="3067050"/>
                    </a:lnTo>
                    <a:lnTo>
                      <a:pt x="2677718" y="3052648"/>
                    </a:lnTo>
                    <a:lnTo>
                      <a:pt x="2701518" y="3019425"/>
                    </a:lnTo>
                    <a:lnTo>
                      <a:pt x="2705100" y="3001416"/>
                    </a:lnTo>
                    <a:lnTo>
                      <a:pt x="2705100" y="65633"/>
                    </a:lnTo>
                    <a:lnTo>
                      <a:pt x="2690698" y="27381"/>
                    </a:lnTo>
                    <a:lnTo>
                      <a:pt x="2657475" y="3581"/>
                    </a:lnTo>
                    <a:lnTo>
                      <a:pt x="2644025" y="457"/>
                    </a:lnTo>
                    <a:lnTo>
                      <a:pt x="2639466" y="0"/>
                    </a:lnTo>
                    <a:close/>
                  </a:path>
                </a:pathLst>
              </a:custGeom>
              <a:solidFill>
                <a:srgbClr val="E6E6E6"/>
              </a:solidFill>
            </p:spPr>
            <p:txBody>
              <a:bodyPr wrap="square" lIns="0" tIns="0" rIns="0" bIns="0" rtlCol="0"/>
              <a:lstStyle/>
              <a:p>
                <a:endParaRPr sz="2000">
                  <a:latin typeface="+mn-lt"/>
                </a:endParaRPr>
              </a:p>
            </p:txBody>
          </p:sp>
          <p:sp>
            <p:nvSpPr>
              <p:cNvPr id="8" name="object 8"/>
              <p:cNvSpPr/>
              <p:nvPr/>
            </p:nvSpPr>
            <p:spPr>
              <a:xfrm>
                <a:off x="5257800" y="1676399"/>
                <a:ext cx="647700" cy="638175"/>
              </a:xfrm>
              <a:custGeom>
                <a:avLst/>
                <a:gdLst/>
                <a:ahLst/>
                <a:cxnLst/>
                <a:rect l="l" t="t" r="r" b="b"/>
                <a:pathLst>
                  <a:path w="647700" h="638175">
                    <a:moveTo>
                      <a:pt x="328612" y="0"/>
                    </a:moveTo>
                    <a:lnTo>
                      <a:pt x="319087" y="0"/>
                    </a:lnTo>
                    <a:lnTo>
                      <a:pt x="311253" y="95"/>
                    </a:lnTo>
                    <a:lnTo>
                      <a:pt x="272264" y="3454"/>
                    </a:lnTo>
                    <a:lnTo>
                      <a:pt x="233986" y="11557"/>
                    </a:lnTo>
                    <a:lnTo>
                      <a:pt x="196977" y="24282"/>
                    </a:lnTo>
                    <a:lnTo>
                      <a:pt x="161803" y="41457"/>
                    </a:lnTo>
                    <a:lnTo>
                      <a:pt x="129006" y="62790"/>
                    </a:lnTo>
                    <a:lnTo>
                      <a:pt x="99067" y="87987"/>
                    </a:lnTo>
                    <a:lnTo>
                      <a:pt x="72428" y="116662"/>
                    </a:lnTo>
                    <a:lnTo>
                      <a:pt x="49502" y="148373"/>
                    </a:lnTo>
                    <a:lnTo>
                      <a:pt x="30635" y="182660"/>
                    </a:lnTo>
                    <a:lnTo>
                      <a:pt x="16108" y="218994"/>
                    </a:lnTo>
                    <a:lnTo>
                      <a:pt x="6134" y="256832"/>
                    </a:lnTo>
                    <a:lnTo>
                      <a:pt x="862" y="295613"/>
                    </a:lnTo>
                    <a:lnTo>
                      <a:pt x="0" y="319087"/>
                    </a:lnTo>
                    <a:lnTo>
                      <a:pt x="95" y="326921"/>
                    </a:lnTo>
                    <a:lnTo>
                      <a:pt x="3454" y="365910"/>
                    </a:lnTo>
                    <a:lnTo>
                      <a:pt x="11557" y="404188"/>
                    </a:lnTo>
                    <a:lnTo>
                      <a:pt x="24295" y="441198"/>
                    </a:lnTo>
                    <a:lnTo>
                      <a:pt x="41457" y="476371"/>
                    </a:lnTo>
                    <a:lnTo>
                      <a:pt x="62790" y="509168"/>
                    </a:lnTo>
                    <a:lnTo>
                      <a:pt x="87987" y="539107"/>
                    </a:lnTo>
                    <a:lnTo>
                      <a:pt x="116662" y="565746"/>
                    </a:lnTo>
                    <a:lnTo>
                      <a:pt x="148373" y="588672"/>
                    </a:lnTo>
                    <a:lnTo>
                      <a:pt x="182660" y="607539"/>
                    </a:lnTo>
                    <a:lnTo>
                      <a:pt x="218994" y="622066"/>
                    </a:lnTo>
                    <a:lnTo>
                      <a:pt x="256832" y="632040"/>
                    </a:lnTo>
                    <a:lnTo>
                      <a:pt x="295618" y="637312"/>
                    </a:lnTo>
                    <a:lnTo>
                      <a:pt x="319087" y="638175"/>
                    </a:lnTo>
                    <a:lnTo>
                      <a:pt x="328612" y="638175"/>
                    </a:lnTo>
                    <a:lnTo>
                      <a:pt x="367679" y="635773"/>
                    </a:lnTo>
                    <a:lnTo>
                      <a:pt x="406146" y="628613"/>
                    </a:lnTo>
                    <a:lnTo>
                      <a:pt x="443450" y="616789"/>
                    </a:lnTo>
                    <a:lnTo>
                      <a:pt x="479031" y="600494"/>
                    </a:lnTo>
                    <a:lnTo>
                      <a:pt x="512349" y="579971"/>
                    </a:lnTo>
                    <a:lnTo>
                      <a:pt x="542896" y="555517"/>
                    </a:lnTo>
                    <a:lnTo>
                      <a:pt x="570228" y="527506"/>
                    </a:lnTo>
                    <a:lnTo>
                      <a:pt x="593928" y="496366"/>
                    </a:lnTo>
                    <a:lnTo>
                      <a:pt x="613628" y="462550"/>
                    </a:lnTo>
                    <a:lnTo>
                      <a:pt x="629045" y="426586"/>
                    </a:lnTo>
                    <a:lnTo>
                      <a:pt x="639946" y="389005"/>
                    </a:lnTo>
                    <a:lnTo>
                      <a:pt x="646163" y="350354"/>
                    </a:lnTo>
                    <a:lnTo>
                      <a:pt x="647700" y="319087"/>
                    </a:lnTo>
                    <a:lnTo>
                      <a:pt x="647604" y="311253"/>
                    </a:lnTo>
                    <a:lnTo>
                      <a:pt x="644245" y="272262"/>
                    </a:lnTo>
                    <a:lnTo>
                      <a:pt x="636142" y="233986"/>
                    </a:lnTo>
                    <a:lnTo>
                      <a:pt x="623417" y="196977"/>
                    </a:lnTo>
                    <a:lnTo>
                      <a:pt x="606242" y="161803"/>
                    </a:lnTo>
                    <a:lnTo>
                      <a:pt x="584909" y="129006"/>
                    </a:lnTo>
                    <a:lnTo>
                      <a:pt x="559712" y="99067"/>
                    </a:lnTo>
                    <a:lnTo>
                      <a:pt x="531037" y="72428"/>
                    </a:lnTo>
                    <a:lnTo>
                      <a:pt x="499326" y="49502"/>
                    </a:lnTo>
                    <a:lnTo>
                      <a:pt x="465039" y="30633"/>
                    </a:lnTo>
                    <a:lnTo>
                      <a:pt x="428705" y="16108"/>
                    </a:lnTo>
                    <a:lnTo>
                      <a:pt x="390867" y="6134"/>
                    </a:lnTo>
                    <a:lnTo>
                      <a:pt x="352086" y="862"/>
                    </a:lnTo>
                    <a:lnTo>
                      <a:pt x="328612" y="0"/>
                    </a:lnTo>
                    <a:close/>
                  </a:path>
                </a:pathLst>
              </a:custGeom>
              <a:solidFill>
                <a:srgbClr val="CCCCCC"/>
              </a:solidFill>
            </p:spPr>
            <p:txBody>
              <a:bodyPr wrap="square" lIns="0" tIns="0" rIns="0" bIns="0" rtlCol="0"/>
              <a:lstStyle/>
              <a:p>
                <a:endParaRPr sz="2000">
                  <a:latin typeface="+mn-lt"/>
                </a:endParaRPr>
              </a:p>
            </p:txBody>
          </p:sp>
          <p:sp>
            <p:nvSpPr>
              <p:cNvPr id="9" name="object 9"/>
              <p:cNvSpPr/>
              <p:nvPr/>
            </p:nvSpPr>
            <p:spPr>
              <a:xfrm>
                <a:off x="5438775" y="1904682"/>
                <a:ext cx="289560" cy="194945"/>
              </a:xfrm>
              <a:custGeom>
                <a:avLst/>
                <a:gdLst/>
                <a:ahLst/>
                <a:cxnLst/>
                <a:rect l="l" t="t" r="r" b="b"/>
                <a:pathLst>
                  <a:path w="289560" h="194944">
                    <a:moveTo>
                      <a:pt x="289318" y="0"/>
                    </a:moveTo>
                    <a:lnTo>
                      <a:pt x="94754" y="194716"/>
                    </a:lnTo>
                  </a:path>
                  <a:path w="289560" h="194944">
                    <a:moveTo>
                      <a:pt x="0" y="99771"/>
                    </a:moveTo>
                    <a:lnTo>
                      <a:pt x="94754" y="194716"/>
                    </a:lnTo>
                  </a:path>
                </a:pathLst>
              </a:custGeom>
              <a:ln w="1281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2000">
                  <a:latin typeface="+mn-lt"/>
                </a:endParaRPr>
              </a:p>
            </p:txBody>
          </p:sp>
        </p:grpSp>
        <p:sp>
          <p:nvSpPr>
            <p:cNvPr id="10" name="object 10"/>
            <p:cNvSpPr txBox="1"/>
            <p:nvPr/>
          </p:nvSpPr>
          <p:spPr>
            <a:xfrm>
              <a:off x="5969470" y="1806424"/>
              <a:ext cx="2105660" cy="3209981"/>
            </a:xfrm>
            <a:prstGeom prst="rect">
              <a:avLst/>
            </a:prstGeom>
          </p:spPr>
          <p:txBody>
            <a:bodyPr vert="horz" wrap="square" lIns="0" tIns="1714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sz="2000" spc="-135" dirty="0">
                  <a:solidFill>
                    <a:srgbClr val="373737"/>
                  </a:solidFill>
                  <a:latin typeface="+mn-lt"/>
                  <a:cs typeface="Trebuchet MS"/>
                </a:rPr>
                <a:t>Content-</a:t>
              </a:r>
              <a:r>
                <a:rPr sz="2000" spc="-140" dirty="0">
                  <a:solidFill>
                    <a:srgbClr val="373737"/>
                  </a:solidFill>
                  <a:latin typeface="+mn-lt"/>
                  <a:cs typeface="Trebuchet MS"/>
                </a:rPr>
                <a:t>Based</a:t>
              </a:r>
              <a:r>
                <a:rPr sz="2000" spc="-55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10" dirty="0">
                  <a:solidFill>
                    <a:srgbClr val="373737"/>
                  </a:solidFill>
                  <a:latin typeface="+mn-lt"/>
                  <a:cs typeface="Trebuchet MS"/>
                </a:rPr>
                <a:t>Strengths</a:t>
              </a:r>
              <a:endParaRPr sz="2000" dirty="0">
                <a:latin typeface="+mn-lt"/>
                <a:cs typeface="Trebuchet MS"/>
              </a:endParaRPr>
            </a:p>
            <a:p>
              <a:pPr marL="12700" marR="5080">
                <a:lnSpc>
                  <a:spcPct val="136400"/>
                </a:lnSpc>
                <a:spcBef>
                  <a:spcPts val="750"/>
                </a:spcBef>
              </a:pPr>
              <a:r>
                <a:rPr sz="2000" spc="-185" dirty="0">
                  <a:solidFill>
                    <a:srgbClr val="373737"/>
                  </a:solidFill>
                  <a:latin typeface="+mn-lt"/>
                  <a:cs typeface="Trebuchet MS"/>
                </a:rPr>
                <a:t>No</a:t>
              </a:r>
              <a:r>
                <a:rPr sz="2000" spc="-80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105" dirty="0">
                  <a:solidFill>
                    <a:srgbClr val="373737"/>
                  </a:solidFill>
                  <a:latin typeface="+mn-lt"/>
                  <a:cs typeface="Trebuchet MS"/>
                </a:rPr>
                <a:t>cold-</a:t>
              </a:r>
              <a:r>
                <a:rPr sz="2000" spc="-95" dirty="0">
                  <a:solidFill>
                    <a:srgbClr val="373737"/>
                  </a:solidFill>
                  <a:latin typeface="+mn-lt"/>
                  <a:cs typeface="Trebuchet MS"/>
                </a:rPr>
                <a:t>start</a:t>
              </a:r>
              <a:r>
                <a:rPr sz="2000" spc="-75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60" dirty="0">
                  <a:solidFill>
                    <a:srgbClr val="373737"/>
                  </a:solidFill>
                  <a:latin typeface="+mn-lt"/>
                  <a:cs typeface="Trebuchet MS"/>
                </a:rPr>
                <a:t>problem, </a:t>
              </a:r>
              <a:r>
                <a:rPr sz="2000" spc="-65" dirty="0">
                  <a:solidFill>
                    <a:srgbClr val="373737"/>
                  </a:solidFill>
                  <a:latin typeface="+mn-lt"/>
                  <a:cs typeface="Trebuchet MS"/>
                </a:rPr>
                <a:t>interpretable </a:t>
              </a:r>
              <a:r>
                <a:rPr sz="2000" spc="-180" dirty="0">
                  <a:solidFill>
                    <a:srgbClr val="373737"/>
                  </a:solidFill>
                  <a:latin typeface="+mn-lt"/>
                  <a:cs typeface="Trebuchet MS"/>
                </a:rPr>
                <a:t>recommendations,</a:t>
              </a:r>
              <a:r>
                <a:rPr sz="2000" spc="10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140" dirty="0">
                  <a:solidFill>
                    <a:srgbClr val="373737"/>
                  </a:solidFill>
                  <a:latin typeface="+mn-lt"/>
                  <a:cs typeface="Trebuchet MS"/>
                </a:rPr>
                <a:t>scalable </a:t>
              </a:r>
              <a:r>
                <a:rPr sz="2000" spc="-190" dirty="0">
                  <a:solidFill>
                    <a:srgbClr val="373737"/>
                  </a:solidFill>
                  <a:latin typeface="+mn-lt"/>
                  <a:cs typeface="Trebuchet MS"/>
                </a:rPr>
                <a:t>without</a:t>
              </a:r>
              <a:r>
                <a:rPr sz="2000" spc="-95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120" dirty="0">
                  <a:solidFill>
                    <a:srgbClr val="373737"/>
                  </a:solidFill>
                  <a:latin typeface="+mn-lt"/>
                  <a:cs typeface="Trebuchet MS"/>
                </a:rPr>
                <a:t>user</a:t>
              </a:r>
              <a:r>
                <a:rPr sz="2000" spc="-90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10" dirty="0">
                  <a:solidFill>
                    <a:srgbClr val="373737"/>
                  </a:solidFill>
                  <a:latin typeface="+mn-lt"/>
                  <a:cs typeface="Trebuchet MS"/>
                </a:rPr>
                <a:t>ratings</a:t>
              </a:r>
              <a:endParaRPr sz="2000" dirty="0">
                <a:latin typeface="+mn-lt"/>
                <a:cs typeface="Trebuchet MS"/>
              </a:endParaRPr>
            </a:p>
          </p:txBody>
        </p:sp>
        <p:grpSp>
          <p:nvGrpSpPr>
            <p:cNvPr id="11" name="object 11"/>
            <p:cNvGrpSpPr/>
            <p:nvPr/>
          </p:nvGrpSpPr>
          <p:grpSpPr>
            <a:xfrm>
              <a:off x="7967662" y="1452562"/>
              <a:ext cx="2705100" cy="4033838"/>
              <a:chOff x="7967662" y="1452562"/>
              <a:chExt cx="2705100" cy="4033838"/>
            </a:xfrm>
          </p:grpSpPr>
          <p:sp>
            <p:nvSpPr>
              <p:cNvPr id="12" name="object 12"/>
              <p:cNvSpPr/>
              <p:nvPr/>
            </p:nvSpPr>
            <p:spPr>
              <a:xfrm>
                <a:off x="7967662" y="1452562"/>
                <a:ext cx="2705100" cy="4033838"/>
              </a:xfrm>
              <a:custGeom>
                <a:avLst/>
                <a:gdLst/>
                <a:ahLst/>
                <a:cxnLst/>
                <a:rect l="l" t="t" r="r" b="b"/>
                <a:pathLst>
                  <a:path w="2705100" h="3067050">
                    <a:moveTo>
                      <a:pt x="2639466" y="0"/>
                    </a:moveTo>
                    <a:lnTo>
                      <a:pt x="65633" y="0"/>
                    </a:lnTo>
                    <a:lnTo>
                      <a:pt x="61061" y="457"/>
                    </a:lnTo>
                    <a:lnTo>
                      <a:pt x="23837" y="17310"/>
                    </a:lnTo>
                    <a:lnTo>
                      <a:pt x="2247" y="52019"/>
                    </a:lnTo>
                    <a:lnTo>
                      <a:pt x="0" y="65633"/>
                    </a:lnTo>
                    <a:lnTo>
                      <a:pt x="0" y="2996806"/>
                    </a:lnTo>
                    <a:lnTo>
                      <a:pt x="0" y="3001416"/>
                    </a:lnTo>
                    <a:lnTo>
                      <a:pt x="14401" y="3039668"/>
                    </a:lnTo>
                    <a:lnTo>
                      <a:pt x="47625" y="3063468"/>
                    </a:lnTo>
                    <a:lnTo>
                      <a:pt x="65633" y="3067050"/>
                    </a:lnTo>
                    <a:lnTo>
                      <a:pt x="2639466" y="3067050"/>
                    </a:lnTo>
                    <a:lnTo>
                      <a:pt x="2677718" y="3052648"/>
                    </a:lnTo>
                    <a:lnTo>
                      <a:pt x="2701518" y="3019425"/>
                    </a:lnTo>
                    <a:lnTo>
                      <a:pt x="2705100" y="3001416"/>
                    </a:lnTo>
                    <a:lnTo>
                      <a:pt x="2705100" y="65633"/>
                    </a:lnTo>
                    <a:lnTo>
                      <a:pt x="2690698" y="27381"/>
                    </a:lnTo>
                    <a:lnTo>
                      <a:pt x="2657475" y="3581"/>
                    </a:lnTo>
                    <a:lnTo>
                      <a:pt x="2644025" y="457"/>
                    </a:lnTo>
                    <a:lnTo>
                      <a:pt x="2639466" y="0"/>
                    </a:lnTo>
                    <a:close/>
                  </a:path>
                </a:pathLst>
              </a:custGeom>
              <a:solidFill>
                <a:srgbClr val="E6E6E6"/>
              </a:solidFill>
            </p:spPr>
            <p:txBody>
              <a:bodyPr wrap="square" lIns="0" tIns="0" rIns="0" bIns="0" rtlCol="0"/>
              <a:lstStyle/>
              <a:p>
                <a:endParaRPr sz="2000">
                  <a:latin typeface="+mn-lt"/>
                </a:endParaRPr>
              </a:p>
            </p:txBody>
          </p:sp>
          <p:sp>
            <p:nvSpPr>
              <p:cNvPr id="14" name="object 14"/>
              <p:cNvSpPr/>
              <p:nvPr/>
            </p:nvSpPr>
            <p:spPr>
              <a:xfrm>
                <a:off x="8191500" y="1676399"/>
                <a:ext cx="638175" cy="638175"/>
              </a:xfrm>
              <a:custGeom>
                <a:avLst/>
                <a:gdLst/>
                <a:ahLst/>
                <a:cxnLst/>
                <a:rect l="l" t="t" r="r" b="b"/>
                <a:pathLst>
                  <a:path w="638175" h="638175">
                    <a:moveTo>
                      <a:pt x="319087" y="0"/>
                    </a:moveTo>
                    <a:lnTo>
                      <a:pt x="280026" y="2401"/>
                    </a:lnTo>
                    <a:lnTo>
                      <a:pt x="241554" y="9561"/>
                    </a:lnTo>
                    <a:lnTo>
                      <a:pt x="204249" y="21379"/>
                    </a:lnTo>
                    <a:lnTo>
                      <a:pt x="168668" y="37680"/>
                    </a:lnTo>
                    <a:lnTo>
                      <a:pt x="135350" y="58203"/>
                    </a:lnTo>
                    <a:lnTo>
                      <a:pt x="104803" y="82657"/>
                    </a:lnTo>
                    <a:lnTo>
                      <a:pt x="77471" y="110668"/>
                    </a:lnTo>
                    <a:lnTo>
                      <a:pt x="53771" y="141808"/>
                    </a:lnTo>
                    <a:lnTo>
                      <a:pt x="34071" y="175624"/>
                    </a:lnTo>
                    <a:lnTo>
                      <a:pt x="18656" y="211588"/>
                    </a:lnTo>
                    <a:lnTo>
                      <a:pt x="7753" y="249169"/>
                    </a:lnTo>
                    <a:lnTo>
                      <a:pt x="1536" y="287807"/>
                    </a:lnTo>
                    <a:lnTo>
                      <a:pt x="0" y="319087"/>
                    </a:lnTo>
                    <a:lnTo>
                      <a:pt x="95" y="326921"/>
                    </a:lnTo>
                    <a:lnTo>
                      <a:pt x="3454" y="365910"/>
                    </a:lnTo>
                    <a:lnTo>
                      <a:pt x="11557" y="404188"/>
                    </a:lnTo>
                    <a:lnTo>
                      <a:pt x="24295" y="441198"/>
                    </a:lnTo>
                    <a:lnTo>
                      <a:pt x="41457" y="476371"/>
                    </a:lnTo>
                    <a:lnTo>
                      <a:pt x="62790" y="509168"/>
                    </a:lnTo>
                    <a:lnTo>
                      <a:pt x="87987" y="539107"/>
                    </a:lnTo>
                    <a:lnTo>
                      <a:pt x="116662" y="565746"/>
                    </a:lnTo>
                    <a:lnTo>
                      <a:pt x="148373" y="588672"/>
                    </a:lnTo>
                    <a:lnTo>
                      <a:pt x="182660" y="607539"/>
                    </a:lnTo>
                    <a:lnTo>
                      <a:pt x="218994" y="622066"/>
                    </a:lnTo>
                    <a:lnTo>
                      <a:pt x="256832" y="632040"/>
                    </a:lnTo>
                    <a:lnTo>
                      <a:pt x="295618" y="637312"/>
                    </a:lnTo>
                    <a:lnTo>
                      <a:pt x="319087" y="638175"/>
                    </a:lnTo>
                    <a:lnTo>
                      <a:pt x="326921" y="638079"/>
                    </a:lnTo>
                    <a:lnTo>
                      <a:pt x="365912" y="634720"/>
                    </a:lnTo>
                    <a:lnTo>
                      <a:pt x="404188" y="626617"/>
                    </a:lnTo>
                    <a:lnTo>
                      <a:pt x="441198" y="613879"/>
                    </a:lnTo>
                    <a:lnTo>
                      <a:pt x="476371" y="596717"/>
                    </a:lnTo>
                    <a:lnTo>
                      <a:pt x="509168" y="575384"/>
                    </a:lnTo>
                    <a:lnTo>
                      <a:pt x="539107" y="550187"/>
                    </a:lnTo>
                    <a:lnTo>
                      <a:pt x="565746" y="521512"/>
                    </a:lnTo>
                    <a:lnTo>
                      <a:pt x="588672" y="489801"/>
                    </a:lnTo>
                    <a:lnTo>
                      <a:pt x="607541" y="455514"/>
                    </a:lnTo>
                    <a:lnTo>
                      <a:pt x="622066" y="419180"/>
                    </a:lnTo>
                    <a:lnTo>
                      <a:pt x="632040" y="381342"/>
                    </a:lnTo>
                    <a:lnTo>
                      <a:pt x="637312" y="342556"/>
                    </a:lnTo>
                    <a:lnTo>
                      <a:pt x="638175" y="319087"/>
                    </a:lnTo>
                    <a:lnTo>
                      <a:pt x="638079" y="311253"/>
                    </a:lnTo>
                    <a:lnTo>
                      <a:pt x="634720" y="272262"/>
                    </a:lnTo>
                    <a:lnTo>
                      <a:pt x="626617" y="233986"/>
                    </a:lnTo>
                    <a:lnTo>
                      <a:pt x="613892" y="196977"/>
                    </a:lnTo>
                    <a:lnTo>
                      <a:pt x="596717" y="161803"/>
                    </a:lnTo>
                    <a:lnTo>
                      <a:pt x="575384" y="129006"/>
                    </a:lnTo>
                    <a:lnTo>
                      <a:pt x="550187" y="99067"/>
                    </a:lnTo>
                    <a:lnTo>
                      <a:pt x="521512" y="72428"/>
                    </a:lnTo>
                    <a:lnTo>
                      <a:pt x="489801" y="49502"/>
                    </a:lnTo>
                    <a:lnTo>
                      <a:pt x="455514" y="30633"/>
                    </a:lnTo>
                    <a:lnTo>
                      <a:pt x="419180" y="16108"/>
                    </a:lnTo>
                    <a:lnTo>
                      <a:pt x="381342" y="6134"/>
                    </a:lnTo>
                    <a:lnTo>
                      <a:pt x="342561" y="862"/>
                    </a:lnTo>
                    <a:lnTo>
                      <a:pt x="319087" y="0"/>
                    </a:lnTo>
                    <a:close/>
                  </a:path>
                </a:pathLst>
              </a:custGeom>
              <a:solidFill>
                <a:srgbClr val="CCCCCC"/>
              </a:solidFill>
            </p:spPr>
            <p:txBody>
              <a:bodyPr wrap="square" lIns="0" tIns="0" rIns="0" bIns="0" rtlCol="0"/>
              <a:lstStyle/>
              <a:p>
                <a:endParaRPr sz="2000">
                  <a:latin typeface="+mn-lt"/>
                </a:endParaRPr>
              </a:p>
            </p:txBody>
          </p:sp>
          <p:sp>
            <p:nvSpPr>
              <p:cNvPr id="15" name="object 15"/>
              <p:cNvSpPr/>
              <p:nvPr/>
            </p:nvSpPr>
            <p:spPr>
              <a:xfrm>
                <a:off x="8406536" y="1857374"/>
                <a:ext cx="202565" cy="289560"/>
              </a:xfrm>
              <a:custGeom>
                <a:avLst/>
                <a:gdLst/>
                <a:ahLst/>
                <a:cxnLst/>
                <a:rect l="l" t="t" r="r" b="b"/>
                <a:pathLst>
                  <a:path w="202565" h="289560">
                    <a:moveTo>
                      <a:pt x="54165" y="233311"/>
                    </a:moveTo>
                    <a:lnTo>
                      <a:pt x="59029" y="271754"/>
                    </a:lnTo>
                    <a:lnTo>
                      <a:pt x="99760" y="289283"/>
                    </a:lnTo>
                    <a:lnTo>
                      <a:pt x="112763" y="289318"/>
                    </a:lnTo>
                    <a:lnTo>
                      <a:pt x="119126" y="288645"/>
                    </a:lnTo>
                    <a:lnTo>
                      <a:pt x="147294" y="260769"/>
                    </a:lnTo>
                    <a:lnTo>
                      <a:pt x="147859" y="242952"/>
                    </a:lnTo>
                    <a:lnTo>
                      <a:pt x="148216" y="231152"/>
                    </a:lnTo>
                    <a:lnTo>
                      <a:pt x="158469" y="193959"/>
                    </a:lnTo>
                    <a:lnTo>
                      <a:pt x="178279" y="162972"/>
                    </a:lnTo>
                    <a:lnTo>
                      <a:pt x="184090" y="155138"/>
                    </a:lnTo>
                    <a:lnTo>
                      <a:pt x="200640" y="115167"/>
                    </a:lnTo>
                    <a:lnTo>
                      <a:pt x="202133" y="93827"/>
                    </a:lnTo>
                    <a:lnTo>
                      <a:pt x="201159" y="86723"/>
                    </a:lnTo>
                    <a:lnTo>
                      <a:pt x="185983" y="46099"/>
                    </a:lnTo>
                    <a:lnTo>
                      <a:pt x="154373" y="15254"/>
                    </a:lnTo>
                    <a:lnTo>
                      <a:pt x="112630" y="838"/>
                    </a:lnTo>
                    <a:lnTo>
                      <a:pt x="105232" y="0"/>
                    </a:lnTo>
                    <a:lnTo>
                      <a:pt x="97674" y="183"/>
                    </a:lnTo>
                    <a:lnTo>
                      <a:pt x="57021" y="9756"/>
                    </a:lnTo>
                    <a:lnTo>
                      <a:pt x="22861" y="36587"/>
                    </a:lnTo>
                    <a:lnTo>
                      <a:pt x="3467" y="73533"/>
                    </a:lnTo>
                    <a:lnTo>
                      <a:pt x="0" y="97142"/>
                    </a:lnTo>
                    <a:lnTo>
                      <a:pt x="139" y="103454"/>
                    </a:lnTo>
                    <a:lnTo>
                      <a:pt x="10680" y="142989"/>
                    </a:lnTo>
                    <a:lnTo>
                      <a:pt x="24977" y="164396"/>
                    </a:lnTo>
                    <a:lnTo>
                      <a:pt x="30437" y="171927"/>
                    </a:lnTo>
                    <a:lnTo>
                      <a:pt x="49117" y="207325"/>
                    </a:lnTo>
                    <a:lnTo>
                      <a:pt x="54190" y="228866"/>
                    </a:lnTo>
                    <a:lnTo>
                      <a:pt x="54165" y="233311"/>
                    </a:lnTo>
                  </a:path>
                  <a:path w="202565" h="289560">
                    <a:moveTo>
                      <a:pt x="147955" y="228854"/>
                    </a:moveTo>
                    <a:lnTo>
                      <a:pt x="54190" y="228866"/>
                    </a:lnTo>
                  </a:path>
                  <a:path w="202565" h="289560">
                    <a:moveTo>
                      <a:pt x="34569" y="88646"/>
                    </a:moveTo>
                    <a:lnTo>
                      <a:pt x="52775" y="53469"/>
                    </a:lnTo>
                    <a:lnTo>
                      <a:pt x="65395" y="43778"/>
                    </a:lnTo>
                    <a:lnTo>
                      <a:pt x="72631" y="40144"/>
                    </a:lnTo>
                  </a:path>
                </a:pathLst>
              </a:custGeom>
              <a:ln w="1282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2000">
                  <a:latin typeface="+mn-lt"/>
                </a:endParaRPr>
              </a:p>
            </p:txBody>
          </p:sp>
        </p:grpSp>
        <p:sp>
          <p:nvSpPr>
            <p:cNvPr id="16" name="object 16"/>
            <p:cNvSpPr txBox="1"/>
            <p:nvPr/>
          </p:nvSpPr>
          <p:spPr>
            <a:xfrm>
              <a:off x="8883967" y="1635329"/>
              <a:ext cx="1555433" cy="3628557"/>
            </a:xfrm>
            <a:prstGeom prst="rect">
              <a:avLst/>
            </a:prstGeom>
          </p:spPr>
          <p:txBody>
            <a:bodyPr vert="horz" wrap="square" lIns="0" tIns="1714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sz="2000" spc="-165" dirty="0">
                  <a:solidFill>
                    <a:srgbClr val="373737"/>
                  </a:solidFill>
                  <a:latin typeface="+mn-lt"/>
                  <a:cs typeface="Trebuchet MS"/>
                </a:rPr>
                <a:t>Improvement</a:t>
              </a:r>
              <a:r>
                <a:rPr sz="2000" spc="-65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130" dirty="0">
                  <a:solidFill>
                    <a:srgbClr val="373737"/>
                  </a:solidFill>
                  <a:latin typeface="+mn-lt"/>
                  <a:cs typeface="Trebuchet MS"/>
                </a:rPr>
                <a:t>Opportunities</a:t>
              </a:r>
              <a:endParaRPr sz="2000" dirty="0">
                <a:latin typeface="+mn-lt"/>
                <a:cs typeface="Trebuchet MS"/>
              </a:endParaRPr>
            </a:p>
            <a:p>
              <a:pPr marL="12700" marR="31115">
                <a:lnSpc>
                  <a:spcPct val="136400"/>
                </a:lnSpc>
                <a:spcBef>
                  <a:spcPts val="750"/>
                </a:spcBef>
              </a:pPr>
              <a:r>
                <a:rPr sz="2000" spc="-125" dirty="0">
                  <a:solidFill>
                    <a:srgbClr val="373737"/>
                  </a:solidFill>
                  <a:latin typeface="+mn-lt"/>
                  <a:cs typeface="Trebuchet MS"/>
                </a:rPr>
                <a:t>Integrate</a:t>
              </a:r>
              <a:r>
                <a:rPr sz="2000" spc="-75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70" dirty="0">
                  <a:solidFill>
                    <a:srgbClr val="373737"/>
                  </a:solidFill>
                  <a:latin typeface="+mn-lt"/>
                  <a:cs typeface="Trebuchet MS"/>
                </a:rPr>
                <a:t>collaborative </a:t>
              </a:r>
              <a:r>
                <a:rPr sz="2000" spc="-110" dirty="0">
                  <a:solidFill>
                    <a:srgbClr val="373737"/>
                  </a:solidFill>
                  <a:latin typeface="+mn-lt"/>
                  <a:cs typeface="Trebuchet MS"/>
                </a:rPr>
                <a:t>filtering,</a:t>
              </a:r>
              <a:r>
                <a:rPr sz="2000" spc="-90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254" dirty="0">
                  <a:solidFill>
                    <a:srgbClr val="373737"/>
                  </a:solidFill>
                  <a:latin typeface="+mn-lt"/>
                  <a:cs typeface="Trebuchet MS"/>
                </a:rPr>
                <a:t>add</a:t>
              </a:r>
              <a:r>
                <a:rPr sz="2000" spc="-85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120" dirty="0">
                  <a:solidFill>
                    <a:srgbClr val="373737"/>
                  </a:solidFill>
                  <a:latin typeface="+mn-lt"/>
                  <a:cs typeface="Trebuchet MS"/>
                </a:rPr>
                <a:t>user</a:t>
              </a:r>
              <a:r>
                <a:rPr sz="2000" spc="-85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185" dirty="0">
                  <a:solidFill>
                    <a:srgbClr val="373737"/>
                  </a:solidFill>
                  <a:latin typeface="+mn-lt"/>
                  <a:cs typeface="Trebuchet MS"/>
                </a:rPr>
                <a:t>feedback </a:t>
              </a:r>
              <a:r>
                <a:rPr sz="2000" spc="-160" dirty="0">
                  <a:solidFill>
                    <a:srgbClr val="373737"/>
                  </a:solidFill>
                  <a:latin typeface="+mn-lt"/>
                  <a:cs typeface="Trebuchet MS"/>
                </a:rPr>
                <a:t>loops,</a:t>
              </a:r>
              <a:r>
                <a:rPr sz="2000" spc="-70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175" dirty="0">
                  <a:solidFill>
                    <a:srgbClr val="373737"/>
                  </a:solidFill>
                  <a:latin typeface="+mn-lt"/>
                  <a:cs typeface="Trebuchet MS"/>
                </a:rPr>
                <a:t>implement</a:t>
              </a:r>
              <a:r>
                <a:rPr sz="2000" spc="-70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10" dirty="0">
                  <a:solidFill>
                    <a:srgbClr val="373737"/>
                  </a:solidFill>
                  <a:latin typeface="+mn-lt"/>
                  <a:cs typeface="Trebuchet MS"/>
                </a:rPr>
                <a:t>genre </a:t>
              </a:r>
              <a:r>
                <a:rPr sz="2000" spc="-60" dirty="0">
                  <a:solidFill>
                    <a:srgbClr val="373737"/>
                  </a:solidFill>
                  <a:latin typeface="+mn-lt"/>
                  <a:cs typeface="Trebuchet MS"/>
                </a:rPr>
                <a:t>weighting</a:t>
              </a:r>
              <a:endParaRPr sz="2000" dirty="0">
                <a:latin typeface="+mn-lt"/>
                <a:cs typeface="Trebuchet MS"/>
              </a:endParaRPr>
            </a:p>
          </p:txBody>
        </p:sp>
        <p:grpSp>
          <p:nvGrpSpPr>
            <p:cNvPr id="17" name="object 17"/>
            <p:cNvGrpSpPr/>
            <p:nvPr/>
          </p:nvGrpSpPr>
          <p:grpSpPr>
            <a:xfrm>
              <a:off x="5093969" y="5715000"/>
              <a:ext cx="5629275" cy="1658089"/>
              <a:chOff x="5093969" y="5715000"/>
              <a:chExt cx="5629275" cy="1658089"/>
            </a:xfrm>
          </p:grpSpPr>
          <p:sp>
            <p:nvSpPr>
              <p:cNvPr id="18" name="object 18"/>
              <p:cNvSpPr/>
              <p:nvPr/>
            </p:nvSpPr>
            <p:spPr>
              <a:xfrm>
                <a:off x="5093969" y="5715000"/>
                <a:ext cx="5629275" cy="1658089"/>
              </a:xfrm>
              <a:custGeom>
                <a:avLst/>
                <a:gdLst/>
                <a:ahLst/>
                <a:cxnLst/>
                <a:rect l="l" t="t" r="r" b="b"/>
                <a:pathLst>
                  <a:path w="5629275" h="2371725">
                    <a:moveTo>
                      <a:pt x="5563641" y="0"/>
                    </a:moveTo>
                    <a:lnTo>
                      <a:pt x="65633" y="0"/>
                    </a:lnTo>
                    <a:lnTo>
                      <a:pt x="61061" y="457"/>
                    </a:lnTo>
                    <a:lnTo>
                      <a:pt x="23837" y="17310"/>
                    </a:lnTo>
                    <a:lnTo>
                      <a:pt x="2247" y="52019"/>
                    </a:lnTo>
                    <a:lnTo>
                      <a:pt x="0" y="65633"/>
                    </a:lnTo>
                    <a:lnTo>
                      <a:pt x="0" y="2301481"/>
                    </a:lnTo>
                    <a:lnTo>
                      <a:pt x="0" y="2306091"/>
                    </a:lnTo>
                    <a:lnTo>
                      <a:pt x="14401" y="2344343"/>
                    </a:lnTo>
                    <a:lnTo>
                      <a:pt x="47625" y="2368143"/>
                    </a:lnTo>
                    <a:lnTo>
                      <a:pt x="65633" y="2371725"/>
                    </a:lnTo>
                    <a:lnTo>
                      <a:pt x="5563641" y="2371725"/>
                    </a:lnTo>
                    <a:lnTo>
                      <a:pt x="5601893" y="2357323"/>
                    </a:lnTo>
                    <a:lnTo>
                      <a:pt x="5625693" y="2324100"/>
                    </a:lnTo>
                    <a:lnTo>
                      <a:pt x="5629275" y="2306091"/>
                    </a:lnTo>
                    <a:lnTo>
                      <a:pt x="5629275" y="65633"/>
                    </a:lnTo>
                    <a:lnTo>
                      <a:pt x="5614873" y="27381"/>
                    </a:lnTo>
                    <a:lnTo>
                      <a:pt x="5581650" y="3581"/>
                    </a:lnTo>
                    <a:lnTo>
                      <a:pt x="5568200" y="457"/>
                    </a:lnTo>
                    <a:lnTo>
                      <a:pt x="5563641" y="0"/>
                    </a:lnTo>
                    <a:close/>
                  </a:path>
                </a:pathLst>
              </a:custGeom>
              <a:solidFill>
                <a:srgbClr val="E6E6E6"/>
              </a:solidFill>
            </p:spPr>
            <p:txBody>
              <a:bodyPr wrap="square" lIns="0" tIns="0" rIns="0" bIns="0" rtlCol="0"/>
              <a:lstStyle/>
              <a:p>
                <a:endParaRPr sz="2000">
                  <a:latin typeface="+mn-lt"/>
                </a:endParaRPr>
              </a:p>
            </p:txBody>
          </p:sp>
          <p:sp>
            <p:nvSpPr>
              <p:cNvPr id="20" name="object 20"/>
              <p:cNvSpPr/>
              <p:nvPr/>
            </p:nvSpPr>
            <p:spPr>
              <a:xfrm>
                <a:off x="5247158" y="5867574"/>
                <a:ext cx="647700" cy="647700"/>
              </a:xfrm>
              <a:custGeom>
                <a:avLst/>
                <a:gdLst/>
                <a:ahLst/>
                <a:cxnLst/>
                <a:rect l="l" t="t" r="r" b="b"/>
                <a:pathLst>
                  <a:path w="647700" h="647700">
                    <a:moveTo>
                      <a:pt x="323850" y="0"/>
                    </a:moveTo>
                    <a:lnTo>
                      <a:pt x="284204" y="2438"/>
                    </a:lnTo>
                    <a:lnTo>
                      <a:pt x="245160" y="9702"/>
                    </a:lnTo>
                    <a:lnTo>
                      <a:pt x="207295" y="21697"/>
                    </a:lnTo>
                    <a:lnTo>
                      <a:pt x="171183" y="38239"/>
                    </a:lnTo>
                    <a:lnTo>
                      <a:pt x="137374" y="59075"/>
                    </a:lnTo>
                    <a:lnTo>
                      <a:pt x="106362" y="83891"/>
                    </a:lnTo>
                    <a:lnTo>
                      <a:pt x="78627" y="112315"/>
                    </a:lnTo>
                    <a:lnTo>
                      <a:pt x="54571" y="143929"/>
                    </a:lnTo>
                    <a:lnTo>
                      <a:pt x="34576" y="178243"/>
                    </a:lnTo>
                    <a:lnTo>
                      <a:pt x="18926" y="214744"/>
                    </a:lnTo>
                    <a:lnTo>
                      <a:pt x="7868" y="252890"/>
                    </a:lnTo>
                    <a:lnTo>
                      <a:pt x="1562" y="292100"/>
                    </a:lnTo>
                    <a:lnTo>
                      <a:pt x="0" y="323850"/>
                    </a:lnTo>
                    <a:lnTo>
                      <a:pt x="97" y="331798"/>
                    </a:lnTo>
                    <a:lnTo>
                      <a:pt x="3506" y="371367"/>
                    </a:lnTo>
                    <a:lnTo>
                      <a:pt x="11727" y="410221"/>
                    </a:lnTo>
                    <a:lnTo>
                      <a:pt x="24650" y="447776"/>
                    </a:lnTo>
                    <a:lnTo>
                      <a:pt x="42075" y="483479"/>
                    </a:lnTo>
                    <a:lnTo>
                      <a:pt x="63725" y="516763"/>
                    </a:lnTo>
                    <a:lnTo>
                      <a:pt x="89300" y="547157"/>
                    </a:lnTo>
                    <a:lnTo>
                      <a:pt x="118402" y="574192"/>
                    </a:lnTo>
                    <a:lnTo>
                      <a:pt x="150591" y="597451"/>
                    </a:lnTo>
                    <a:lnTo>
                      <a:pt x="185385" y="616602"/>
                    </a:lnTo>
                    <a:lnTo>
                      <a:pt x="222259" y="631352"/>
                    </a:lnTo>
                    <a:lnTo>
                      <a:pt x="260667" y="641477"/>
                    </a:lnTo>
                    <a:lnTo>
                      <a:pt x="300027" y="646821"/>
                    </a:lnTo>
                    <a:lnTo>
                      <a:pt x="323850" y="647700"/>
                    </a:lnTo>
                    <a:lnTo>
                      <a:pt x="331798" y="647602"/>
                    </a:lnTo>
                    <a:lnTo>
                      <a:pt x="371368" y="644193"/>
                    </a:lnTo>
                    <a:lnTo>
                      <a:pt x="410221" y="635972"/>
                    </a:lnTo>
                    <a:lnTo>
                      <a:pt x="447789" y="623049"/>
                    </a:lnTo>
                    <a:lnTo>
                      <a:pt x="483479" y="605624"/>
                    </a:lnTo>
                    <a:lnTo>
                      <a:pt x="516767" y="583963"/>
                    </a:lnTo>
                    <a:lnTo>
                      <a:pt x="547157" y="558399"/>
                    </a:lnTo>
                    <a:lnTo>
                      <a:pt x="574192" y="529297"/>
                    </a:lnTo>
                    <a:lnTo>
                      <a:pt x="597451" y="497108"/>
                    </a:lnTo>
                    <a:lnTo>
                      <a:pt x="616607" y="462313"/>
                    </a:lnTo>
                    <a:lnTo>
                      <a:pt x="631352" y="425439"/>
                    </a:lnTo>
                    <a:lnTo>
                      <a:pt x="641477" y="387032"/>
                    </a:lnTo>
                    <a:lnTo>
                      <a:pt x="646821" y="347667"/>
                    </a:lnTo>
                    <a:lnTo>
                      <a:pt x="647700" y="323850"/>
                    </a:lnTo>
                    <a:lnTo>
                      <a:pt x="647602" y="315901"/>
                    </a:lnTo>
                    <a:lnTo>
                      <a:pt x="644193" y="276331"/>
                    </a:lnTo>
                    <a:lnTo>
                      <a:pt x="635972" y="237478"/>
                    </a:lnTo>
                    <a:lnTo>
                      <a:pt x="623049" y="199910"/>
                    </a:lnTo>
                    <a:lnTo>
                      <a:pt x="605624" y="164220"/>
                    </a:lnTo>
                    <a:lnTo>
                      <a:pt x="583963" y="130932"/>
                    </a:lnTo>
                    <a:lnTo>
                      <a:pt x="558399" y="100542"/>
                    </a:lnTo>
                    <a:lnTo>
                      <a:pt x="529297" y="73507"/>
                    </a:lnTo>
                    <a:lnTo>
                      <a:pt x="497108" y="50242"/>
                    </a:lnTo>
                    <a:lnTo>
                      <a:pt x="462314" y="31092"/>
                    </a:lnTo>
                    <a:lnTo>
                      <a:pt x="425440" y="16347"/>
                    </a:lnTo>
                    <a:lnTo>
                      <a:pt x="387032" y="6223"/>
                    </a:lnTo>
                    <a:lnTo>
                      <a:pt x="347672" y="878"/>
                    </a:lnTo>
                    <a:lnTo>
                      <a:pt x="323850" y="0"/>
                    </a:lnTo>
                    <a:close/>
                  </a:path>
                </a:pathLst>
              </a:custGeom>
              <a:solidFill>
                <a:srgbClr val="CCCCCC"/>
              </a:solidFill>
            </p:spPr>
            <p:txBody>
              <a:bodyPr wrap="square" lIns="0" tIns="0" rIns="0" bIns="0" rtlCol="0"/>
              <a:lstStyle/>
              <a:p>
                <a:endParaRPr sz="2000">
                  <a:latin typeface="+mn-lt"/>
                </a:endParaRPr>
              </a:p>
            </p:txBody>
          </p:sp>
          <p:pic>
            <p:nvPicPr>
              <p:cNvPr id="21" name="object 21"/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5499100" y="5979568"/>
                <a:ext cx="165100" cy="302133"/>
              </a:xfrm>
              <a:prstGeom prst="rect">
                <a:avLst/>
              </a:prstGeom>
            </p:spPr>
          </p:pic>
        </p:grpSp>
        <p:sp>
          <p:nvSpPr>
            <p:cNvPr id="22" name="object 22"/>
            <p:cNvSpPr txBox="1"/>
            <p:nvPr/>
          </p:nvSpPr>
          <p:spPr>
            <a:xfrm>
              <a:off x="5969470" y="5829191"/>
              <a:ext cx="4716944" cy="1803442"/>
            </a:xfrm>
            <a:prstGeom prst="rect">
              <a:avLst/>
            </a:prstGeom>
          </p:spPr>
          <p:txBody>
            <a:bodyPr vert="horz" wrap="square" lIns="0" tIns="17145" rIns="0" bIns="0" rtlCol="0">
              <a:spAutoFit/>
            </a:bodyPr>
            <a:lstStyle/>
            <a:p>
              <a:pPr marL="236220">
                <a:lnSpc>
                  <a:spcPct val="100000"/>
                </a:lnSpc>
                <a:spcBef>
                  <a:spcPts val="135"/>
                </a:spcBef>
              </a:pPr>
              <a:r>
                <a:rPr sz="2000" spc="-160" dirty="0">
                  <a:solidFill>
                    <a:srgbClr val="373737"/>
                  </a:solidFill>
                  <a:latin typeface="+mn-lt"/>
                  <a:cs typeface="Trebuchet MS"/>
                </a:rPr>
                <a:t>Production</a:t>
              </a:r>
              <a:r>
                <a:rPr sz="2000" spc="-30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50" dirty="0">
                  <a:solidFill>
                    <a:srgbClr val="373737"/>
                  </a:solidFill>
                  <a:latin typeface="+mn-lt"/>
                  <a:cs typeface="Trebuchet MS"/>
                </a:rPr>
                <a:t>Readiness</a:t>
              </a:r>
              <a:endParaRPr sz="2000" dirty="0">
                <a:latin typeface="+mn-lt"/>
                <a:cs typeface="Trebuchet MS"/>
              </a:endParaRPr>
            </a:p>
            <a:p>
              <a:pPr marL="236220" marR="75565">
                <a:lnSpc>
                  <a:spcPct val="136400"/>
                </a:lnSpc>
                <a:spcBef>
                  <a:spcPts val="750"/>
                </a:spcBef>
              </a:pPr>
              <a:r>
                <a:rPr sz="2000" spc="-140" dirty="0">
                  <a:solidFill>
                    <a:srgbClr val="373737"/>
                  </a:solidFill>
                  <a:latin typeface="+mn-lt"/>
                  <a:cs typeface="Trebuchet MS"/>
                </a:rPr>
                <a:t>Vectorized</a:t>
              </a:r>
              <a:r>
                <a:rPr sz="2000" spc="-65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150" dirty="0">
                  <a:solidFill>
                    <a:srgbClr val="373737"/>
                  </a:solidFill>
                  <a:latin typeface="+mn-lt"/>
                  <a:cs typeface="Trebuchet MS"/>
                </a:rPr>
                <a:t>matching</a:t>
              </a:r>
              <a:r>
                <a:rPr sz="2000" spc="-60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165" dirty="0">
                  <a:solidFill>
                    <a:srgbClr val="373737"/>
                  </a:solidFill>
                  <a:latin typeface="+mn-lt"/>
                  <a:cs typeface="Trebuchet MS"/>
                </a:rPr>
                <a:t>enables</a:t>
              </a:r>
              <a:r>
                <a:rPr sz="2000" spc="-60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145" dirty="0">
                  <a:solidFill>
                    <a:srgbClr val="373737"/>
                  </a:solidFill>
                  <a:latin typeface="+mn-lt"/>
                  <a:cs typeface="Trebuchet MS"/>
                </a:rPr>
                <a:t>sub-</a:t>
              </a:r>
              <a:r>
                <a:rPr sz="2000" spc="-160" dirty="0">
                  <a:solidFill>
                    <a:srgbClr val="373737"/>
                  </a:solidFill>
                  <a:latin typeface="+mn-lt"/>
                  <a:cs typeface="Trebuchet MS"/>
                </a:rPr>
                <a:t>second</a:t>
              </a:r>
              <a:r>
                <a:rPr sz="2000" spc="-60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150" dirty="0">
                  <a:solidFill>
                    <a:srgbClr val="373737"/>
                  </a:solidFill>
                  <a:latin typeface="+mn-lt"/>
                  <a:cs typeface="Trebuchet MS"/>
                </a:rPr>
                <a:t>queries;</a:t>
              </a:r>
              <a:r>
                <a:rPr sz="2000" spc="-65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145" dirty="0">
                  <a:solidFill>
                    <a:srgbClr val="373737"/>
                  </a:solidFill>
                  <a:latin typeface="+mn-lt"/>
                  <a:cs typeface="Trebuchet MS"/>
                </a:rPr>
                <a:t>consider</a:t>
              </a:r>
              <a:r>
                <a:rPr sz="2000" spc="-60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135" dirty="0">
                  <a:solidFill>
                    <a:srgbClr val="373737"/>
                  </a:solidFill>
                  <a:latin typeface="+mn-lt"/>
                  <a:cs typeface="Trebuchet MS"/>
                </a:rPr>
                <a:t>caching </a:t>
              </a:r>
              <a:r>
                <a:rPr sz="2000" spc="-105" dirty="0">
                  <a:solidFill>
                    <a:srgbClr val="373737"/>
                  </a:solidFill>
                  <a:latin typeface="+mn-lt"/>
                  <a:cs typeface="Trebuchet MS"/>
                </a:rPr>
                <a:t>similarity</a:t>
              </a:r>
              <a:r>
                <a:rPr sz="2000" spc="-30" dirty="0">
                  <a:solidFill>
                    <a:srgbClr val="373737"/>
                  </a:solidFill>
                  <a:latin typeface="+mn-lt"/>
                  <a:cs typeface="Trebuchet MS"/>
                </a:rPr>
                <a:t> </a:t>
              </a:r>
              <a:r>
                <a:rPr sz="2000" spc="-10" dirty="0">
                  <a:solidFill>
                    <a:srgbClr val="373737"/>
                  </a:solidFill>
                  <a:latin typeface="+mn-lt"/>
                  <a:cs typeface="Trebuchet MS"/>
                </a:rPr>
                <a:t>matrix</a:t>
              </a:r>
              <a:endParaRPr sz="2000" dirty="0">
                <a:latin typeface="+mn-lt"/>
                <a:cs typeface="Trebuchet MS"/>
              </a:endParaRPr>
            </a:p>
            <a:p>
              <a:pPr>
                <a:lnSpc>
                  <a:spcPct val="100000"/>
                </a:lnSpc>
                <a:spcBef>
                  <a:spcPts val="1760"/>
                </a:spcBef>
              </a:pPr>
              <a:endParaRPr sz="2000" dirty="0">
                <a:latin typeface="+mn-lt"/>
                <a:cs typeface="Trebuchet MS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</TotalTime>
  <Words>637</Words>
  <Application>Microsoft Office PowerPoint</Application>
  <PresentationFormat>Custom</PresentationFormat>
  <Paragraphs>101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Trebuchet MS</vt:lpstr>
      <vt:lpstr>Office Theme</vt:lpstr>
      <vt:lpstr>Movie Recommendation System Analysis</vt:lpstr>
      <vt:lpstr>Executive Summary</vt:lpstr>
      <vt:lpstr>Data Loading &amp; Initial Inspection</vt:lpstr>
      <vt:lpstr>PowerPoint Presentation</vt:lpstr>
      <vt:lpstr>Feature Engineering Process</vt:lpstr>
      <vt:lpstr>Model Architecture</vt:lpstr>
      <vt:lpstr>Similarity Matrix Analysis</vt:lpstr>
      <vt:lpstr>Recommendation Logic</vt:lpstr>
      <vt:lpstr>Sample Output: Guardians of the Galaxy</vt:lpstr>
      <vt:lpstr>Conclusion &amp; Next Steps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Aditi Janghu</cp:lastModifiedBy>
  <cp:revision>2</cp:revision>
  <dcterms:created xsi:type="dcterms:W3CDTF">2026-03-28T13:24:05Z</dcterms:created>
  <dcterms:modified xsi:type="dcterms:W3CDTF">2026-03-28T14:07:49Z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2026-03-27T00:00:00Z</vt:filetime>
  </property>
  <property fmtid="{D5CDD505-2E9C-101B-9397-08002B2CF9AE}" pid="3" name="Creator">
    <vt:lpwstr>pdf-lib (https://github.com/Hopding/pdf-lib)</vt:lpwstr>
  </property>
  <property fmtid="{D5CDD505-2E9C-101B-9397-08002B2CF9AE}" pid="4" name="LastSaved">
    <vt:filetime>2026-03-28T00:00:00Z</vt:filetime>
  </property>
  <property fmtid="{D5CDD505-2E9C-101B-9397-08002B2CF9AE}" pid="5" name="Producer">
    <vt:lpwstr>pdf-lib (https://github.com/Hopding/pdf-lib)</vt:lpwstr>
  </property>
</Properties>
</file>